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BD16-8595-5018-F44E-612E297AD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5E8AD-7FF6-5D42-FAE9-1CC8EE47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98644-C9B4-AF65-5563-E087BF2B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F174-9A7C-456C-3CC6-F9D90512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6430-BDB6-2AA8-24F4-9460ECC9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0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332C-A297-21FE-5C2D-23F8E2B6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51714-5040-B159-743B-C4104CD16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B4FD5-C948-2420-4EE2-366AE41B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C728-67CE-4CF3-F49B-47665CF5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C882A-29DC-9530-78D4-6E3F58D7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9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F547-3F13-1965-26E6-580D26C5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4237D-81C6-038E-818F-3C63750F4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ED9D4-C672-1106-DD71-7C126B70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4034B-9C37-BCEC-1171-23E2DB9A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6988A-38EC-EFAB-123D-FF6C2927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3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84A6-FFB4-2E89-218E-51293B14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137F-2A32-3640-DA11-C023401A6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A32B-C5D4-DED7-04FF-736705667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6FE0A-DD04-6DCF-E27D-D8483ED9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8C76C-8135-87D5-2DCF-6BC8485D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DD278-1386-978A-1EDB-EFEE934F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7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C645-4497-2515-61C8-E80179CC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499A4-138A-7817-7342-651AB5E03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0293-E9FF-39C4-28CD-053977DCB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FCDE2-CE6D-11B1-ADD0-104967ABA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2ACB4-E728-C4B4-6327-B7B9DDB71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14AA8-C7A1-69AD-B237-3661DD78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A32DC-A1DB-E6C8-F157-E532CDE4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2C057-E2B2-5267-8A35-FA8987C2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8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116A-EA51-8E23-9E02-6913C937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0EDF2-ED2B-0B21-BD2D-C110B7E4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2EEB7-F1B6-7123-39DD-2696335A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81D73-61CC-51CB-1CEF-A03B3352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86B9E-EB2A-897D-7170-D5A2B6B7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0A1E0-2CD6-19FF-E7DB-26A95D4A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8DBBA-07CE-9D79-94AD-5E8E8A28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0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3291-6E04-E948-6934-7DCFFEE7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92A1-E885-738F-F87D-9F03E3C9D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F82C3-3152-DCDF-37F4-3276422CF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40C2-6FC9-5972-E7B9-1D56DBA2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036B-8367-4B0B-E510-A04F13DC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FA2E7-18BB-52B0-5F8F-B3F71760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5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2A9D-C923-A2E2-63BD-B4592FE0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D014C-CDB6-652B-23F2-9E729BF2C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B32AF-7241-B726-E3AB-F3F3760A0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1776E-70BE-9A47-36E9-B3C91701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63681-D204-C04A-55CB-28B22B43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8F294-1657-2BE7-1D6F-5298F678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B187-3AAA-AC16-F2C3-D977AF58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6F281-9D91-110B-7F1C-50BD0E857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3F4E-D72D-2A13-1C2F-15CB8107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A2745-2931-430A-087F-9197F69C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9E14F-AC1E-C41A-C657-36885887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36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05853-D5C8-4CC0-792D-9AD47E832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77930-7EDC-646C-C10D-1B90CEA45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A94B3-4E32-3004-A327-A4072DBD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736C-7291-E363-702C-D40E40CB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B57AE-7575-513B-86C5-B40011CE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1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8D99D-6F27-FDC1-0F3A-14B15C3F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1039D-4EFE-9408-1BB9-64E8AB547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DF704-8AF5-89D3-1078-0AD95E891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08BCA-22FD-497B-9952-AE8A666BB76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BA9AD-DBC1-27E5-6E26-3895219BC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4719-6B00-DCD5-27E5-8006ADDF0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F1CDE-5F0E-45C2-80F3-965F84892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F77C-BA8E-39DE-8115-BDF1361D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S.T.E.M.I AND N.S.T.E.M.I(S.T ELEVATION MYOCARDIAL INFARCTION AND NON-S.T SEGMENT MYOCARDIAL INFARCTION)</a:t>
            </a:r>
            <a:br>
              <a:rPr lang="en-US" sz="3200" b="1" i="1" dirty="0">
                <a:solidFill>
                  <a:srgbClr val="FF0000"/>
                </a:solidFill>
              </a:rPr>
            </a:b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044BA-DA72-6420-D7CC-B703CEC4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It is a type of heart attack caused by a complete blockage of a coronary </a:t>
            </a:r>
            <a:r>
              <a:rPr lang="en-US" dirty="0" err="1"/>
              <a:t>artery.It</a:t>
            </a:r>
            <a:r>
              <a:rPr lang="en-US" dirty="0"/>
              <a:t> is a medical emergency that requires immediate attention.</a:t>
            </a:r>
          </a:p>
          <a:p>
            <a:r>
              <a:rPr lang="en-US" dirty="0"/>
              <a:t>STEMI is diagnosed primarily using ECG.Findings are:</a:t>
            </a:r>
          </a:p>
          <a:p>
            <a:pPr marL="0" indent="0">
              <a:buNone/>
            </a:pPr>
            <a:r>
              <a:rPr lang="en-US" dirty="0"/>
              <a:t>       -Elevation of ST segment in two or more contiguous leads.</a:t>
            </a:r>
          </a:p>
          <a:p>
            <a:pPr marL="0" indent="0">
              <a:buNone/>
            </a:pPr>
            <a:r>
              <a:rPr lang="en-US" dirty="0"/>
              <a:t>       -Threshold for diagnosis</a:t>
            </a:r>
          </a:p>
          <a:p>
            <a:pPr marL="0" indent="0">
              <a:buNone/>
            </a:pPr>
            <a:r>
              <a:rPr lang="en-US" dirty="0"/>
              <a:t>           .&gt;1mm in limb leads(</a:t>
            </a:r>
            <a:r>
              <a:rPr lang="en-US" dirty="0" err="1"/>
              <a:t>I,II,III,aVL</a:t>
            </a:r>
            <a:r>
              <a:rPr lang="en-US" dirty="0"/>
              <a:t> and </a:t>
            </a:r>
            <a:r>
              <a:rPr lang="en-US" dirty="0" err="1"/>
              <a:t>aVF</a:t>
            </a:r>
            <a:r>
              <a:rPr lang="en-US" dirty="0"/>
              <a:t>)  </a:t>
            </a:r>
          </a:p>
          <a:p>
            <a:pPr marL="0" indent="0">
              <a:buNone/>
            </a:pPr>
            <a:r>
              <a:rPr lang="en-US" dirty="0"/>
              <a:t>            .&gt;2mm in chest leads in men &gt;40 years</a:t>
            </a:r>
          </a:p>
          <a:p>
            <a:pPr marL="0" indent="0">
              <a:buNone/>
            </a:pPr>
            <a:r>
              <a:rPr lang="en-US" dirty="0"/>
              <a:t>            .&gt;1.5mm in chest leads (V2-V3)</a:t>
            </a:r>
          </a:p>
          <a:p>
            <a:pPr marL="0" indent="0">
              <a:buNone/>
            </a:pPr>
            <a:r>
              <a:rPr lang="en-US" dirty="0"/>
              <a:t>       -The elevation should be convex upwards or tombstone-shaped</a:t>
            </a:r>
          </a:p>
          <a:p>
            <a:pPr marL="0" indent="0">
              <a:buNone/>
            </a:pPr>
            <a:r>
              <a:rPr lang="en-US" dirty="0"/>
              <a:t>       -Pathologic Q waves</a:t>
            </a:r>
          </a:p>
          <a:p>
            <a:pPr marL="0" indent="0">
              <a:buNone/>
            </a:pPr>
            <a:r>
              <a:rPr lang="en-US" dirty="0"/>
              <a:t>            may develop later</a:t>
            </a:r>
          </a:p>
          <a:p>
            <a:pPr marL="0" indent="0">
              <a:buNone/>
            </a:pPr>
            <a:r>
              <a:rPr lang="en-US" dirty="0"/>
              <a:t>            sign of irreversible myocardial necrosis.</a:t>
            </a:r>
          </a:p>
          <a:p>
            <a:pPr marL="0" indent="0">
              <a:buNone/>
            </a:pPr>
            <a:r>
              <a:rPr lang="en-US" dirty="0"/>
              <a:t>        -T waves inversion</a:t>
            </a:r>
          </a:p>
          <a:p>
            <a:pPr marL="0" indent="0">
              <a:buNone/>
            </a:pPr>
            <a:r>
              <a:rPr lang="en-US" dirty="0"/>
              <a:t>            may follow ST elevation as part of evolution</a:t>
            </a:r>
          </a:p>
          <a:p>
            <a:pPr marL="0" indent="0">
              <a:buNone/>
            </a:pPr>
            <a:r>
              <a:rPr lang="en-US" dirty="0"/>
              <a:t>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CFD2-999F-49A0-3845-7ACED855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E76B-6EB3-FC4A-1643-DA592ADE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Localizing the STEMI on </a:t>
            </a:r>
            <a:r>
              <a:rPr lang="en-US" dirty="0" err="1"/>
              <a:t>ecg</a:t>
            </a:r>
            <a:r>
              <a:rPr lang="en-US" dirty="0"/>
              <a:t> .</a:t>
            </a:r>
          </a:p>
          <a:p>
            <a:r>
              <a:rPr lang="en-US" dirty="0"/>
              <a:t>Anterior wall(V1-V4) LEFT ANTERIOR DESCENDING(LAD)</a:t>
            </a:r>
          </a:p>
          <a:p>
            <a:r>
              <a:rPr lang="en-US" dirty="0"/>
              <a:t>Lateral wall(I,AVL,V5 and V6)  LEFT CIRCUMFLEX(</a:t>
            </a:r>
            <a:r>
              <a:rPr lang="en-US" dirty="0" err="1"/>
              <a:t>LCx</a:t>
            </a:r>
            <a:r>
              <a:rPr lang="en-US" dirty="0"/>
              <a:t>)</a:t>
            </a:r>
          </a:p>
          <a:p>
            <a:r>
              <a:rPr lang="en-US" dirty="0"/>
              <a:t>Inferior wall (II,III and AVF.) RIGHT CORONARY ARTERY(RCA)</a:t>
            </a:r>
          </a:p>
          <a:p>
            <a:r>
              <a:rPr lang="en-US" dirty="0"/>
              <a:t>Posterior wall ST DEPRESSION IN V1-V3 RCA OR </a:t>
            </a:r>
            <a:r>
              <a:rPr lang="en-US" dirty="0" err="1"/>
              <a:t>LCx</a:t>
            </a:r>
            <a:r>
              <a:rPr lang="en-US" dirty="0"/>
              <a:t>(posterior branch)</a:t>
            </a:r>
          </a:p>
        </p:txBody>
      </p:sp>
    </p:spTree>
    <p:extLst>
      <p:ext uri="{BB962C8B-B14F-4D97-AF65-F5344CB8AC3E}">
        <p14:creationId xmlns:p14="http://schemas.microsoft.com/office/powerpoint/2010/main" val="533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1106-5997-1C4A-A2DB-E0AF9775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F4EB4-ED70-6716-A790-202FAED98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4" y="1825625"/>
            <a:ext cx="7025951" cy="4667250"/>
          </a:xfrm>
        </p:spPr>
      </p:pic>
    </p:spTree>
    <p:extLst>
      <p:ext uri="{BB962C8B-B14F-4D97-AF65-F5344CB8AC3E}">
        <p14:creationId xmlns:p14="http://schemas.microsoft.com/office/powerpoint/2010/main" val="181965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867F-E4A6-7782-71E4-BAD355D0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E88E4C-AF6D-D0A3-DC88-4461A52A6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49" y="979714"/>
            <a:ext cx="10338318" cy="5626359"/>
          </a:xfrm>
        </p:spPr>
      </p:pic>
    </p:spTree>
    <p:extLst>
      <p:ext uri="{BB962C8B-B14F-4D97-AF65-F5344CB8AC3E}">
        <p14:creationId xmlns:p14="http://schemas.microsoft.com/office/powerpoint/2010/main" val="199932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5F05-E230-82DB-F607-A5E96A49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F2313-F605-EC24-F20C-3DA84A67A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5" y="1027905"/>
            <a:ext cx="9461241" cy="5242265"/>
          </a:xfrm>
        </p:spPr>
      </p:pic>
    </p:spTree>
    <p:extLst>
      <p:ext uri="{BB962C8B-B14F-4D97-AF65-F5344CB8AC3E}">
        <p14:creationId xmlns:p14="http://schemas.microsoft.com/office/powerpoint/2010/main" val="203773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897C-882F-FD6F-9FF1-02FEF720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AF88CF-A5DB-68F1-A3BB-B3EB1B564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624" y="653143"/>
            <a:ext cx="7641772" cy="6036906"/>
          </a:xfrm>
        </p:spPr>
      </p:pic>
    </p:spTree>
    <p:extLst>
      <p:ext uri="{BB962C8B-B14F-4D97-AF65-F5344CB8AC3E}">
        <p14:creationId xmlns:p14="http://schemas.microsoft.com/office/powerpoint/2010/main" val="348581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232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S.T.E.M.I AND N.S.T.E.M.I(S.T ELEVATION MYOCARDIAL INFARCTION AND NON-S.T SEGMENT MYOCARDIAL INFARCTION) </vt:lpstr>
      <vt:lpstr>STEMI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Haneef Gbadamosi</dc:creator>
  <cp:lastModifiedBy>Haneef Gbadamosi</cp:lastModifiedBy>
  <cp:revision>1</cp:revision>
  <dcterms:created xsi:type="dcterms:W3CDTF">2025-07-29T19:41:10Z</dcterms:created>
  <dcterms:modified xsi:type="dcterms:W3CDTF">2025-07-29T20:16:58Z</dcterms:modified>
</cp:coreProperties>
</file>