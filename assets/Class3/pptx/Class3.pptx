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5" r:id="rId9"/>
    <p:sldId id="266" r:id="rId10"/>
    <p:sldId id="267" r:id="rId11"/>
    <p:sldId id="268" r:id="rId12"/>
    <p:sldId id="290" r:id="rId13"/>
    <p:sldId id="270" r:id="rId14"/>
    <p:sldId id="271" r:id="rId15"/>
    <p:sldId id="272" r:id="rId16"/>
    <p:sldId id="274" r:id="rId17"/>
    <p:sldId id="291" r:id="rId18"/>
    <p:sldId id="275" r:id="rId19"/>
    <p:sldId id="276" r:id="rId20"/>
    <p:sldId id="277" r:id="rId21"/>
    <p:sldId id="278" r:id="rId22"/>
    <p:sldId id="292" r:id="rId23"/>
    <p:sldId id="305" r:id="rId24"/>
    <p:sldId id="306" r:id="rId25"/>
    <p:sldId id="279" r:id="rId26"/>
    <p:sldId id="303" r:id="rId27"/>
    <p:sldId id="308" r:id="rId28"/>
    <p:sldId id="280" r:id="rId29"/>
    <p:sldId id="304" r:id="rId30"/>
    <p:sldId id="293" r:id="rId31"/>
    <p:sldId id="294" r:id="rId32"/>
    <p:sldId id="295" r:id="rId33"/>
    <p:sldId id="296" r:id="rId34"/>
    <p:sldId id="297" r:id="rId35"/>
    <p:sldId id="298" r:id="rId36"/>
    <p:sldId id="309" r:id="rId37"/>
    <p:sldId id="310" r:id="rId38"/>
    <p:sldId id="311" r:id="rId39"/>
    <p:sldId id="299" r:id="rId40"/>
    <p:sldId id="300" r:id="rId41"/>
    <p:sldId id="301" r:id="rId42"/>
    <p:sldId id="302" r:id="rId43"/>
    <p:sldId id="312" r:id="rId44"/>
    <p:sldId id="313" r:id="rId45"/>
    <p:sldId id="314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B01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67" d="100"/>
          <a:sy n="67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104880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02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14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2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8CA0-8FE3-472C-970C-1434F1632C41}" type="datetime1">
              <a:rPr lang="en-US" smtClean="0"/>
              <a:t>7/18/2025</a:t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C7734-8975-43C5-A888-CC47DAD9A9A0}" type="datetime1">
              <a:rPr lang="en-US" smtClean="0"/>
              <a:t>7/18/2025</a:t>
            </a:fld>
            <a:endParaRPr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8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E9CC-6C32-47A6-8DC3-B4404D2CB9AE}" type="datetime1">
              <a:rPr lang="en-US" smtClean="0"/>
              <a:t>7/18/2025</a:t>
            </a:fld>
            <a:endParaRPr lang="en-US"/>
          </a:p>
        </p:txBody>
      </p:sp>
      <p:sp>
        <p:nvSpPr>
          <p:cNvPr id="10487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7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7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7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27B4F-B973-4639-BB1A-89334045E5A5}" type="datetime1">
              <a:rPr lang="en-US" smtClean="0"/>
              <a:t>7/18/2025</a:t>
            </a:fld>
            <a:endParaRPr lang="en-US"/>
          </a:p>
        </p:txBody>
      </p:sp>
      <p:sp>
        <p:nvSpPr>
          <p:cNvPr id="104877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7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EB08-789C-41EF-8AD3-592873E38554}" type="datetime1">
              <a:rPr lang="en-US" smtClean="0"/>
              <a:t>7/18/2025</a:t>
            </a:fld>
            <a:endParaRPr lang="en-US"/>
          </a:p>
        </p:txBody>
      </p:sp>
      <p:sp>
        <p:nvSpPr>
          <p:cNvPr id="10487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CA10-1B3A-40C0-83AA-E59F9E9AE50F}" type="datetime1">
              <a:rPr lang="en-US" smtClean="0"/>
              <a:t>7/18/2025</a:t>
            </a:fld>
            <a:endParaRPr lang="en-US"/>
          </a:p>
        </p:txBody>
      </p:sp>
      <p:sp>
        <p:nvSpPr>
          <p:cNvPr id="104870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455B-145B-4AB3-A49F-3BA2558204BD}" type="datetime1">
              <a:rPr lang="en-US" smtClean="0"/>
              <a:t>7/18/2025</a:t>
            </a:fld>
            <a:endParaRPr lang="en-US"/>
          </a:p>
        </p:txBody>
      </p:sp>
      <p:sp>
        <p:nvSpPr>
          <p:cNvPr id="10487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89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9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DA7E-1D67-45C8-B65E-1EEB05D7F792}" type="datetime1">
              <a:rPr lang="en-US" smtClean="0"/>
              <a:t>7/18/2025</a:t>
            </a:fld>
            <a:endParaRPr lang="en-US"/>
          </a:p>
        </p:txBody>
      </p:sp>
      <p:sp>
        <p:nvSpPr>
          <p:cNvPr id="10487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2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6757-3B95-4979-81FD-3BEEF4B73949}" type="datetime1">
              <a:rPr lang="en-US" smtClean="0"/>
              <a:t>7/18/2025</a:t>
            </a:fld>
            <a:endParaRPr lang="en-US"/>
          </a:p>
        </p:txBody>
      </p:sp>
      <p:sp>
        <p:nvSpPr>
          <p:cNvPr id="10487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6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6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FB72-2AA1-4935-8EF5-52F6753CA9C4}" type="datetime1">
              <a:rPr lang="en-US" smtClean="0"/>
              <a:t>7/18/2025</a:t>
            </a:fld>
            <a:endParaRPr lang="en-US"/>
          </a:p>
        </p:txBody>
      </p:sp>
      <p:sp>
        <p:nvSpPr>
          <p:cNvPr id="10487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A870-DF2A-4886-81C6-E138A4DBE6C2}" type="datetime1">
              <a:rPr lang="en-US" smtClean="0"/>
              <a:t>7/18/2025</a:t>
            </a:fld>
            <a:endParaRPr lang="en-US"/>
          </a:p>
        </p:txBody>
      </p:sp>
      <p:sp>
        <p:nvSpPr>
          <p:cNvPr id="10487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59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3039-3A83-47D3-9D90-FFB72547019D}" type="datetime1">
              <a:rPr lang="en-US" smtClean="0"/>
              <a:t>7/18/2025</a:t>
            </a:fld>
            <a:endParaRPr lang="en-US"/>
          </a:p>
        </p:txBody>
      </p:sp>
      <p:sp>
        <p:nvSpPr>
          <p:cNvPr id="10487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048764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48765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9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2AEF9-A15E-4106-9BAD-50DAF8DA6E10}" type="datetime1">
              <a:rPr lang="en-US" smtClean="0"/>
              <a:t>7/18/2025</a:t>
            </a:fld>
            <a:endParaRPr lang="en-US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79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0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2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4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41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2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FD5F4-DAA1-47BD-A6B9-884770DE7E3F}" type="datetime1">
              <a:rPr lang="en-US" smtClean="0"/>
              <a:t>7/18/2025</a:t>
            </a:fld>
            <a:endParaRPr lang="en-US"/>
          </a:p>
        </p:txBody>
      </p:sp>
      <p:sp>
        <p:nvSpPr>
          <p:cNvPr id="10487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27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30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33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39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0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3BC9-047D-45F5-ADC7-A18433EFC987}" type="datetime1">
              <a:rPr lang="en-US" smtClean="0"/>
              <a:t>7/18/2025</a:t>
            </a:fld>
            <a:endParaRPr lang="en-US"/>
          </a:p>
        </p:txBody>
      </p:sp>
      <p:sp>
        <p:nvSpPr>
          <p:cNvPr id="10487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9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367F-B204-43D7-94EB-DD4C1939A5D4}" type="datetime1">
              <a:rPr lang="en-US" smtClean="0"/>
              <a:t>7/18/2025</a:t>
            </a:fld>
            <a:endParaRPr lang="en-US"/>
          </a:p>
        </p:txBody>
      </p:sp>
      <p:sp>
        <p:nvSpPr>
          <p:cNvPr id="10487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CB4BB-297B-4B0E-BE69-DBB90D5660E7}" type="datetime1">
              <a:rPr lang="en-US" smtClean="0"/>
              <a:t>7/18/2025</a:t>
            </a:fld>
            <a:endParaRPr lang="en-US"/>
          </a:p>
        </p:txBody>
      </p:sp>
      <p:sp>
        <p:nvSpPr>
          <p:cNvPr id="10487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/>
          <p:cNvPicPr>
            <a:picLocks noChangeAspect="1"/>
          </p:cNvPicPr>
          <p:nvPr/>
        </p:nvPicPr>
        <p:blipFill rotWithShape="1">
          <a:blip r:embed="rId19"/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97153" name="Picture 6"/>
          <p:cNvPicPr>
            <a:picLocks noChangeAspect="1"/>
          </p:cNvPicPr>
          <p:nvPr/>
        </p:nvPicPr>
        <p:blipFill rotWithShape="1">
          <a:blip r:embed="rId20"/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4857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097154" name="Picture 8"/>
          <p:cNvPicPr>
            <a:picLocks noChangeAspect="1"/>
          </p:cNvPicPr>
          <p:nvPr/>
        </p:nvPicPr>
        <p:blipFill rotWithShape="1">
          <a:blip r:embed="rId21"/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97155" name="Picture 9"/>
          <p:cNvPicPr>
            <a:picLocks noChangeAspect="1"/>
          </p:cNvPicPr>
          <p:nvPr/>
        </p:nvPicPr>
        <p:blipFill rotWithShape="1">
          <a:blip r:embed="rId22"/>
          <a:srcRect b="23320"/>
          <a:stretch>
            <a:fillRect/>
          </a:stretch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048577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1826C6F-6C08-47A0-9631-1CCD53654446}" type="datetime1">
              <a:rPr lang="en-US" smtClean="0"/>
              <a:t>7/18/2025</a:t>
            </a:fld>
            <a:endParaRPr lang="en-US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>
          <a:xfrm>
            <a:off x="1397951" y="1793838"/>
            <a:ext cx="8558849" cy="1400530"/>
          </a:xfrm>
        </p:spPr>
        <p:txBody>
          <a:bodyPr/>
          <a:lstStyle/>
          <a:p>
            <a:r>
              <a:rPr lang="en-GB" b="1" dirty="0"/>
              <a:t>REVISION OF PREVIOUS CLASS </a:t>
            </a:r>
          </a:p>
        </p:txBody>
      </p:sp>
      <p:sp>
        <p:nvSpPr>
          <p:cNvPr id="1048589" name="Title 1"/>
          <p:cNvSpPr txBox="1"/>
          <p:nvPr/>
        </p:nvSpPr>
        <p:spPr>
          <a:xfrm>
            <a:off x="3907471" y="2511071"/>
            <a:ext cx="4891089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C000"/>
                </a:solidFill>
              </a:rPr>
              <a:t>Heart Block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C000"/>
                </a:solidFill>
              </a:rPr>
              <a:t>Arrythmia   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048590" name="Rectangle 4"/>
          <p:cNvSpPr/>
          <p:nvPr/>
        </p:nvSpPr>
        <p:spPr>
          <a:xfrm>
            <a:off x="9956800" y="0"/>
            <a:ext cx="1645920" cy="160528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7CD4FC-7CD9-1A0F-D2AC-47531D2A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5" descr="IMG-20250712-WA0015"/>
          <p:cNvPicPr>
            <a:picLocks noChangeAspect="1"/>
          </p:cNvPicPr>
          <p:nvPr/>
        </p:nvPicPr>
        <p:blipFill>
          <a:blip r:embed="rId2"/>
          <a:srcRect l="56802" t="22743" b="63916"/>
          <a:stretch>
            <a:fillRect/>
          </a:stretch>
        </p:blipFill>
        <p:spPr>
          <a:xfrm>
            <a:off x="142834" y="1624965"/>
            <a:ext cx="9136241" cy="4514578"/>
          </a:xfrm>
          <a:prstGeom prst="rect">
            <a:avLst/>
          </a:prstGeom>
        </p:spPr>
      </p:pic>
      <p:sp>
        <p:nvSpPr>
          <p:cNvPr id="1048591" name="Text Box 4"/>
          <p:cNvSpPr txBox="1"/>
          <p:nvPr/>
        </p:nvSpPr>
        <p:spPr>
          <a:xfrm>
            <a:off x="1011324" y="1140187"/>
            <a:ext cx="9054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Choose the correct diagnosis for this ECG? </a:t>
            </a:r>
          </a:p>
        </p:txBody>
      </p:sp>
      <p:sp>
        <p:nvSpPr>
          <p:cNvPr id="1048592" name="Text Box 8"/>
          <p:cNvSpPr txBox="1"/>
          <p:nvPr/>
        </p:nvSpPr>
        <p:spPr>
          <a:xfrm>
            <a:off x="9279075" y="2450555"/>
            <a:ext cx="2770091" cy="320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A.LBBB</a:t>
            </a:r>
          </a:p>
          <a:p>
            <a:r>
              <a:rPr lang="en-US" sz="2400" b="1" dirty="0"/>
              <a:t>B. RBBB</a:t>
            </a:r>
          </a:p>
          <a:p>
            <a:r>
              <a:rPr lang="en-US" sz="2400" b="1" dirty="0"/>
              <a:t>C. LAFB </a:t>
            </a:r>
          </a:p>
          <a:p>
            <a:r>
              <a:rPr lang="en-US" sz="2400" b="1" dirty="0"/>
              <a:t>D. RBBB + LAFB </a:t>
            </a:r>
          </a:p>
          <a:p>
            <a:r>
              <a:rPr lang="en-US" sz="2400" b="1" dirty="0"/>
              <a:t>E. RBBB + LPFB </a:t>
            </a:r>
          </a:p>
        </p:txBody>
      </p:sp>
      <p:sp>
        <p:nvSpPr>
          <p:cNvPr id="1048593" name="Rectangle 6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CBBA65-E8C7-27BB-E1FA-8DE5B7DA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4" descr="IMG-20250712-WA0016"/>
          <p:cNvPicPr>
            <a:picLocks noChangeAspect="1"/>
          </p:cNvPicPr>
          <p:nvPr/>
        </p:nvPicPr>
        <p:blipFill rotWithShape="1">
          <a:blip r:embed="rId2"/>
          <a:srcRect l="56851" t="21947" r="1426" b="67088"/>
          <a:stretch>
            <a:fillRect/>
          </a:stretch>
        </p:blipFill>
        <p:spPr>
          <a:xfrm>
            <a:off x="81280" y="355941"/>
            <a:ext cx="9085984" cy="3820908"/>
          </a:xfrm>
          <a:prstGeom prst="rect">
            <a:avLst/>
          </a:prstGeom>
        </p:spPr>
      </p:pic>
      <p:sp>
        <p:nvSpPr>
          <p:cNvPr id="1048594" name="TextBox 2"/>
          <p:cNvSpPr txBox="1"/>
          <p:nvPr/>
        </p:nvSpPr>
        <p:spPr>
          <a:xfrm>
            <a:off x="8476384" y="4303455"/>
            <a:ext cx="3354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A.LBBB</a:t>
            </a:r>
          </a:p>
          <a:p>
            <a:r>
              <a:rPr lang="en-GB" sz="3200" b="1" dirty="0"/>
              <a:t>B.RBBB</a:t>
            </a:r>
          </a:p>
          <a:p>
            <a:r>
              <a:rPr lang="en-GB" sz="3200" b="1" dirty="0"/>
              <a:t>C.LAFB</a:t>
            </a:r>
          </a:p>
          <a:p>
            <a:r>
              <a:rPr lang="en-GB" sz="3200" b="1" dirty="0"/>
              <a:t>D.RBBB +LAFB</a:t>
            </a:r>
          </a:p>
          <a:p>
            <a:r>
              <a:rPr lang="en-GB" sz="3200" b="1" dirty="0"/>
              <a:t>E. RBBB +LPFB</a:t>
            </a:r>
          </a:p>
        </p:txBody>
      </p:sp>
      <p:sp>
        <p:nvSpPr>
          <p:cNvPr id="1048595" name="TextBox 5"/>
          <p:cNvSpPr txBox="1"/>
          <p:nvPr/>
        </p:nvSpPr>
        <p:spPr>
          <a:xfrm>
            <a:off x="3770832" y="4335024"/>
            <a:ext cx="4908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Choose the correct diagnosis for this ECG?</a:t>
            </a:r>
          </a:p>
        </p:txBody>
      </p:sp>
      <p:sp>
        <p:nvSpPr>
          <p:cNvPr id="1048596" name="Rectangle 6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1A070-24C1-5BAD-2DE3-E039FA3C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Rectangle 3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8598" name="TextBox 2"/>
          <p:cNvSpPr txBox="1"/>
          <p:nvPr/>
        </p:nvSpPr>
        <p:spPr>
          <a:xfrm>
            <a:off x="481262" y="1452195"/>
            <a:ext cx="113898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Atrial flutter is similar to atrial fibrillation, but the rhythm in your atria is more organized and less chaotic than the abnormal patterns common with atrial fibrillation.</a:t>
            </a:r>
          </a:p>
          <a:p>
            <a:endParaRPr lang="en-US" sz="3600" b="1" dirty="0"/>
          </a:p>
          <a:p>
            <a:r>
              <a:rPr lang="en-US" sz="3600" b="1" dirty="0"/>
              <a:t>True</a:t>
            </a:r>
          </a:p>
          <a:p>
            <a:r>
              <a:rPr lang="en-US" sz="3600" b="1" dirty="0"/>
              <a:t>False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CF1B5-C8C6-AEC5-6101-4BA274D6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3" descr="IMG-20250712-WA0019"/>
          <p:cNvPicPr>
            <a:picLocks noChangeAspect="1"/>
          </p:cNvPicPr>
          <p:nvPr/>
        </p:nvPicPr>
        <p:blipFill>
          <a:blip r:embed="rId2"/>
          <a:srcRect l="11022" t="14991" r="11748" b="39796"/>
          <a:stretch>
            <a:fillRect/>
          </a:stretch>
        </p:blipFill>
        <p:spPr>
          <a:xfrm>
            <a:off x="146685" y="328295"/>
            <a:ext cx="6763385" cy="6335395"/>
          </a:xfrm>
          <a:prstGeom prst="rect">
            <a:avLst/>
          </a:prstGeom>
        </p:spPr>
      </p:pic>
      <p:sp>
        <p:nvSpPr>
          <p:cNvPr id="1048599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6910070" y="1610360"/>
            <a:ext cx="4876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Which figure(s) above represents a rhythm where the PR intervals are cyclic in getting longer with a dropped QRS complex and then the pattern is repeated?</a:t>
            </a:r>
          </a:p>
          <a:p>
            <a:pPr marL="342900" indent="-342900">
              <a:buAutoNum type="arabicPeriod"/>
            </a:pPr>
            <a:endParaRPr lang="en-US" altLang="en-US" sz="2400" b="1" dirty="0"/>
          </a:p>
          <a:p>
            <a:pPr marL="342900" indent="-342900">
              <a:buAutoNum type="arabicPeriod"/>
            </a:pPr>
            <a:endParaRPr lang="en-US" altLang="en-US" sz="2400" b="1" dirty="0"/>
          </a:p>
          <a:p>
            <a:r>
              <a:rPr lang="en-US" altLang="en-US" sz="2400" b="1" dirty="0"/>
              <a:t>A. Figure 2</a:t>
            </a:r>
          </a:p>
          <a:p>
            <a:r>
              <a:rPr lang="en-US" altLang="en-US" sz="2400" b="1" dirty="0"/>
              <a:t>B. Figure 1 &amp; 2</a:t>
            </a:r>
          </a:p>
          <a:p>
            <a:r>
              <a:rPr lang="en-US" altLang="en-US" sz="2400" b="1" dirty="0"/>
              <a:t>C. Figure 1</a:t>
            </a:r>
          </a:p>
          <a:p>
            <a:r>
              <a:rPr lang="en-US" altLang="en-US" sz="2400" b="1" dirty="0"/>
              <a:t>D. Figure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DE84C-5FD3-A7A1-4C03-8F961D66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1101725" y="3247390"/>
            <a:ext cx="9988550" cy="3610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2800" b="1" dirty="0"/>
          </a:p>
          <a:p>
            <a:r>
              <a:rPr lang="en-US" altLang="en-US" sz="2800" b="1" dirty="0"/>
              <a:t> Figure 4 is known as what type of rhythm?</a:t>
            </a:r>
          </a:p>
          <a:p>
            <a:endParaRPr lang="en-US" altLang="en-US" sz="2800" b="1" dirty="0"/>
          </a:p>
          <a:p>
            <a:r>
              <a:rPr lang="en-US" altLang="en-US" sz="2800" b="1" dirty="0"/>
              <a:t>A. 2nd Degree Type 2 (Mobitz II)</a:t>
            </a:r>
          </a:p>
          <a:p>
            <a:r>
              <a:rPr lang="en-US" altLang="en-US" sz="2800" b="1" dirty="0"/>
              <a:t>B. 1st Degree AV Block</a:t>
            </a:r>
          </a:p>
          <a:p>
            <a:r>
              <a:rPr lang="en-US" altLang="en-US" sz="2800" b="1" dirty="0"/>
              <a:t>C. </a:t>
            </a:r>
            <a:r>
              <a:rPr lang="en-US" altLang="en-US" sz="2800" b="1" dirty="0" err="1"/>
              <a:t>Wenckeback</a:t>
            </a:r>
            <a:endParaRPr lang="en-US" altLang="en-US" sz="2800" b="1" dirty="0"/>
          </a:p>
          <a:p>
            <a:r>
              <a:rPr lang="en-US" altLang="en-US" sz="2800" b="1" dirty="0"/>
              <a:t>D. 3rd Degree Heart Block</a:t>
            </a:r>
          </a:p>
        </p:txBody>
      </p:sp>
      <p:pic>
        <p:nvPicPr>
          <p:cNvPr id="3" name="Picture 3" descr="IMG-20250712-WA0019">
            <a:extLst>
              <a:ext uri="{FF2B5EF4-FFF2-40B4-BE49-F238E27FC236}">
                <a16:creationId xmlns:a16="http://schemas.microsoft.com/office/drawing/2014/main" id="{2299FF03-5CB5-FE0F-055E-A021E09843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2" t="50003" r="11748" b="39796"/>
          <a:stretch>
            <a:fillRect/>
          </a:stretch>
        </p:blipFill>
        <p:spPr>
          <a:xfrm>
            <a:off x="572392" y="1203099"/>
            <a:ext cx="11265382" cy="238084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D0572-8FEC-FB85-82EA-74748ADD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3" descr="IMG-20250712-WA0020"/>
          <p:cNvPicPr>
            <a:picLocks noChangeAspect="1"/>
          </p:cNvPicPr>
          <p:nvPr/>
        </p:nvPicPr>
        <p:blipFill>
          <a:blip r:embed="rId3"/>
          <a:srcRect l="26138" t="34745" r="13850" b="47292"/>
          <a:stretch>
            <a:fillRect/>
          </a:stretch>
        </p:blipFill>
        <p:spPr>
          <a:xfrm>
            <a:off x="146685" y="953135"/>
            <a:ext cx="7475855" cy="3580765"/>
          </a:xfrm>
          <a:prstGeom prst="rect">
            <a:avLst/>
          </a:prstGeom>
        </p:spPr>
      </p:pic>
      <p:sp>
        <p:nvSpPr>
          <p:cNvPr id="1048600" name="Rectangle 2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8185785" y="751840"/>
            <a:ext cx="3564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the most likely diagnosis?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3855" y="1581785"/>
            <a:ext cx="3766185" cy="3457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A Normal sinus rhythm </a:t>
            </a:r>
          </a:p>
          <a:p>
            <a:endParaRPr lang="en-US" sz="2400" b="1" dirty="0"/>
          </a:p>
          <a:p>
            <a:r>
              <a:rPr lang="en-US" sz="2400" b="1" dirty="0"/>
              <a:t>B. Junctional rhythm </a:t>
            </a:r>
          </a:p>
          <a:p>
            <a:endParaRPr lang="en-US" sz="2400" b="1" dirty="0"/>
          </a:p>
          <a:p>
            <a:r>
              <a:rPr lang="en-US" sz="2400" b="1" dirty="0"/>
              <a:t>c. Atrial Flutter with 4:1 atrioventricular block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D. Paroxysmal atrial tachycardia with 2:1 atrioventricular block </a:t>
            </a:r>
          </a:p>
          <a:p>
            <a:endParaRPr lang="en-US" sz="2400" b="1" dirty="0"/>
          </a:p>
          <a:p>
            <a:r>
              <a:rPr lang="en-US" sz="2400" b="1" dirty="0"/>
              <a:t>E. Complete heart block with 2:1 atrioventricular block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A1FF6-064E-D0CC-AA34-C61226E9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3" descr="IMG-20250712-WA0023"/>
          <p:cNvPicPr>
            <a:picLocks noChangeAspect="1"/>
          </p:cNvPicPr>
          <p:nvPr/>
        </p:nvPicPr>
        <p:blipFill>
          <a:blip r:embed="rId2"/>
          <a:srcRect l="4749" t="14912" r="6320" b="76132"/>
          <a:stretch>
            <a:fillRect/>
          </a:stretch>
        </p:blipFill>
        <p:spPr>
          <a:xfrm>
            <a:off x="281305" y="1411605"/>
            <a:ext cx="11013440" cy="1774825"/>
          </a:xfrm>
          <a:prstGeom prst="rect">
            <a:avLst/>
          </a:prstGeom>
        </p:spPr>
      </p:pic>
      <p:sp>
        <p:nvSpPr>
          <p:cNvPr id="1048608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400685" y="3562350"/>
            <a:ext cx="1127061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/>
              <a:t>A new nurse observes the rhythm pictured and interprets it as which of the following?</a:t>
            </a:r>
          </a:p>
          <a:p>
            <a:endParaRPr lang="en-US" altLang="en-US" sz="2400" b="1"/>
          </a:p>
          <a:p>
            <a:r>
              <a:rPr lang="en-US" altLang="en-US" sz="2400" b="1"/>
              <a:t>A Supraventricular tachycardia</a:t>
            </a:r>
          </a:p>
          <a:p>
            <a:r>
              <a:rPr lang="en-US" altLang="en-US" sz="2400" b="1"/>
              <a:t>B Sinus tachycardia</a:t>
            </a:r>
          </a:p>
          <a:p>
            <a:r>
              <a:rPr lang="en-US" altLang="en-US" sz="2400" b="1"/>
              <a:t>C Atrial fibrillation</a:t>
            </a:r>
          </a:p>
          <a:p>
            <a:r>
              <a:rPr lang="en-US" altLang="en-US" sz="2400" b="1"/>
              <a:t>D Atrial flutter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3C8A2-962E-E5F7-7450-558B6F5D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3" descr="IMG-20250712-WA0024"/>
          <p:cNvPicPr>
            <a:picLocks noChangeAspect="1"/>
          </p:cNvPicPr>
          <p:nvPr/>
        </p:nvPicPr>
        <p:blipFill>
          <a:blip r:embed="rId2"/>
          <a:srcRect l="58984" t="25959" r="1265" b="63097"/>
          <a:stretch>
            <a:fillRect/>
          </a:stretch>
        </p:blipFill>
        <p:spPr>
          <a:xfrm>
            <a:off x="266065" y="1435735"/>
            <a:ext cx="8482965" cy="3736975"/>
          </a:xfrm>
          <a:prstGeom prst="rect">
            <a:avLst/>
          </a:prstGeom>
        </p:spPr>
      </p:pic>
      <p:sp>
        <p:nvSpPr>
          <p:cNvPr id="1048610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9048115" y="1435735"/>
            <a:ext cx="2980690" cy="4596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/>
              <a:t>Choose the correct diagnosis for the ECG?</a:t>
            </a:r>
          </a:p>
          <a:p>
            <a:endParaRPr lang="en-US" sz="2800" b="1"/>
          </a:p>
          <a:p>
            <a:r>
              <a:rPr lang="en-US" sz="2800" b="1"/>
              <a:t>A. LBBB</a:t>
            </a:r>
          </a:p>
          <a:p>
            <a:r>
              <a:rPr lang="en-US" sz="2800" b="1"/>
              <a:t>B. RBBB</a:t>
            </a:r>
          </a:p>
          <a:p>
            <a:r>
              <a:rPr lang="en-US" sz="2800" b="1"/>
              <a:t>C. LAFB</a:t>
            </a:r>
          </a:p>
          <a:p>
            <a:r>
              <a:rPr lang="en-US" sz="2800" b="1"/>
              <a:t>D. RBBB + LAFB</a:t>
            </a:r>
          </a:p>
          <a:p>
            <a:r>
              <a:rPr lang="en-US" sz="2800" b="1"/>
              <a:t>E.  RBBB + LPFB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87233-6F06-2688-C5C5-A23AF3A6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1056640" y="848995"/>
            <a:ext cx="9928860" cy="5370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600" b="1"/>
              <a:t>Atrial fibrillation may be:</a:t>
            </a:r>
          </a:p>
          <a:p>
            <a:endParaRPr lang="en-US" altLang="en-US" sz="3600" b="1"/>
          </a:p>
          <a:p>
            <a:r>
              <a:rPr lang="en-US" altLang="en-US" sz="3600" b="1"/>
              <a:t>A Occasional</a:t>
            </a:r>
          </a:p>
          <a:p>
            <a:r>
              <a:rPr lang="en-US" altLang="en-US" sz="3600" b="1"/>
              <a:t>B Persistent</a:t>
            </a:r>
          </a:p>
          <a:p>
            <a:r>
              <a:rPr lang="en-US" altLang="en-US" sz="3600" b="1"/>
              <a:t>C Long-standing persistent</a:t>
            </a:r>
          </a:p>
          <a:p>
            <a:r>
              <a:rPr lang="en-US" altLang="en-US" sz="3600" b="1"/>
              <a:t>D Permanent</a:t>
            </a:r>
          </a:p>
          <a:p>
            <a:r>
              <a:rPr lang="en-US" altLang="en-US" sz="3600" b="1"/>
              <a:t>E All of the above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0E2B-A41F-4589-38D4-334D7A15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1477010" y="1203325"/>
            <a:ext cx="80803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 normal PR interval measures ?</a:t>
            </a:r>
          </a:p>
          <a:p>
            <a:endParaRPr lang="en-US" sz="3600" b="1"/>
          </a:p>
          <a:p>
            <a:endParaRPr lang="en-US" sz="3600" b="1"/>
          </a:p>
          <a:p>
            <a:r>
              <a:rPr lang="en-US" sz="3600" b="1"/>
              <a:t>A 0.12 to 0.20 seconds </a:t>
            </a:r>
          </a:p>
          <a:p>
            <a:r>
              <a:rPr lang="en-US" sz="3600" b="1"/>
              <a:t>B great than 0.20 seconds </a:t>
            </a:r>
          </a:p>
          <a:p>
            <a:r>
              <a:rPr lang="en-US" sz="3600" b="1"/>
              <a:t>C 0.06 to 0.16 seconds </a:t>
            </a:r>
          </a:p>
          <a:p>
            <a:r>
              <a:rPr lang="en-US" sz="3600" b="1"/>
              <a:t>D 0.20 to 0.26 seconds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242DC-FCE8-8A29-9B41-52352A0A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Box 2"/>
          <p:cNvSpPr txBox="1"/>
          <p:nvPr/>
        </p:nvSpPr>
        <p:spPr>
          <a:xfrm>
            <a:off x="449580" y="1117600"/>
            <a:ext cx="10332085" cy="438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/>
              <a:t>In degree heart block, the SA node generates impulses but those impulses do not go the ventricles. therefore, the atrial and ventricles are independent </a:t>
            </a:r>
          </a:p>
          <a:p>
            <a:endParaRPr lang="en-US" sz="3600" b="1"/>
          </a:p>
          <a:p>
            <a:r>
              <a:rPr lang="en-US" sz="3600" b="1"/>
              <a:t>A True</a:t>
            </a:r>
          </a:p>
          <a:p>
            <a:r>
              <a:rPr lang="en-US" sz="3600" b="1"/>
              <a:t>B False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389AB-D986-C92F-C3EC-C0181B21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3" descr="IMG-20250712-WA0028"/>
          <p:cNvPicPr>
            <a:picLocks noChangeAspect="1"/>
          </p:cNvPicPr>
          <p:nvPr/>
        </p:nvPicPr>
        <p:blipFill>
          <a:blip r:embed="rId2"/>
          <a:srcRect l="5150" t="15181" r="27431" b="61931"/>
          <a:stretch>
            <a:fillRect/>
          </a:stretch>
        </p:blipFill>
        <p:spPr>
          <a:xfrm>
            <a:off x="1046480" y="1788795"/>
            <a:ext cx="8790305" cy="4775200"/>
          </a:xfrm>
          <a:prstGeom prst="rect">
            <a:avLst/>
          </a:prstGeom>
        </p:spPr>
      </p:pic>
      <p:sp>
        <p:nvSpPr>
          <p:cNvPr id="1048620" name="Rectangle 4"/>
          <p:cNvSpPr/>
          <p:nvPr/>
        </p:nvSpPr>
        <p:spPr>
          <a:xfrm>
            <a:off x="10245956" y="0"/>
            <a:ext cx="934720" cy="120323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Box 1"/>
          <p:cNvSpPr txBox="1"/>
          <p:nvPr/>
        </p:nvSpPr>
        <p:spPr>
          <a:xfrm>
            <a:off x="430530" y="535940"/>
            <a:ext cx="9927590" cy="1252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A 45 year old business man presents with a feeling that his heart is racing. He also has some shortness of breath. This is his ECG. Present your findings and give a diagnosis.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65D07-DE87-7FF6-6276-6C2DFF2B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ubtitle 2"/>
          <p:cNvSpPr>
            <a:spLocks noGrp="1"/>
          </p:cNvSpPr>
          <p:nvPr>
            <p:ph type="subTitle" idx="1"/>
          </p:nvPr>
        </p:nvSpPr>
        <p:spPr>
          <a:xfrm>
            <a:off x="1695230" y="4935951"/>
            <a:ext cx="4859765" cy="86142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mISS haastrup Temitope </a:t>
            </a:r>
          </a:p>
        </p:txBody>
      </p:sp>
      <p:cxnSp>
        <p:nvCxnSpPr>
          <p:cNvPr id="3145728" name="Straight Connector 4"/>
          <p:cNvCxnSpPr/>
          <p:nvPr/>
        </p:nvCxnSpPr>
        <p:spPr>
          <a:xfrm>
            <a:off x="1601995" y="5366661"/>
            <a:ext cx="990600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8" name="Rectangle 8"/>
          <p:cNvSpPr/>
          <p:nvPr/>
        </p:nvSpPr>
        <p:spPr>
          <a:xfrm>
            <a:off x="779719" y="1652088"/>
            <a:ext cx="10143999" cy="306613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48629" name="Rectangle 9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30" name="Oval 6"/>
          <p:cNvSpPr/>
          <p:nvPr/>
        </p:nvSpPr>
        <p:spPr>
          <a:xfrm>
            <a:off x="10549518" y="242164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97168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2237" y="254385"/>
            <a:ext cx="682963" cy="712608"/>
          </a:xfrm>
          <a:prstGeom prst="rect">
            <a:avLst/>
          </a:prstGeom>
        </p:spPr>
      </p:pic>
      <p:sp>
        <p:nvSpPr>
          <p:cNvPr id="1048631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48626" name="Title 1"/>
          <p:cNvSpPr>
            <a:spLocks noGrp="1"/>
          </p:cNvSpPr>
          <p:nvPr>
            <p:ph type="ctrTitle"/>
          </p:nvPr>
        </p:nvSpPr>
        <p:spPr>
          <a:xfrm>
            <a:off x="786283" y="1461467"/>
            <a:ext cx="11405717" cy="3329581"/>
          </a:xfrm>
        </p:spPr>
        <p:txBody>
          <a:bodyPr/>
          <a:lstStyle/>
          <a:p>
            <a:br>
              <a:rPr lang="en-US" sz="4800" b="1" dirty="0">
                <a:solidFill>
                  <a:schemeClr val="bg2"/>
                </a:solidFill>
              </a:rPr>
            </a:br>
            <a:r>
              <a:rPr lang="en-US" sz="4800" b="1" dirty="0">
                <a:solidFill>
                  <a:schemeClr val="bg2"/>
                </a:solidFill>
              </a:rPr>
              <a:t>Premature Ventricular Complex</a:t>
            </a:r>
            <a:r>
              <a:rPr lang="en-US" sz="2000" b="1" dirty="0">
                <a:solidFill>
                  <a:schemeClr val="bg2"/>
                </a:solidFill>
              </a:rPr>
              <a:t>(PVC)</a:t>
            </a:r>
            <a:br>
              <a:rPr lang="en-US" sz="4800" b="1" dirty="0">
                <a:solidFill>
                  <a:schemeClr val="bg2"/>
                </a:solidFill>
              </a:rPr>
            </a:br>
            <a:r>
              <a:rPr lang="en-US" sz="4800" b="1" dirty="0" err="1">
                <a:solidFill>
                  <a:schemeClr val="bg2"/>
                </a:solidFill>
              </a:rPr>
              <a:t>Torsad</a:t>
            </a:r>
            <a:r>
              <a:rPr lang="en-US" sz="4800" b="1" dirty="0">
                <a:solidFill>
                  <a:schemeClr val="bg2"/>
                </a:solidFill>
              </a:rPr>
              <a:t> de </a:t>
            </a:r>
            <a:r>
              <a:rPr lang="en-US" sz="4800" b="1" dirty="0" err="1">
                <a:solidFill>
                  <a:schemeClr val="bg2"/>
                </a:solidFill>
              </a:rPr>
              <a:t>pontis</a:t>
            </a:r>
            <a:r>
              <a:rPr lang="en-US" sz="4800" b="1" dirty="0">
                <a:solidFill>
                  <a:schemeClr val="bg2"/>
                </a:solidFill>
              </a:rPr>
              <a:t> </a:t>
            </a:r>
            <a:r>
              <a:rPr lang="en-US" sz="2800" b="1" dirty="0">
                <a:solidFill>
                  <a:schemeClr val="bg2"/>
                </a:solidFill>
              </a:rPr>
              <a:t>(</a:t>
            </a:r>
            <a:r>
              <a:rPr lang="en-US" sz="2800" b="1" dirty="0" err="1">
                <a:solidFill>
                  <a:schemeClr val="bg2"/>
                </a:solidFill>
              </a:rPr>
              <a:t>TdP</a:t>
            </a:r>
            <a:r>
              <a:rPr lang="en-US" sz="2800" b="1" dirty="0">
                <a:solidFill>
                  <a:schemeClr val="bg2"/>
                </a:solidFill>
              </a:rPr>
              <a:t>) </a:t>
            </a:r>
            <a:br>
              <a:rPr lang="en-US" sz="4800" b="1" dirty="0">
                <a:solidFill>
                  <a:schemeClr val="bg2"/>
                </a:solidFill>
              </a:rPr>
            </a:br>
            <a:r>
              <a:rPr lang="en-US" sz="4800" b="1" dirty="0">
                <a:solidFill>
                  <a:schemeClr val="bg2"/>
                </a:solidFill>
              </a:rPr>
              <a:t>Agonal Rhythms, </a:t>
            </a:r>
            <a:br>
              <a:rPr lang="en-US" sz="4800" b="1" dirty="0">
                <a:solidFill>
                  <a:schemeClr val="bg2"/>
                </a:solidFill>
              </a:rPr>
            </a:br>
            <a:endParaRPr lang="en-US" sz="4800" b="1" dirty="0">
              <a:solidFill>
                <a:schemeClr val="bg2"/>
              </a:solidFill>
            </a:endParaRPr>
          </a:p>
        </p:txBody>
      </p:sp>
      <p:sp>
        <p:nvSpPr>
          <p:cNvPr id="2" name="Oval 10">
            <a:extLst>
              <a:ext uri="{FF2B5EF4-FFF2-40B4-BE49-F238E27FC236}">
                <a16:creationId xmlns:a16="http://schemas.microsoft.com/office/drawing/2014/main" id="{E7D0111F-1ACC-9A7F-815B-90CF072BFB7A}"/>
              </a:ext>
            </a:extLst>
          </p:cNvPr>
          <p:cNvSpPr/>
          <p:nvPr/>
        </p:nvSpPr>
        <p:spPr>
          <a:xfrm>
            <a:off x="10533155" y="218806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97169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44249" y="286267"/>
            <a:ext cx="682963" cy="71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A7B8F5-DF97-B423-05F9-839634662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3" t="60903" r="3290" b="22701"/>
          <a:stretch>
            <a:fillRect/>
          </a:stretch>
        </p:blipFill>
        <p:spPr>
          <a:xfrm>
            <a:off x="6193071" y="3262679"/>
            <a:ext cx="4340084" cy="11244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645130" y="609601"/>
            <a:ext cx="9404723" cy="140053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OUTLINE </a:t>
            </a:r>
          </a:p>
        </p:txBody>
      </p:sp>
      <p:sp>
        <p:nvSpPr>
          <p:cNvPr id="104863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Definition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Causes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Clinical features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ECG finding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Origin of PVC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Shape of PVC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Types of PVC </a:t>
            </a:r>
          </a:p>
        </p:txBody>
      </p:sp>
      <p:cxnSp>
        <p:nvCxnSpPr>
          <p:cNvPr id="3145729" name="Straight Connector 3"/>
          <p:cNvCxnSpPr/>
          <p:nvPr/>
        </p:nvCxnSpPr>
        <p:spPr>
          <a:xfrm>
            <a:off x="1872071" y="1526181"/>
            <a:ext cx="84478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4" name="Rectangle 8"/>
          <p:cNvSpPr/>
          <p:nvPr/>
        </p:nvSpPr>
        <p:spPr>
          <a:xfrm>
            <a:off x="10319929" y="0"/>
            <a:ext cx="1063516" cy="12213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108E20-920B-22FE-5B06-203C23E7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Premature Ventricular Complex </a:t>
            </a:r>
            <a:r>
              <a:rPr lang="en-US" sz="2400" b="1" dirty="0">
                <a:solidFill>
                  <a:srgbClr val="FFFF00"/>
                </a:solidFill>
              </a:rPr>
              <a:t>(PVC)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646111" y="1853248"/>
            <a:ext cx="10672638" cy="455203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FFFF00"/>
                </a:solidFill>
              </a:rPr>
              <a:t>Definition: </a:t>
            </a:r>
          </a:p>
          <a:p>
            <a:pPr marL="0" indent="0">
              <a:buNone/>
            </a:pPr>
            <a:r>
              <a:rPr lang="en-US" sz="4000" dirty="0"/>
              <a:t>It occur as a result of irritation focuses on the ventricle </a:t>
            </a:r>
          </a:p>
          <a:p>
            <a:pPr marL="0" indent="0">
              <a:buNone/>
            </a:pPr>
            <a:endParaRPr lang="en-US" sz="4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It is also called </a:t>
            </a:r>
            <a:r>
              <a:rPr lang="en-US" sz="4000" dirty="0">
                <a:solidFill>
                  <a:srgbClr val="FFFF00"/>
                </a:solidFill>
              </a:rPr>
              <a:t>Ventricular premature beat </a:t>
            </a:r>
            <a:r>
              <a:rPr lang="en-US" sz="4000" dirty="0"/>
              <a:t>and </a:t>
            </a:r>
            <a:r>
              <a:rPr lang="en-US" sz="4000" dirty="0">
                <a:solidFill>
                  <a:srgbClr val="FFFF00"/>
                </a:solidFill>
              </a:rPr>
              <a:t>escape beat</a:t>
            </a:r>
            <a:r>
              <a:rPr lang="en-US" sz="4000" dirty="0"/>
              <a:t> </a:t>
            </a:r>
          </a:p>
        </p:txBody>
      </p:sp>
      <p:cxnSp>
        <p:nvCxnSpPr>
          <p:cNvPr id="3145731" name="Straight Connector 6"/>
          <p:cNvCxnSpPr/>
          <p:nvPr/>
        </p:nvCxnSpPr>
        <p:spPr>
          <a:xfrm>
            <a:off x="684004" y="1221378"/>
            <a:ext cx="936683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2" name="Rectangle 9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241B5-C75B-042E-0A9E-6D052A62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Cause of PVC </a:t>
            </a:r>
            <a:br>
              <a:rPr lang="en-US" b="1" dirty="0">
                <a:solidFill>
                  <a:srgbClr val="FFFF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Cardiac condition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Non-cardiac condition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Medication </a:t>
            </a:r>
          </a:p>
          <a:p>
            <a:endParaRPr lang="en-US" sz="4000" dirty="0"/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30438-E2CE-BFE5-BEE1-698BDFBB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C5645AAB-CE2A-1545-B74A-4C9FC27CD439}"/>
              </a:ext>
            </a:extLst>
          </p:cNvPr>
          <p:cNvCxnSpPr/>
          <p:nvPr/>
        </p:nvCxnSpPr>
        <p:spPr>
          <a:xfrm>
            <a:off x="646111" y="1354731"/>
            <a:ext cx="844785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Cardiac Condition </a:t>
            </a:r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646111" y="1441141"/>
            <a:ext cx="9404723" cy="4964141"/>
          </a:xfrm>
        </p:spPr>
        <p:txBody>
          <a:bodyPr numCol="1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Hypertension induce LVH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Concentric LVH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Congenital heart disease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Acute myocardia infraction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Heart Attack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congestive heart disease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Heart Failure </a:t>
            </a:r>
          </a:p>
        </p:txBody>
      </p:sp>
      <p:cxnSp>
        <p:nvCxnSpPr>
          <p:cNvPr id="3145732" name="Straight Connector 6"/>
          <p:cNvCxnSpPr/>
          <p:nvPr/>
        </p:nvCxnSpPr>
        <p:spPr>
          <a:xfrm>
            <a:off x="2296160" y="1221378"/>
            <a:ext cx="683570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6" name="Rectangle 7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65412-B65A-1E03-AF63-91BB7F56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Non-Cardiac Condition </a:t>
            </a:r>
          </a:p>
        </p:txBody>
      </p:sp>
      <p:sp>
        <p:nvSpPr>
          <p:cNvPr id="1048649" name="Content Placeholder 2"/>
          <p:cNvSpPr>
            <a:spLocks noGrp="1"/>
          </p:cNvSpPr>
          <p:nvPr>
            <p:ph idx="1"/>
          </p:nvPr>
        </p:nvSpPr>
        <p:spPr>
          <a:xfrm>
            <a:off x="646111" y="1585558"/>
            <a:ext cx="10672638" cy="502876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Thyroid disease </a:t>
            </a:r>
            <a:r>
              <a:rPr lang="en-US" sz="3200" dirty="0" err="1"/>
              <a:t>i.e</a:t>
            </a:r>
            <a:r>
              <a:rPr lang="en-US" sz="3200" dirty="0"/>
              <a:t> hyperthyroidism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Gonadal disorder </a:t>
            </a:r>
            <a:r>
              <a:rPr lang="en-US" sz="3200" dirty="0" err="1"/>
              <a:t>i.e</a:t>
            </a:r>
            <a:r>
              <a:rPr lang="en-US" sz="3200" dirty="0"/>
              <a:t> hypo and hyper gonadal disorder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Electrolyte abnormality </a:t>
            </a:r>
            <a:r>
              <a:rPr lang="en-US" sz="3200" dirty="0" err="1"/>
              <a:t>i.e</a:t>
            </a:r>
            <a:r>
              <a:rPr lang="en-US" sz="3200" dirty="0"/>
              <a:t> hypocalcemia and </a:t>
            </a:r>
            <a:r>
              <a:rPr lang="en-US" sz="3200" dirty="0" err="1"/>
              <a:t>hypomegnisum</a:t>
            </a:r>
            <a:r>
              <a:rPr lang="en-US" sz="3200" dirty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Hypoxia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Sleep apnea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COPD (chronic obstructive pulmonary disease)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Pulmonary hypertension </a:t>
            </a:r>
          </a:p>
          <a:p>
            <a:pPr marL="0" indent="0">
              <a:buNone/>
            </a:pPr>
            <a:endParaRPr lang="en-US" sz="3200" dirty="0"/>
          </a:p>
        </p:txBody>
      </p:sp>
      <p:cxnSp>
        <p:nvCxnSpPr>
          <p:cNvPr id="3145733" name="Straight Connector 6"/>
          <p:cNvCxnSpPr/>
          <p:nvPr/>
        </p:nvCxnSpPr>
        <p:spPr>
          <a:xfrm>
            <a:off x="684004" y="1221378"/>
            <a:ext cx="936683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0" name="Rectangle 7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51" name="Oval 8"/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9C1BB-2096-8C2C-00A7-7C44F4C3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Medication/Substance</a:t>
            </a:r>
          </a:p>
        </p:txBody>
      </p:sp>
      <p:sp>
        <p:nvSpPr>
          <p:cNvPr id="1048653" name="Content Placeholder 2"/>
          <p:cNvSpPr>
            <a:spLocks noGrp="1"/>
          </p:cNvSpPr>
          <p:nvPr>
            <p:ph idx="1"/>
          </p:nvPr>
        </p:nvSpPr>
        <p:spPr>
          <a:xfrm>
            <a:off x="646111" y="1670368"/>
            <a:ext cx="10286049" cy="47349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Beta block drug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 err="1"/>
              <a:t>Antihistamin</a:t>
            </a:r>
            <a:r>
              <a:rPr lang="en-US" sz="3600" dirty="0"/>
              <a:t> drug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 err="1"/>
              <a:t>cocain</a:t>
            </a:r>
            <a:r>
              <a:rPr lang="en-US" sz="3600" dirty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caffein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 err="1"/>
              <a:t>Nicotin</a:t>
            </a:r>
            <a:endParaRPr lang="en-US" sz="3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3600"/>
              <a:t>Alcohol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cxnSp>
        <p:nvCxnSpPr>
          <p:cNvPr id="3145734" name="Straight Connector 7"/>
          <p:cNvCxnSpPr/>
          <p:nvPr/>
        </p:nvCxnSpPr>
        <p:spPr>
          <a:xfrm>
            <a:off x="684004" y="1280160"/>
            <a:ext cx="854127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4" name="Rectangle 8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55" name="Oval 9"/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CC22A-67BA-B7ED-2E0B-784FC755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sym typeface="+mn-ea"/>
              </a:rPr>
              <a:t>Clinical Features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800" dirty="0">
                <a:sym typeface="+mn-ea"/>
              </a:rPr>
              <a:t>Asymptomatic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800" dirty="0">
                <a:sym typeface="+mn-ea"/>
              </a:rPr>
              <a:t>Palpitation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800" dirty="0">
                <a:sym typeface="+mn-ea"/>
              </a:rPr>
              <a:t>Syncope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800" dirty="0">
                <a:sym typeface="+mn-ea"/>
              </a:rPr>
              <a:t>Dizziness </a:t>
            </a:r>
            <a:endParaRPr lang="en-US" sz="4800" dirty="0"/>
          </a:p>
          <a:p>
            <a:endParaRPr lang="en-US" sz="4800" dirty="0"/>
          </a:p>
        </p:txBody>
      </p:sp>
      <p:cxnSp>
        <p:nvCxnSpPr>
          <p:cNvPr id="3145735" name="Straight Connector 7"/>
          <p:cNvCxnSpPr/>
          <p:nvPr/>
        </p:nvCxnSpPr>
        <p:spPr>
          <a:xfrm>
            <a:off x="1103312" y="1361440"/>
            <a:ext cx="89465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8" name="Rectangle 6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59" name="Oval 8"/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31EDF-1C7D-5FC4-E366-354EBFAC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ECG FINDING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sz="3200" dirty="0"/>
              <a:t>Absence of P-wave 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3200" dirty="0"/>
              <a:t>wide bizarre QRS complex &gt; 0.12s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3200" dirty="0"/>
              <a:t>Compensatory pause-wave</a:t>
            </a:r>
          </a:p>
        </p:txBody>
      </p:sp>
      <p:sp>
        <p:nvSpPr>
          <p:cNvPr id="4" name="Rectangle 5"/>
          <p:cNvSpPr/>
          <p:nvPr/>
        </p:nvSpPr>
        <p:spPr>
          <a:xfrm>
            <a:off x="10444480" y="1604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C9102-22C7-71D2-D6B8-2D490E3E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DDB7-FBC2-7174-86F3-7EE424BB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57DAF6-7A31-65F1-3DDC-D1D9852E3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68" y="169519"/>
            <a:ext cx="9673486" cy="2845143"/>
          </a:xfr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8DF292C8-C614-1D61-EB89-A8AF72FECA43}"/>
              </a:ext>
            </a:extLst>
          </p:cNvPr>
          <p:cNvSpPr/>
          <p:nvPr/>
        </p:nvSpPr>
        <p:spPr>
          <a:xfrm>
            <a:off x="10444480" y="1604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BF8D02-C837-03EE-1F4D-984DA6985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" r="1178" b="3872"/>
          <a:stretch>
            <a:fillRect/>
          </a:stretch>
        </p:blipFill>
        <p:spPr>
          <a:xfrm>
            <a:off x="757237" y="3228964"/>
            <a:ext cx="8143875" cy="3186123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390FD4-9459-102A-A24A-DC3F27A1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26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F7C6-D1C6-3A7D-8A5A-3D450900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B51109B-877A-ED83-EF0E-73B142EF21F8}"/>
              </a:ext>
            </a:extLst>
          </p:cNvPr>
          <p:cNvSpPr/>
          <p:nvPr/>
        </p:nvSpPr>
        <p:spPr>
          <a:xfrm>
            <a:off x="10444480" y="1604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D68408-8764-5894-F1DA-A55CD634F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99" y="1894644"/>
            <a:ext cx="10395927" cy="3420305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C7A41-7697-BF72-6B5A-C42CFECE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67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sym typeface="+mn-ea"/>
              </a:rPr>
              <a:t>Origin of PVC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048661" name="Content Placeholder 2"/>
          <p:cNvSpPr>
            <a:spLocks noGrp="1"/>
          </p:cNvSpPr>
          <p:nvPr>
            <p:ph idx="1"/>
          </p:nvPr>
        </p:nvSpPr>
        <p:spPr>
          <a:xfrm>
            <a:off x="646111" y="1585558"/>
            <a:ext cx="10286049" cy="502876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 PVC arising from the right ventricle it will show a LBBB morphology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PVC arising from the base of the ventricle, it will show upright (Positive R-wave) in lead ii, iii and </a:t>
            </a:r>
            <a:r>
              <a:rPr lang="en-US" sz="3200" dirty="0" err="1">
                <a:sym typeface="+mn-ea"/>
              </a:rPr>
              <a:t>aVL</a:t>
            </a:r>
            <a:r>
              <a:rPr lang="en-US" sz="3200" dirty="0">
                <a:sym typeface="+mn-ea"/>
              </a:rPr>
              <a:t> (inferior lead)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PVC arising from the apex of the ventricle, it show downward displacement (negative deflection of R-wave) in lead </a:t>
            </a:r>
            <a:r>
              <a:rPr lang="en-US" sz="3200" dirty="0" err="1">
                <a:sym typeface="+mn-ea"/>
              </a:rPr>
              <a:t>ii,iii</a:t>
            </a:r>
            <a:r>
              <a:rPr lang="en-US" sz="3200" dirty="0">
                <a:sym typeface="+mn-ea"/>
              </a:rPr>
              <a:t> and </a:t>
            </a:r>
            <a:r>
              <a:rPr lang="en-US" sz="3200" dirty="0" err="1">
                <a:sym typeface="+mn-ea"/>
              </a:rPr>
              <a:t>aVL</a:t>
            </a:r>
            <a:r>
              <a:rPr lang="en-US" sz="3200" dirty="0">
                <a:sym typeface="+mn-ea"/>
              </a:rPr>
              <a:t> </a:t>
            </a:r>
            <a:endParaRPr lang="en-US" sz="3200" dirty="0"/>
          </a:p>
          <a:p>
            <a:endParaRPr lang="en-US" sz="3200" dirty="0"/>
          </a:p>
        </p:txBody>
      </p:sp>
      <p:cxnSp>
        <p:nvCxnSpPr>
          <p:cNvPr id="3145736" name="Straight Connector 7"/>
          <p:cNvCxnSpPr/>
          <p:nvPr/>
        </p:nvCxnSpPr>
        <p:spPr>
          <a:xfrm>
            <a:off x="1869440" y="1221378"/>
            <a:ext cx="7904480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2" name="Rectangle 6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63" name="Oval 8"/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ABCEC-E117-BC41-E9A2-7C5DAECC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265F-0807-C511-CD93-4968E272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E74B06-1EC6-BE2D-CF6A-2C9069B60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19" y="204712"/>
            <a:ext cx="7712031" cy="4300199"/>
          </a:xfrm>
        </p:spPr>
      </p:pic>
      <p:sp>
        <p:nvSpPr>
          <p:cNvPr id="1048662" name="Rectangle 6">
            <a:extLst>
              <a:ext uri="{FF2B5EF4-FFF2-40B4-BE49-F238E27FC236}">
                <a16:creationId xmlns:a16="http://schemas.microsoft.com/office/drawing/2014/main" id="{AE254138-567A-153A-FCBC-B768147A1978}"/>
              </a:ext>
            </a:extLst>
          </p:cNvPr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63" name="Oval 8">
            <a:extLst>
              <a:ext uri="{FF2B5EF4-FFF2-40B4-BE49-F238E27FC236}">
                <a16:creationId xmlns:a16="http://schemas.microsoft.com/office/drawing/2014/main" id="{D449D872-7774-8AAB-5C66-3160CECB1CA5}"/>
              </a:ext>
            </a:extLst>
          </p:cNvPr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176C927-E9E8-CA5B-240F-B424981A6DDF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D4A3E-CE66-DA7F-2AAA-73DDBCC9B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" t="67505" r="3126" b="4580"/>
          <a:stretch>
            <a:fillRect/>
          </a:stretch>
        </p:blipFill>
        <p:spPr>
          <a:xfrm>
            <a:off x="255887" y="4631049"/>
            <a:ext cx="11626609" cy="156972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5592374-E147-F18E-D91F-B82CBDE1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35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9054-C01D-A2D5-F388-9BB39579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6">
            <a:extLst>
              <a:ext uri="{FF2B5EF4-FFF2-40B4-BE49-F238E27FC236}">
                <a16:creationId xmlns:a16="http://schemas.microsoft.com/office/drawing/2014/main" id="{38809F16-FD47-6329-01B7-109F4DB6D0C8}"/>
              </a:ext>
            </a:extLst>
          </p:cNvPr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48663" name="Oval 8">
            <a:extLst>
              <a:ext uri="{FF2B5EF4-FFF2-40B4-BE49-F238E27FC236}">
                <a16:creationId xmlns:a16="http://schemas.microsoft.com/office/drawing/2014/main" id="{012BDFE1-929D-646F-2802-960558E9DCD4}"/>
              </a:ext>
            </a:extLst>
          </p:cNvPr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0304D3D-9085-FBD4-8F70-ACA3B0B989DC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E1A46F-EC0C-F874-7643-14818A101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" r="1032"/>
          <a:stretch>
            <a:fillRect/>
          </a:stretch>
        </p:blipFill>
        <p:spPr>
          <a:xfrm>
            <a:off x="414338" y="2014540"/>
            <a:ext cx="10872787" cy="260032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8ED3BE-878F-1028-3B76-E3E1D234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93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Shape of PVC </a:t>
            </a:r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646111" y="1605878"/>
            <a:ext cx="10758335" cy="500844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rgbClr val="FFFF00"/>
                </a:solidFill>
              </a:rPr>
              <a:t>Unifocus</a:t>
            </a:r>
            <a:r>
              <a:rPr lang="en-US" sz="4000" dirty="0">
                <a:solidFill>
                  <a:srgbClr val="FFFF00"/>
                </a:solidFill>
              </a:rPr>
              <a:t>: </a:t>
            </a:r>
            <a:r>
              <a:rPr lang="en-US" sz="4000" dirty="0"/>
              <a:t>PVC with same shape (</a:t>
            </a:r>
            <a:r>
              <a:rPr lang="en-US" sz="4000" b="1" dirty="0"/>
              <a:t>mono</a:t>
            </a:r>
            <a:r>
              <a:rPr lang="en-US" sz="4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rgbClr val="FFFF00"/>
                </a:solidFill>
              </a:rPr>
              <a:t>Mutifoci</a:t>
            </a:r>
            <a:r>
              <a:rPr lang="en-US" sz="4000" dirty="0">
                <a:solidFill>
                  <a:srgbClr val="FFFF00"/>
                </a:solidFill>
              </a:rPr>
              <a:t>: </a:t>
            </a:r>
            <a:r>
              <a:rPr lang="en-US" sz="4000" dirty="0"/>
              <a:t>PVC with  different shape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FF00"/>
                </a:solidFill>
              </a:rPr>
              <a:t> </a:t>
            </a:r>
            <a:endParaRPr lang="en-US" sz="4000" dirty="0"/>
          </a:p>
        </p:txBody>
      </p:sp>
      <p:cxnSp>
        <p:nvCxnSpPr>
          <p:cNvPr id="3145737" name="Straight Connector 7"/>
          <p:cNvCxnSpPr/>
          <p:nvPr/>
        </p:nvCxnSpPr>
        <p:spPr>
          <a:xfrm>
            <a:off x="2641600" y="1221378"/>
            <a:ext cx="554736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6" name="Rectangle 6"/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1048667" name="Oval 8"/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B1010-9CDF-D8B5-BAAE-C32EDF9C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469D-6888-70D4-CBDE-1EAE7002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Content Placeholder 2">
            <a:extLst>
              <a:ext uri="{FF2B5EF4-FFF2-40B4-BE49-F238E27FC236}">
                <a16:creationId xmlns:a16="http://schemas.microsoft.com/office/drawing/2014/main" id="{AA2E060B-C7B6-8A17-D772-2EDB7E75D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05878"/>
            <a:ext cx="10758335" cy="5008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00"/>
                </a:solidFill>
              </a:rPr>
              <a:t> </a:t>
            </a:r>
            <a:endParaRPr lang="en-US" sz="4000" dirty="0"/>
          </a:p>
        </p:txBody>
      </p:sp>
      <p:sp>
        <p:nvSpPr>
          <p:cNvPr id="1048666" name="Rectangle 6">
            <a:extLst>
              <a:ext uri="{FF2B5EF4-FFF2-40B4-BE49-F238E27FC236}">
                <a16:creationId xmlns:a16="http://schemas.microsoft.com/office/drawing/2014/main" id="{7E062751-F7DA-A34F-939F-72A17CE762A5}"/>
              </a:ext>
            </a:extLst>
          </p:cNvPr>
          <p:cNvSpPr/>
          <p:nvPr/>
        </p:nvSpPr>
        <p:spPr>
          <a:xfrm>
            <a:off x="10444480" y="0"/>
            <a:ext cx="1063516" cy="122137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1048667" name="Oval 8">
            <a:extLst>
              <a:ext uri="{FF2B5EF4-FFF2-40B4-BE49-F238E27FC236}">
                <a16:creationId xmlns:a16="http://schemas.microsoft.com/office/drawing/2014/main" id="{C1D3E853-B94F-FC2B-3B4F-69CE1D6073DB}"/>
              </a:ext>
            </a:extLst>
          </p:cNvPr>
          <p:cNvSpPr/>
          <p:nvPr/>
        </p:nvSpPr>
        <p:spPr>
          <a:xfrm>
            <a:off x="10549518" y="204713"/>
            <a:ext cx="853440" cy="811951"/>
          </a:xfrm>
          <a:prstGeom prst="ellipse">
            <a:avLst/>
          </a:prstGeom>
          <a:solidFill>
            <a:srgbClr val="DED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3016D07-F5DA-FD3A-349D-A4AC4C847B7F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345E5-22FC-68BC-AF59-B4FB2E3F6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00" y="3599263"/>
            <a:ext cx="8134226" cy="3047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D90B4A-A358-F154-355A-1858347F3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47" y="357929"/>
            <a:ext cx="7936932" cy="293297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53586A-32A2-0401-9930-3553D4D9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86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Types of PVC </a:t>
            </a:r>
            <a:br>
              <a:rPr lang="en-US" b="1" dirty="0">
                <a:solidFill>
                  <a:srgbClr val="FFFF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71655"/>
            <a:ext cx="10899778" cy="4195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Bigeminy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Trigeminy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Quadrigeminy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Ventricular tachycardia increase than 2PVC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Couplet two PVC occurring </a:t>
            </a:r>
            <a:r>
              <a:rPr lang="en-US" sz="3200" dirty="0" err="1"/>
              <a:t>consentively</a:t>
            </a:r>
            <a:r>
              <a:rPr lang="en-US" sz="3200" dirty="0"/>
              <a:t> </a:t>
            </a:r>
          </a:p>
          <a:p>
            <a:endParaRPr lang="en-US" sz="3200" dirty="0"/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B413F-1A31-3CC7-8BBD-8420D55A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84"/>
          <a:stretch>
            <a:fillRect/>
          </a:stretch>
        </p:blipFill>
        <p:spPr>
          <a:xfrm>
            <a:off x="2960080" y="112560"/>
            <a:ext cx="6841145" cy="6594102"/>
          </a:xfrm>
        </p:spPr>
      </p:pic>
      <p:sp>
        <p:nvSpPr>
          <p:cNvPr id="6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34A7E6-5D73-6CCA-106A-46B0A1AB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25166"/>
            <a:ext cx="9404723" cy="140053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Types of PVC </a:t>
            </a:r>
            <a:br>
              <a:rPr lang="en-US" b="1" dirty="0">
                <a:solidFill>
                  <a:srgbClr val="FFFF00"/>
                </a:solidFill>
              </a:rPr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5" b="56104"/>
          <a:stretch>
            <a:fillRect/>
          </a:stretch>
        </p:blipFill>
        <p:spPr>
          <a:xfrm>
            <a:off x="431579" y="1174524"/>
            <a:ext cx="5664421" cy="4026857"/>
          </a:xfrm>
        </p:spPr>
      </p:pic>
      <p:pic>
        <p:nvPicPr>
          <p:cNvPr id="8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91" b="18376"/>
          <a:stretch>
            <a:fillRect/>
          </a:stretch>
        </p:blipFill>
        <p:spPr>
          <a:xfrm>
            <a:off x="6310533" y="1174524"/>
            <a:ext cx="5449888" cy="4048528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3F04-5485-6BC4-2405-E4F7A890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</a:rPr>
              <a:t>TORSADE DE POINTES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71655"/>
            <a:ext cx="10899778" cy="5072033"/>
          </a:xfrm>
        </p:spPr>
        <p:txBody>
          <a:bodyPr>
            <a:normAutofit fontScale="97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It is an uncommon and distinctive form of polymorphic ventricular tachycardia (VT).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It is often referred as torsade and is associated with prolong QT interval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TDP starts in the heart’s lower chamber (ventricle)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Characterized by gradual change in the amplitude and twisting of the QRS complex around isoelectric 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It may be acquired or congenital.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TDP may degenerate into ventricular fibrillation (VT).</a:t>
            </a:r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86C40-1FD9-4596-A8FB-95F19CEA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  <a:sym typeface="+mn-ea"/>
              </a:rPr>
              <a:t>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71655"/>
            <a:ext cx="10899778" cy="4195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Palpitation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Dizziness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Syncope that corresponds to arrhythmia episodes</a:t>
            </a:r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E14F4-F161-3DB5-286B-EF46E88A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  <a:sym typeface="+mn-ea"/>
              </a:rPr>
              <a:t>ECG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71655"/>
            <a:ext cx="10899778" cy="4195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QRS complex having twisting morphology around the isoelectric 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Heart rate &gt; 220bpm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Presence of abnormal (“giant”) T- U waves may precede TDP.</a:t>
            </a:r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C7CD0-E657-A706-66FD-8506819B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516C-8863-3407-C35E-3316C4C0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A61315-0B88-1709-8BC6-1012FBCBC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163" y="253501"/>
            <a:ext cx="7588862" cy="6410626"/>
          </a:xfr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003C2021-66B1-68E7-1147-4BAA682E33DE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B8ED39-3BD9-25EF-90D6-29D8083E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99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B397-8EB3-E72E-AEB0-645827AE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665D05ED-5F01-EE03-76A4-1160A6E52F04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66F9CF-952F-4F1C-9D0B-B7EB5D768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72" y="1221377"/>
            <a:ext cx="9920966" cy="5524617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DB716-69FF-5C34-EF99-4F2C1152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2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8819-4616-4497-84A2-9989A1CD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D0A47D49-4408-2780-F966-0DFFFD795869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9577DB-A910-4DAC-DCB6-68CB1AA9F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9" y="1917995"/>
            <a:ext cx="11311634" cy="3211696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F3241-EF39-73D3-42E4-DE50FFA7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37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  <a:sym typeface="+mn-ea"/>
              </a:rPr>
              <a:t>AGONAL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71655"/>
            <a:ext cx="10899778" cy="4195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600" b="1" dirty="0"/>
              <a:t> Definition: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600" dirty="0"/>
              <a:t>Agonal rhythm is an abnormally slow, erratic rhythm originating from the heart’s lower chamber (ventricles).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600" dirty="0"/>
              <a:t>It is a severe arrhythmia that occur after the heart’s upper chambers have stopped working.</a:t>
            </a:r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D502-F5EB-FF1D-BE0B-DF06EB2D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FF00"/>
                </a:solidFill>
                <a:sym typeface="+mn-ea"/>
              </a:rPr>
              <a:t>AGONAL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71655"/>
            <a:ext cx="10899778" cy="4195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Heart rate less than 20 bpm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No p-waves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dirty="0"/>
              <a:t>Wide QRS complex</a:t>
            </a:r>
          </a:p>
        </p:txBody>
      </p:sp>
      <p:sp>
        <p:nvSpPr>
          <p:cNvPr id="4" name="Rectangle 5"/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EA2B9-3595-AA39-9C98-1EF5DE60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FF00"/>
                </a:solidFill>
                <a:sym typeface="+mn-ea"/>
              </a:rPr>
              <a:t>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altLang="en-US" sz="4000" dirty="0"/>
              <a:t>Heart rate less than 20 bpm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4000" dirty="0"/>
              <a:t>Loss or losing of consciousness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0AB7A6-0C89-E871-F5A8-B37282908901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94FB9-822B-DEDF-99E2-5A095E24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FF00"/>
                </a:solidFill>
                <a:sym typeface="+mn-ea"/>
              </a:rPr>
              <a:t>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altLang="en-US" sz="4000" dirty="0"/>
              <a:t>Cardiac tamponade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4000" dirty="0"/>
              <a:t>Cardiac trauma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4000" dirty="0"/>
              <a:t>Ventricular fibrillation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FED9F4-233A-F521-AAE8-D8C9CD870FBC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F80E7-B8AC-3D0A-1CB8-CCEB47A6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B0D8-F69E-6E26-9584-9C376B5A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0A8F5-5048-4AF2-4C3C-E3C513290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0" t="5093" r="3258"/>
          <a:stretch>
            <a:fillRect/>
          </a:stretch>
        </p:blipFill>
        <p:spPr>
          <a:xfrm>
            <a:off x="1795227" y="1085850"/>
            <a:ext cx="7177323" cy="3938444"/>
          </a:xfr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CFB7AB2F-B8D5-B4FE-26EF-4C4F2BC329E5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57B6DD-B34E-D466-2D5A-1BFC9AE4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5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2380-D382-6770-8F7F-8EA16E7D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9D0942-0C0A-7A5D-B2F3-BA9EE179B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36" y="1577532"/>
            <a:ext cx="10526919" cy="3702936"/>
          </a:xfr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A04E6BCA-A0CF-7DD0-45BE-44D5EC4E34B4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608D7-B0C7-1174-1E48-B99EF0D9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83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3EF9-4BDE-50DA-8F5F-694496E3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2973A-D4E5-638F-418E-B5B51D6A9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4781844"/>
            <a:ext cx="10269538" cy="2076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800" b="1" dirty="0"/>
              <a:t>THANK YOU</a:t>
            </a:r>
            <a:endParaRPr lang="en-NG" sz="1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81AA4-BD71-8B4F-34EC-B6A4C5D10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638" y="-224363"/>
            <a:ext cx="5256427" cy="5482163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2D6B0CC2-D092-EED4-0C23-1A9811FB177E}"/>
              </a:ext>
            </a:extLst>
          </p:cNvPr>
          <p:cNvSpPr/>
          <p:nvPr/>
        </p:nvSpPr>
        <p:spPr>
          <a:xfrm>
            <a:off x="10444480" y="-1"/>
            <a:ext cx="1063516" cy="122137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803841-D689-5F78-CC75-F7E5B16C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583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891</Words>
  <Application>Microsoft Office PowerPoint</Application>
  <PresentationFormat>Widescreen</PresentationFormat>
  <Paragraphs>220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Century Gothic</vt:lpstr>
      <vt:lpstr>Wingdings</vt:lpstr>
      <vt:lpstr>Wingdings 3</vt:lpstr>
      <vt:lpstr>Ion</vt:lpstr>
      <vt:lpstr>REVISION OF PREVIOUS CLASS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Premature Ventricular Complex(PVC) Torsad de pontis (TdP)  Agonal Rhythms,  </vt:lpstr>
      <vt:lpstr>OUTLINE </vt:lpstr>
      <vt:lpstr>Premature Ventricular Complex (PVC)</vt:lpstr>
      <vt:lpstr>Cause of PVC  </vt:lpstr>
      <vt:lpstr>Cardiac Condition </vt:lpstr>
      <vt:lpstr>Non-Cardiac Condition </vt:lpstr>
      <vt:lpstr>Medication/Substance</vt:lpstr>
      <vt:lpstr>Clinical Features </vt:lpstr>
      <vt:lpstr>ECG FINDING </vt:lpstr>
      <vt:lpstr>PowerPoint Presentation</vt:lpstr>
      <vt:lpstr>PowerPoint Presentation</vt:lpstr>
      <vt:lpstr>Origin of PVC</vt:lpstr>
      <vt:lpstr>PowerPoint Presentation</vt:lpstr>
      <vt:lpstr>PowerPoint Presentation</vt:lpstr>
      <vt:lpstr>Shape of PVC </vt:lpstr>
      <vt:lpstr>PowerPoint Presentation</vt:lpstr>
      <vt:lpstr>Types of PVC  </vt:lpstr>
      <vt:lpstr>PowerPoint Presentation</vt:lpstr>
      <vt:lpstr>Types of PVC  </vt:lpstr>
      <vt:lpstr>TORSADE DE POINTES</vt:lpstr>
      <vt:lpstr>SYMPTOMS</vt:lpstr>
      <vt:lpstr>ECG FEATURE</vt:lpstr>
      <vt:lpstr>PowerPoint Presentation</vt:lpstr>
      <vt:lpstr>PowerPoint Presentation</vt:lpstr>
      <vt:lpstr>PowerPoint Presentation</vt:lpstr>
      <vt:lpstr>AGONAL RHYTHM</vt:lpstr>
      <vt:lpstr>AGONAL RHYTHM</vt:lpstr>
      <vt:lpstr>SYMPTOMS</vt:lpstr>
      <vt:lpstr>CAUSES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TECNO KL4</dc:creator>
  <cp:lastModifiedBy>Haastrup Temitope</cp:lastModifiedBy>
  <cp:revision>77</cp:revision>
  <dcterms:created xsi:type="dcterms:W3CDTF">2025-07-12T08:34:00Z</dcterms:created>
  <dcterms:modified xsi:type="dcterms:W3CDTF">2025-07-18T12:42:04Z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4C47D4FB1FFE4335BB79879CFAE75432_13</vt:lpwstr>
  </property>
  <property fmtid="{D5CDD505-2E9C-101B-9397-08002B2CF9AE}" pid="3" name="KSOProductBuildVer">
    <vt:lpwstr>1033-12.2.0.21179</vt:lpwstr>
  </property>
</Properties>
</file>