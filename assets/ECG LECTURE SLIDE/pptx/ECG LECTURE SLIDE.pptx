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9"/>
  </p:notesMasterIdLst>
  <p:sldIdLst>
    <p:sldId id="257" r:id="rId2"/>
    <p:sldId id="266" r:id="rId3"/>
    <p:sldId id="258" r:id="rId4"/>
    <p:sldId id="267" r:id="rId5"/>
    <p:sldId id="272" r:id="rId6"/>
    <p:sldId id="259" r:id="rId7"/>
    <p:sldId id="268" r:id="rId8"/>
    <p:sldId id="273" r:id="rId9"/>
    <p:sldId id="260" r:id="rId10"/>
    <p:sldId id="274" r:id="rId11"/>
    <p:sldId id="275" r:id="rId12"/>
    <p:sldId id="261" r:id="rId13"/>
    <p:sldId id="277" r:id="rId14"/>
    <p:sldId id="269" r:id="rId15"/>
    <p:sldId id="262" r:id="rId16"/>
    <p:sldId id="327" r:id="rId17"/>
    <p:sldId id="283" r:id="rId18"/>
    <p:sldId id="263" r:id="rId19"/>
    <p:sldId id="270" r:id="rId20"/>
    <p:sldId id="286" r:id="rId21"/>
    <p:sldId id="264" r:id="rId22"/>
    <p:sldId id="265" r:id="rId23"/>
    <p:sldId id="289" r:id="rId24"/>
    <p:sldId id="290" r:id="rId25"/>
    <p:sldId id="291" r:id="rId26"/>
    <p:sldId id="292" r:id="rId27"/>
    <p:sldId id="27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CFD0"/>
    <a:srgbClr val="C8C4C1"/>
    <a:srgbClr val="E7D6DC"/>
    <a:srgbClr val="E5D1D3"/>
    <a:srgbClr val="FFFFFF"/>
    <a:srgbClr val="D4F3E4"/>
    <a:srgbClr val="E7ECFF"/>
    <a:srgbClr val="FEFCFF"/>
    <a:srgbClr val="DEDDD5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4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D0F8548-199A-4C3D-AD48-367B523D423E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2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3A48-96E2-4676-97E6-ECED9AE9E73C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09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DA828F0-1E41-48FD-8A72-E8E4E3DC0D26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09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FFEE-9A46-4D36-A0C5-754C0C8EB4AE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2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26C06-4632-4E10-9C32-50690157A723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36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D6CE-1BD0-4EAA-900E-CE5852995870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38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2A81-BDC5-470A-8104-6ACC54077690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73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62110C8-7337-49B6-BF33-BC90E848660B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6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C9A2-B2A4-488B-B137-8EB5C262E3E4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29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66D9F-4903-4E8C-A751-6C533856A0D5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80A30C-67D2-4B5F-9B07-4F6D1485AB3C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16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B80D7F9-E180-4EC5-8564-2D20AE86B9BF}" type="datetime1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234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600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>
            <a:off x="3381651" y="5808094"/>
            <a:ext cx="3903070" cy="406561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olidFill>
                  <a:schemeClr val="bg1"/>
                </a:solidFill>
              </a:rPr>
              <a:t>Miss  Temitope </a:t>
            </a:r>
            <a:r>
              <a:rPr lang="en-US" altLang="zh-CN" b="1" dirty="0" err="1">
                <a:solidFill>
                  <a:schemeClr val="bg1"/>
                </a:solidFill>
              </a:rPr>
              <a:t>haastrup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598F1C-F036-8617-7C44-FC6A7FE9F7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3" b="28163"/>
          <a:stretch/>
        </p:blipFill>
        <p:spPr>
          <a:xfrm>
            <a:off x="4085844" y="-76201"/>
            <a:ext cx="8909964" cy="3892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CB926A-B160-5D60-1DC7-5577059FE1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3" t="55445" r="32000" b="36595"/>
          <a:stretch>
            <a:fillRect/>
          </a:stretch>
        </p:blipFill>
        <p:spPr>
          <a:xfrm>
            <a:off x="3224829" y="5339068"/>
            <a:ext cx="4416593" cy="36893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A44013-9C02-1964-8D8C-3B1BC3A881E6}"/>
              </a:ext>
            </a:extLst>
          </p:cNvPr>
          <p:cNvCxnSpPr>
            <a:cxnSpLocks/>
          </p:cNvCxnSpPr>
          <p:nvPr/>
        </p:nvCxnSpPr>
        <p:spPr>
          <a:xfrm>
            <a:off x="2107719" y="4769944"/>
            <a:ext cx="4171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762000" y="5554767"/>
            <a:ext cx="10668000" cy="406560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Heart Block 1</a:t>
            </a:r>
            <a:r>
              <a:rPr lang="en-US" altLang="zh-CN" sz="4000" b="1" baseline="30000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st</a:t>
            </a:r>
            <a: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, 2</a:t>
            </a:r>
            <a:r>
              <a:rPr lang="en-US" altLang="zh-CN" sz="4000" b="1" baseline="30000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nD</a:t>
            </a:r>
            <a: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, 3</a:t>
            </a:r>
            <a:r>
              <a:rPr lang="en-US" altLang="zh-CN" sz="4000" b="1" baseline="30000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rd </a:t>
            </a:r>
            <a: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Degree BLOCK, </a:t>
            </a:r>
            <a:b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</a:br>
            <a: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RBBB, LBBB </a:t>
            </a:r>
            <a:b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</a:br>
            <a: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&amp; Other Heart Blocks</a:t>
            </a:r>
            <a:br>
              <a:rPr lang="en-US" altLang="zh-CN" sz="4000" b="1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</a:br>
            <a:endParaRPr lang="en-US" altLang="zh-CN" sz="5400" b="1" dirty="0">
              <a:solidFill>
                <a:schemeClr val="bg1"/>
              </a:solidFill>
              <a:latin typeface="Franklin Gothic Medium" panose="020B06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348928-AD07-8DDC-B57F-B55CA09D8781}"/>
              </a:ext>
            </a:extLst>
          </p:cNvPr>
          <p:cNvSpPr/>
          <p:nvPr/>
        </p:nvSpPr>
        <p:spPr>
          <a:xfrm>
            <a:off x="10138864" y="5136668"/>
            <a:ext cx="1144951" cy="1142662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64556-208F-0627-4DEC-284F795E99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634" y="5247184"/>
            <a:ext cx="969409" cy="9674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04874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Outline </a:t>
            </a:r>
          </a:p>
        </p:txBody>
      </p:sp>
      <p:sp>
        <p:nvSpPr>
          <p:cNvPr id="1048744" name="Content Placeholder 1048743"/>
          <p:cNvSpPr>
            <a:spLocks noGrp="1"/>
          </p:cNvSpPr>
          <p:nvPr>
            <p:ph idx="1"/>
          </p:nvPr>
        </p:nvSpPr>
        <p:spPr>
          <a:xfrm>
            <a:off x="699398" y="3141690"/>
            <a:ext cx="11266028" cy="4000709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Conducting system</a:t>
            </a:r>
          </a:p>
          <a:p>
            <a:r>
              <a:rPr lang="en-US" sz="2800" dirty="0"/>
              <a:t>Definition and Cause </a:t>
            </a:r>
          </a:p>
          <a:p>
            <a:r>
              <a:rPr lang="en-US" sz="2800" dirty="0"/>
              <a:t>First Degree Heart Block </a:t>
            </a:r>
          </a:p>
          <a:p>
            <a:r>
              <a:rPr lang="en-US" sz="2800" dirty="0"/>
              <a:t>Second Degree Heart Block </a:t>
            </a:r>
          </a:p>
          <a:p>
            <a:r>
              <a:rPr lang="en-US" sz="2800" dirty="0"/>
              <a:t>Mobitz Type I</a:t>
            </a:r>
          </a:p>
          <a:p>
            <a:r>
              <a:rPr lang="en-US" sz="2800" dirty="0"/>
              <a:t>Mobitz Type II</a:t>
            </a:r>
          </a:p>
          <a:p>
            <a:r>
              <a:rPr lang="en-US" sz="2800" dirty="0"/>
              <a:t>Third Degree Heart Block</a:t>
            </a:r>
          </a:p>
          <a:p>
            <a:r>
              <a:rPr lang="en-US" sz="2800" dirty="0"/>
              <a:t>Bundle Branch Block</a:t>
            </a:r>
          </a:p>
          <a:p>
            <a:r>
              <a:rPr lang="en-US" sz="2800" dirty="0"/>
              <a:t>Others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507EA-F6CB-C2DD-A0DC-CA6C0BD4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</a:t>
            </a:fld>
            <a:endParaRPr lang="zh-CN" altLang="en-US" sz="4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B57886B-F37A-5E96-4176-D5F502A1E468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107DC-11C4-B2A4-1167-DB4109597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048648"/>
          <p:cNvSpPr>
            <a:spLocks noGrp="1"/>
          </p:cNvSpPr>
          <p:nvPr>
            <p:ph type="title"/>
          </p:nvPr>
        </p:nvSpPr>
        <p:spPr>
          <a:xfrm>
            <a:off x="1110760" y="607297"/>
            <a:ext cx="9195379" cy="1080938"/>
          </a:xfrm>
        </p:spPr>
        <p:txBody>
          <a:bodyPr>
            <a:normAutofit/>
          </a:bodyPr>
          <a:lstStyle/>
          <a:p>
            <a:r>
              <a:rPr lang="en-US" sz="6000" b="1" dirty="0"/>
              <a:t>Conductive System </a:t>
            </a:r>
          </a:p>
        </p:txBody>
      </p:sp>
      <p:sp>
        <p:nvSpPr>
          <p:cNvPr id="1048598" name="Content Placeholder 1048649"/>
          <p:cNvSpPr>
            <a:spLocks noGrp="1"/>
          </p:cNvSpPr>
          <p:nvPr>
            <p:ph idx="1"/>
          </p:nvPr>
        </p:nvSpPr>
        <p:spPr>
          <a:xfrm>
            <a:off x="289560" y="2072640"/>
            <a:ext cx="11536680" cy="4495800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Conductive System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formed by the modified Cardiac muscle fibers.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fibers are concerned with propagation of impulse along the conduction pathway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anatomy of the conduction Pathway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Sino-atrial node (SAN)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Atrioventricular node (AVN)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Of His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and left bundle branches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Purkinje fibers.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B6D54C-6001-B601-701C-D17D0F37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3</a:t>
            </a:fld>
            <a:endParaRPr lang="zh-CN" altLang="en-US" sz="4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DD83EF-A09F-AC15-2123-F585D3130220}"/>
              </a:ext>
            </a:extLst>
          </p:cNvPr>
          <p:cNvCxnSpPr>
            <a:cxnSpLocks/>
          </p:cNvCxnSpPr>
          <p:nvPr/>
        </p:nvCxnSpPr>
        <p:spPr>
          <a:xfrm>
            <a:off x="1872760" y="1697006"/>
            <a:ext cx="6631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584EC66-F489-2503-37A0-AC315A32CFAF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1DC9B-18AB-2354-44E1-843D9CB682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D18A-630E-4159-537E-5A95F4E3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3D114-34C0-4204-23EB-F62B8B4A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4</a:t>
            </a:fld>
            <a:endParaRPr lang="zh-CN" altLang="en-US" sz="4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7A61F-58A3-C519-8DE1-4258C271879E}"/>
              </a:ext>
            </a:extLst>
          </p:cNvPr>
          <p:cNvSpPr/>
          <p:nvPr/>
        </p:nvSpPr>
        <p:spPr>
          <a:xfrm>
            <a:off x="396240" y="600681"/>
            <a:ext cx="11567160" cy="1310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D06DD2-08A4-6977-250E-E449DF0AE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2107" r="9760"/>
          <a:stretch>
            <a:fillRect/>
          </a:stretch>
        </p:blipFill>
        <p:spPr>
          <a:xfrm>
            <a:off x="549282" y="731519"/>
            <a:ext cx="10162802" cy="6078695"/>
          </a:xfr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1130714-F2A9-7981-3CDB-94E014153802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8CB80-D133-2473-402A-6F4CB78A9A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84" y="731519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8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976C-7097-66BD-56C6-2583BE98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2FB-8A70-C72E-715D-25A8126B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5</a:t>
            </a:fld>
            <a:endParaRPr lang="zh-CN" altLang="en-US" sz="4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EABD6A-4EF9-8498-FD34-95749A21315D}"/>
              </a:ext>
            </a:extLst>
          </p:cNvPr>
          <p:cNvSpPr/>
          <p:nvPr/>
        </p:nvSpPr>
        <p:spPr>
          <a:xfrm>
            <a:off x="396240" y="600681"/>
            <a:ext cx="11567160" cy="1310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77EF2C-51D7-6CF1-C9D9-1A61B5E89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4"/>
          <a:stretch>
            <a:fillRect/>
          </a:stretch>
        </p:blipFill>
        <p:spPr>
          <a:xfrm>
            <a:off x="2202501" y="724543"/>
            <a:ext cx="6797040" cy="6133457"/>
          </a:xfr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90F8428-4BFC-EFDA-7517-BF2289755E33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83517E-C171-5B72-3B27-663E3955B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84" y="772092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8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048650"/>
          <p:cNvSpPr>
            <a:spLocks noGrp="1"/>
          </p:cNvSpPr>
          <p:nvPr>
            <p:ph type="title"/>
          </p:nvPr>
        </p:nvSpPr>
        <p:spPr>
          <a:xfrm>
            <a:off x="1661727" y="600828"/>
            <a:ext cx="7290447" cy="10809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Definition &amp; Cause</a:t>
            </a:r>
          </a:p>
        </p:txBody>
      </p:sp>
      <p:sp>
        <p:nvSpPr>
          <p:cNvPr id="1048600" name="Content Placeholder 1048651"/>
          <p:cNvSpPr>
            <a:spLocks noGrp="1"/>
          </p:cNvSpPr>
          <p:nvPr>
            <p:ph idx="1"/>
          </p:nvPr>
        </p:nvSpPr>
        <p:spPr>
          <a:xfrm>
            <a:off x="417773" y="2138753"/>
            <a:ext cx="11590591" cy="4536367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block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Interference with Conduction: It occur as a delays or faults in relay or propagation of impulse </a:t>
            </a:r>
          </a:p>
          <a:p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Congenital heart disease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Inferior myocardial infarction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Cardiomyopathy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Degenerative disease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Amyloidosis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2A3BF-47C3-F9B7-E4C4-D941DA50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6</a:t>
            </a:fld>
            <a:endParaRPr lang="zh-CN" altLang="en-US" sz="40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FBBAED-38AD-2CD0-E1CF-1AC2A2A46CCE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E7B36-8871-663B-318B-DB5C8099B3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BDA9-63E9-0DD3-EFB1-EA0FCDE7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048652">
            <a:extLst>
              <a:ext uri="{FF2B5EF4-FFF2-40B4-BE49-F238E27FC236}">
                <a16:creationId xmlns:a16="http://schemas.microsoft.com/office/drawing/2014/main" id="{311EA45A-9FEB-1BE1-1FA8-FF25B705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Types of Heart Block</a:t>
            </a:r>
          </a:p>
        </p:txBody>
      </p:sp>
      <p:sp>
        <p:nvSpPr>
          <p:cNvPr id="1048602" name="Content Placeholder 1048653">
            <a:extLst>
              <a:ext uri="{FF2B5EF4-FFF2-40B4-BE49-F238E27FC236}">
                <a16:creationId xmlns:a16="http://schemas.microsoft.com/office/drawing/2014/main" id="{038AF3C4-57FA-41A8-AC22-B86C1C07A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5960"/>
            <a:ext cx="11029616" cy="2758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Degree Heat black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involve mere delay beyond a Stipulated time </a:t>
            </a:r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-Prolong PR interval &gt; 0.20s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-Normal P wave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-Normal QRS Complex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A8251F-4E8A-2E6F-FA55-8DCB8770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7</a:t>
            </a:fld>
            <a:endParaRPr lang="zh-CN" altLang="en-US" sz="4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1AE98F-DC86-E52D-2BA9-C433F975E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2" b="2421"/>
          <a:stretch>
            <a:fillRect/>
          </a:stretch>
        </p:blipFill>
        <p:spPr>
          <a:xfrm>
            <a:off x="3656022" y="2885756"/>
            <a:ext cx="7514260" cy="394081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5C2B580-0765-5C48-6364-B82AFD4D0CDB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34D8B-C0EF-0BAD-A825-4A2CDC5138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7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D0B5-48FC-294C-CECC-BA66B5A0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048652">
            <a:extLst>
              <a:ext uri="{FF2B5EF4-FFF2-40B4-BE49-F238E27FC236}">
                <a16:creationId xmlns:a16="http://schemas.microsoft.com/office/drawing/2014/main" id="{B5D03965-7B3D-6B8B-03D1-ECD7D2C7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Types of Heart Block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2B9EF-BC36-3D08-58D5-7DBDED70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8</a:t>
            </a:fld>
            <a:endParaRPr lang="zh-CN" alt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1A120-8012-4E6D-401A-BC555676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1" r="14170" b="30895"/>
          <a:stretch>
            <a:fillRect/>
          </a:stretch>
        </p:blipFill>
        <p:spPr>
          <a:xfrm>
            <a:off x="274886" y="2291082"/>
            <a:ext cx="11029616" cy="318879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11C5249-2B39-C19E-7777-4573127434DF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09C54-E735-826A-2CEA-707DDD44E0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E78C13-2F50-559A-2308-168A6C6A5C85}"/>
              </a:ext>
            </a:extLst>
          </p:cNvPr>
          <p:cNvSpPr/>
          <p:nvPr/>
        </p:nvSpPr>
        <p:spPr>
          <a:xfrm>
            <a:off x="4257675" y="4943475"/>
            <a:ext cx="1838325" cy="300038"/>
          </a:xfrm>
          <a:prstGeom prst="rect">
            <a:avLst/>
          </a:prstGeom>
          <a:solidFill>
            <a:srgbClr val="E7D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51C43F7-00DD-B744-90B3-15404C0A8B3E}"/>
              </a:ext>
            </a:extLst>
          </p:cNvPr>
          <p:cNvSpPr/>
          <p:nvPr/>
        </p:nvSpPr>
        <p:spPr>
          <a:xfrm rot="16200000">
            <a:off x="3081804" y="4267667"/>
            <a:ext cx="280053" cy="8429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668F8-D189-86E6-224D-EF4BBAC027EA}"/>
              </a:ext>
            </a:extLst>
          </p:cNvPr>
          <p:cNvSpPr txBox="1"/>
          <p:nvPr/>
        </p:nvSpPr>
        <p:spPr>
          <a:xfrm>
            <a:off x="2286000" y="4829175"/>
            <a:ext cx="183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 – 0.36S</a:t>
            </a:r>
            <a:endParaRPr lang="en-N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F7EC3-676B-C3B0-87C9-7DB69707A028}"/>
              </a:ext>
            </a:extLst>
          </p:cNvPr>
          <p:cNvSpPr txBox="1"/>
          <p:nvPr/>
        </p:nvSpPr>
        <p:spPr>
          <a:xfrm>
            <a:off x="4449514" y="4908828"/>
            <a:ext cx="183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 – 0.40S</a:t>
            </a:r>
            <a:endParaRPr lang="en-NG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4BDFB-8BBB-A237-BEA8-2AC86ACEB5AB}"/>
              </a:ext>
            </a:extLst>
          </p:cNvPr>
          <p:cNvSpPr txBox="1"/>
          <p:nvPr/>
        </p:nvSpPr>
        <p:spPr>
          <a:xfrm>
            <a:off x="6592842" y="4902755"/>
            <a:ext cx="183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 – 0.44S</a:t>
            </a:r>
            <a:endParaRPr lang="en-NG" b="1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9C66B81A-9305-D3A4-81BB-10F937DB1B61}"/>
              </a:ext>
            </a:extLst>
          </p:cNvPr>
          <p:cNvSpPr/>
          <p:nvPr/>
        </p:nvSpPr>
        <p:spPr>
          <a:xfrm rot="16200000">
            <a:off x="6950497" y="4333032"/>
            <a:ext cx="280053" cy="8429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89883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048652"/>
          <p:cNvSpPr>
            <a:spLocks noGrp="1"/>
          </p:cNvSpPr>
          <p:nvPr>
            <p:ph type="title"/>
          </p:nvPr>
        </p:nvSpPr>
        <p:spPr>
          <a:xfrm>
            <a:off x="922914" y="703272"/>
            <a:ext cx="10254448" cy="873928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Second Degree Heart Block </a:t>
            </a:r>
          </a:p>
        </p:txBody>
      </p:sp>
      <p:sp>
        <p:nvSpPr>
          <p:cNvPr id="1048602" name="Content Placeholder 1048653"/>
          <p:cNvSpPr>
            <a:spLocks noGrp="1"/>
          </p:cNvSpPr>
          <p:nvPr>
            <p:ph idx="1"/>
          </p:nvPr>
        </p:nvSpPr>
        <p:spPr>
          <a:xfrm>
            <a:off x="563597" y="1971112"/>
            <a:ext cx="10973083" cy="4704008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degree Heart Block: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is of higher severity such that occasioned or Intermittent supraventricular impulse fail to reach the Ventricle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baseline="30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Degree (Mobitz Type 1 aka Wenckebach)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 Prolongation of cumulating in non conducted P wave </a:t>
            </a:r>
          </a:p>
          <a:p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 longest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dropped beat.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 shortened after dropped beat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Narrow &amp; irregular rhythm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E646C-F6F0-A28E-25E8-954CBFEE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9</a:t>
            </a:fld>
            <a:endParaRPr lang="zh-CN" altLang="en-US" sz="40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D07C455-3EC9-B70F-C96F-BCDB0E136FD8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15E93-A938-0217-2286-496A871CE8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AC29-5715-13D6-81DE-CED8F5D6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048652">
            <a:extLst>
              <a:ext uri="{FF2B5EF4-FFF2-40B4-BE49-F238E27FC236}">
                <a16:creationId xmlns:a16="http://schemas.microsoft.com/office/drawing/2014/main" id="{8168F0FA-94BF-3E40-A841-493CC8F7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64" y="725093"/>
            <a:ext cx="10559143" cy="776124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Second Degree Heart Block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FC776B-2A5E-09AF-3190-C245B87DA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" b="2246"/>
          <a:stretch>
            <a:fillRect/>
          </a:stretch>
        </p:blipFill>
        <p:spPr>
          <a:xfrm>
            <a:off x="1058036" y="1889760"/>
            <a:ext cx="9639143" cy="470916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53551-9B0F-3633-0364-9BBF5208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b="1" smtClean="0"/>
              <a:t>10</a:t>
            </a:fld>
            <a:endParaRPr lang="zh-CN" altLang="en-US" sz="40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EDB6CD-4B01-8C64-6201-206A86B46BB3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12411-F661-2C4D-699B-F9A466F946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44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AF44-0A65-EE2A-59F5-743D4A97C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048654">
            <a:extLst>
              <a:ext uri="{FF2B5EF4-FFF2-40B4-BE49-F238E27FC236}">
                <a16:creationId xmlns:a16="http://schemas.microsoft.com/office/drawing/2014/main" id="{16CC6249-C855-1E4B-E20E-93198548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/>
              <a:t>Con’t</a:t>
            </a:r>
            <a:endParaRPr lang="en-US" sz="48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B4B90D-A341-1E4C-7CEA-6022222D4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7" r="17071" b="27231"/>
          <a:stretch>
            <a:fillRect/>
          </a:stretch>
        </p:blipFill>
        <p:spPr>
          <a:xfrm>
            <a:off x="233131" y="2243994"/>
            <a:ext cx="11084710" cy="289805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212846-DB23-DA9F-6F9A-2202B262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11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0D6834-2E21-1C26-6717-2D1A60711B04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C7A03-9AD4-8F91-4B6F-CB8828474D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4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04865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/>
              <a:t>Con’t</a:t>
            </a:r>
            <a:endParaRPr lang="en-US" sz="4800" b="1" dirty="0"/>
          </a:p>
        </p:txBody>
      </p:sp>
      <p:sp>
        <p:nvSpPr>
          <p:cNvPr id="1048604" name="Content Placeholder 1048655"/>
          <p:cNvSpPr>
            <a:spLocks noGrp="1"/>
          </p:cNvSpPr>
          <p:nvPr>
            <p:ph idx="1"/>
          </p:nvPr>
        </p:nvSpPr>
        <p:spPr>
          <a:xfrm>
            <a:off x="375921" y="2260672"/>
            <a:ext cx="11343639" cy="433824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2nd Degree (Mobitz Type II)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 interval is fixed but there is a sudden drop Of QRS Complex (missed beat)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Non-Conducted P wave without 'warning' of PR Prolongation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 intervals in conducted beat is Constant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QRS often wide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AB248-ED44-E423-8BDF-A468957F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12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CDAB00-40D2-0761-F9C4-3DFD6696ED90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3232F-96B6-39D6-7D80-6CBCC275B1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1ED16-4952-F469-20B0-C07995298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87192F-4397-D610-81A6-041864A9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13</a:t>
            </a:fld>
            <a:endParaRPr lang="zh-CN" altLang="en-US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EDD81-1E07-B070-989D-5AC7F1DC9B23}"/>
              </a:ext>
            </a:extLst>
          </p:cNvPr>
          <p:cNvSpPr/>
          <p:nvPr/>
        </p:nvSpPr>
        <p:spPr>
          <a:xfrm>
            <a:off x="411480" y="563880"/>
            <a:ext cx="1155192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3BC542-1DEE-4FD0-4C5D-58D5F0547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850697"/>
            <a:ext cx="10376186" cy="5260150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BAF3D10-222E-9FFE-D8C6-F8D737326271}"/>
              </a:ext>
            </a:extLst>
          </p:cNvPr>
          <p:cNvSpPr/>
          <p:nvPr/>
        </p:nvSpPr>
        <p:spPr>
          <a:xfrm>
            <a:off x="10592580" y="343797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36BF6-0776-2C5F-B46B-4C753B9F2F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452" y="41373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3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0B5E-6CC0-EFC7-828B-66B1B910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048654">
            <a:extLst>
              <a:ext uri="{FF2B5EF4-FFF2-40B4-BE49-F238E27FC236}">
                <a16:creationId xmlns:a16="http://schemas.microsoft.com/office/drawing/2014/main" id="{1F902D9E-3564-9D83-A3EE-CECC2A9F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THIRD DEGREE HEART BLOCK</a:t>
            </a:r>
          </a:p>
        </p:txBody>
      </p:sp>
      <p:sp>
        <p:nvSpPr>
          <p:cNvPr id="1048604" name="Content Placeholder 1048655">
            <a:extLst>
              <a:ext uri="{FF2B5EF4-FFF2-40B4-BE49-F238E27FC236}">
                <a16:creationId xmlns:a16="http://schemas.microsoft.com/office/drawing/2014/main" id="{D28E825B-988C-325D-5085-F900174E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1" y="2260672"/>
            <a:ext cx="11343639" cy="433824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 Degree Heart Block or Complete Heart Block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complete heart block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relationship between the P wave and QRS Complex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missed beat may Consecutively occur causing “pauses” 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A20FE1-A7B7-F949-8330-E032B012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14</a:t>
            </a:fld>
            <a:endParaRPr lang="zh-CN" altLang="en-US" sz="40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2436F9-479F-82FA-04A8-14F4CFC98F53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8C09C-D362-7FBB-FB16-BCB23F6CA0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7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048656"/>
          <p:cNvSpPr>
            <a:spLocks noGrp="1"/>
          </p:cNvSpPr>
          <p:nvPr>
            <p:ph type="title"/>
          </p:nvPr>
        </p:nvSpPr>
        <p:spPr>
          <a:xfrm>
            <a:off x="687224" y="1209056"/>
            <a:ext cx="8913328" cy="928524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Bundle Branch Block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1048606" name="Content Placeholder 1048657"/>
          <p:cNvSpPr>
            <a:spLocks noGrp="1"/>
          </p:cNvSpPr>
          <p:nvPr>
            <p:ph idx="1"/>
          </p:nvPr>
        </p:nvSpPr>
        <p:spPr>
          <a:xfrm>
            <a:off x="650079" y="1876335"/>
            <a:ext cx="10416857" cy="405044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Branch Block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Interruption of the propagation of electrics impulse at the level of bundle branch 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Bundle Brach Block (RBBB)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Bundle Branch Block (LBBB)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508685-D953-053E-58EC-FB3896C6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15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FE4874-1F48-6C6F-7281-B4C720407625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F29DA-ABD0-D3C0-BD4A-FBB3E2D97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4D2B-32B2-F268-C57A-F519B3EE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048656">
            <a:extLst>
              <a:ext uri="{FF2B5EF4-FFF2-40B4-BE49-F238E27FC236}">
                <a16:creationId xmlns:a16="http://schemas.microsoft.com/office/drawing/2014/main" id="{CE4A839E-3B5F-C7F5-0C68-B9A5AF31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24" y="1209056"/>
            <a:ext cx="10817552" cy="928524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RIGHT Bundle Branch Block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1048606" name="Content Placeholder 1048657">
            <a:extLst>
              <a:ext uri="{FF2B5EF4-FFF2-40B4-BE49-F238E27FC236}">
                <a16:creationId xmlns:a16="http://schemas.microsoft.com/office/drawing/2014/main" id="{48F76CD5-6146-C14F-47B1-28D0F85B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079" y="1619151"/>
            <a:ext cx="10416857" cy="40504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FEATURES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QRS Complex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RSR Complexes (M-Pattern) in V1- V3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ST-Segment depression V1 – V2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wave inversion in V1-V2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 wave in left, lateral leads I,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V5, V6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B7F7A1-F32D-B4AF-4C4A-2097D1B7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16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283534-3784-B29A-90DB-C5D89F718537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85C6E-0226-C3F9-EEAC-DBC5153BD9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9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FFD9-E9B1-2002-AF9E-F7C70A74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1BB4E-3A28-A52B-B6E7-267FCC81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17</a:t>
            </a:fld>
            <a:endParaRPr lang="zh-CN" altLang="en-US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155784-ABA1-54B1-C2BE-28FBBDCB9122}"/>
              </a:ext>
            </a:extLst>
          </p:cNvPr>
          <p:cNvSpPr/>
          <p:nvPr/>
        </p:nvSpPr>
        <p:spPr>
          <a:xfrm>
            <a:off x="243194" y="585158"/>
            <a:ext cx="11705612" cy="1383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Heart Block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D7044A-982A-C4E4-66BF-B5590543902E}"/>
              </a:ext>
            </a:extLst>
          </p:cNvPr>
          <p:cNvSpPr/>
          <p:nvPr/>
        </p:nvSpPr>
        <p:spPr>
          <a:xfrm>
            <a:off x="10592580" y="343797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F6952-24A2-C529-D8DA-D19ADFC2F5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714" y="402981"/>
            <a:ext cx="875679" cy="873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6EB82-FCC3-CA16-1E8F-31B26269B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6" t="3770" r="10382" b="84701"/>
          <a:stretch>
            <a:fillRect/>
          </a:stretch>
        </p:blipFill>
        <p:spPr>
          <a:xfrm>
            <a:off x="1207722" y="850696"/>
            <a:ext cx="3643436" cy="11179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BC3E41-BAEF-5E0B-7E02-5C44DC5A8182}"/>
              </a:ext>
            </a:extLst>
          </p:cNvPr>
          <p:cNvSpPr/>
          <p:nvPr/>
        </p:nvSpPr>
        <p:spPr>
          <a:xfrm>
            <a:off x="821413" y="2216059"/>
            <a:ext cx="386309" cy="640080"/>
          </a:xfrm>
          <a:prstGeom prst="rect">
            <a:avLst/>
          </a:prstGeom>
          <a:solidFill>
            <a:srgbClr val="FEFCFF"/>
          </a:solidFill>
          <a:ln>
            <a:solidFill>
              <a:srgbClr val="FEF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5FAA6-67FB-6F36-B02B-6FB890C10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18" t="17874" r="12325" b="61523"/>
          <a:stretch>
            <a:fillRect/>
          </a:stretch>
        </p:blipFill>
        <p:spPr>
          <a:xfrm>
            <a:off x="121597" y="2210021"/>
            <a:ext cx="4999589" cy="29178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57E55F-3605-9924-5241-3ED56F583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8553" r="3280" b="26280"/>
          <a:stretch>
            <a:fillRect/>
          </a:stretch>
        </p:blipFill>
        <p:spPr>
          <a:xfrm>
            <a:off x="5121186" y="1539774"/>
            <a:ext cx="6986927" cy="52227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1F71A7F-DBDA-9511-4478-75FF33FF0F89}"/>
              </a:ext>
            </a:extLst>
          </p:cNvPr>
          <p:cNvSpPr/>
          <p:nvPr/>
        </p:nvSpPr>
        <p:spPr>
          <a:xfrm>
            <a:off x="6679286" y="5997488"/>
            <a:ext cx="2758440" cy="550708"/>
          </a:xfrm>
          <a:prstGeom prst="rect">
            <a:avLst/>
          </a:prstGeom>
          <a:solidFill>
            <a:srgbClr val="E5D1D3"/>
          </a:solidFill>
          <a:ln>
            <a:solidFill>
              <a:srgbClr val="E7D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80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048658"/>
          <p:cNvSpPr>
            <a:spLocks noGrp="1"/>
          </p:cNvSpPr>
          <p:nvPr>
            <p:ph type="title"/>
          </p:nvPr>
        </p:nvSpPr>
        <p:spPr>
          <a:xfrm>
            <a:off x="581192" y="702156"/>
            <a:ext cx="9977108" cy="928524"/>
          </a:xfrm>
        </p:spPr>
        <p:txBody>
          <a:bodyPr>
            <a:normAutofit/>
          </a:bodyPr>
          <a:lstStyle/>
          <a:p>
            <a:r>
              <a:rPr lang="en-US" sz="4000" b="1" dirty="0"/>
              <a:t>CON’T</a:t>
            </a:r>
          </a:p>
        </p:txBody>
      </p:sp>
      <p:sp>
        <p:nvSpPr>
          <p:cNvPr id="1048608" name="Content Placeholder 1048659"/>
          <p:cNvSpPr>
            <a:spLocks noGrp="1"/>
          </p:cNvSpPr>
          <p:nvPr>
            <p:ph idx="1"/>
          </p:nvPr>
        </p:nvSpPr>
        <p:spPr>
          <a:xfrm>
            <a:off x="439420" y="1809834"/>
            <a:ext cx="11313159" cy="4891004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Variant in some people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Myocardia Disease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-Myocardia infarction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-Cardiomyopathy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-Degeneration diseases of conducting system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Congenital Heart Disease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-Tetralogy of Fallot (TOF)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-Atrial Septal defect (ASD)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-Ventricular Septal Defect (VSD)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disease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Embolism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F8B9E8-7D11-A234-E702-1DCA41D4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18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21F8C4-A9AF-57C7-A1F1-4562D8A10262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92162-2411-E2BD-E00C-0EA1059AB0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1D2A-40CB-3D12-811A-C70154F4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048658">
            <a:extLst>
              <a:ext uri="{FF2B5EF4-FFF2-40B4-BE49-F238E27FC236}">
                <a16:creationId xmlns:a16="http://schemas.microsoft.com/office/drawing/2014/main" id="{AC3F9B8F-65ED-89B9-1473-D0007FCE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226" y="606574"/>
            <a:ext cx="9675328" cy="913284"/>
          </a:xfrm>
        </p:spPr>
        <p:txBody>
          <a:bodyPr>
            <a:normAutofit/>
          </a:bodyPr>
          <a:lstStyle/>
          <a:p>
            <a:r>
              <a:rPr lang="en-US" sz="4000" b="1" dirty="0"/>
              <a:t>LEFT BUNDLE BRANCH BLOCK</a:t>
            </a:r>
          </a:p>
        </p:txBody>
      </p:sp>
      <p:sp>
        <p:nvSpPr>
          <p:cNvPr id="1048608" name="Content Placeholder 1048659">
            <a:extLst>
              <a:ext uri="{FF2B5EF4-FFF2-40B4-BE49-F238E27FC236}">
                <a16:creationId xmlns:a16="http://schemas.microsoft.com/office/drawing/2014/main" id="{58404ABF-46E4-2A77-B330-785A3A361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1" y="1922055"/>
            <a:ext cx="11313159" cy="4399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FEATURES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QRS Complex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Slurred or notched broad R waves in left lateral leads (I,aVL,V5 V6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segment depression, T-wave inversion in V5 V6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 wave in V1 V2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FF2BB-F004-7F54-C319-AA105D0E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19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01592F-9AF5-4ADF-C22D-9885475AE3D2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D86D8-14D3-5737-750F-A30874F66D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947A-5BE4-7BEE-4637-122B0C21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632469C-5CE4-62AF-6C7F-F9DF2DCAC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7" t="73081" r="51438" b="5518"/>
          <a:stretch>
            <a:fillRect/>
          </a:stretch>
        </p:blipFill>
        <p:spPr>
          <a:xfrm>
            <a:off x="8783384" y="2965518"/>
            <a:ext cx="3383280" cy="180135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6B7765-5565-C084-4A04-4A3E9516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20</a:t>
            </a:fld>
            <a:endParaRPr lang="zh-CN" altLang="en-US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046035-3CC4-69D6-DFB3-1160DE8973BA}"/>
              </a:ext>
            </a:extLst>
          </p:cNvPr>
          <p:cNvSpPr/>
          <p:nvPr/>
        </p:nvSpPr>
        <p:spPr>
          <a:xfrm>
            <a:off x="372906" y="588650"/>
            <a:ext cx="11544774" cy="1187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38080B-0988-82DC-962C-9E8B8336C7D4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C6D7B-82E2-26D6-9031-3D85B2729F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444" y="828056"/>
            <a:ext cx="875679" cy="873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7F92BB-FF3E-483A-5A21-786ADC249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" t="39414" r="50098" b="26268"/>
          <a:stretch>
            <a:fillRect/>
          </a:stretch>
        </p:blipFill>
        <p:spPr>
          <a:xfrm>
            <a:off x="2509767" y="588650"/>
            <a:ext cx="6513705" cy="4579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19DFB-BDD6-E1A5-4707-4E0F5F101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7" t="14866" r="50000" b="61293"/>
          <a:stretch>
            <a:fillRect/>
          </a:stretch>
        </p:blipFill>
        <p:spPr>
          <a:xfrm>
            <a:off x="52796" y="3750434"/>
            <a:ext cx="4913943" cy="26626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CB1B2D-110E-7D16-BFF2-C3B0FA66260C}"/>
              </a:ext>
            </a:extLst>
          </p:cNvPr>
          <p:cNvSpPr/>
          <p:nvPr/>
        </p:nvSpPr>
        <p:spPr>
          <a:xfrm>
            <a:off x="6309360" y="4495800"/>
            <a:ext cx="2590800" cy="426720"/>
          </a:xfrm>
          <a:prstGeom prst="rect">
            <a:avLst/>
          </a:prstGeom>
          <a:solidFill>
            <a:srgbClr val="E5D1D3"/>
          </a:solidFill>
          <a:ln>
            <a:solidFill>
              <a:srgbClr val="E5D1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04EF0-5CB3-363B-A0CA-07351FBE8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7" t="3678" r="54222" b="83886"/>
          <a:stretch>
            <a:fillRect/>
          </a:stretch>
        </p:blipFill>
        <p:spPr>
          <a:xfrm>
            <a:off x="151015" y="1689730"/>
            <a:ext cx="2580644" cy="10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3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048660"/>
          <p:cNvSpPr>
            <a:spLocks noGrp="1"/>
          </p:cNvSpPr>
          <p:nvPr>
            <p:ph type="title"/>
          </p:nvPr>
        </p:nvSpPr>
        <p:spPr>
          <a:xfrm>
            <a:off x="581192" y="702155"/>
            <a:ext cx="9889336" cy="9844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LBBB</a:t>
            </a:r>
          </a:p>
        </p:txBody>
      </p:sp>
      <p:sp>
        <p:nvSpPr>
          <p:cNvPr id="1048610" name="Content Placeholder 1048661"/>
          <p:cNvSpPr>
            <a:spLocks noGrp="1"/>
          </p:cNvSpPr>
          <p:nvPr>
            <p:ph idx="1"/>
          </p:nvPr>
        </p:nvSpPr>
        <p:spPr>
          <a:xfrm>
            <a:off x="474512" y="1996896"/>
            <a:ext cx="11029615" cy="2602814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Aortic stenosis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Myocardia Infarction etc.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C1C3C0-03D5-2380-30A2-E281EEC3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21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FE62D5-8F05-567E-857D-8869D52090B0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9D3E65-2629-5BD9-EDFA-54A54CD65D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048664"/>
          <p:cNvSpPr>
            <a:spLocks noGrp="1"/>
          </p:cNvSpPr>
          <p:nvPr>
            <p:ph type="title"/>
          </p:nvPr>
        </p:nvSpPr>
        <p:spPr>
          <a:xfrm>
            <a:off x="923774" y="812673"/>
            <a:ext cx="9599128" cy="928524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Hemiblock (fascicular Block) </a:t>
            </a:r>
            <a:br>
              <a:rPr lang="en-US" b="1" dirty="0"/>
            </a:br>
            <a:endParaRPr lang="en-US" dirty="0"/>
          </a:p>
        </p:txBody>
      </p:sp>
      <p:sp>
        <p:nvSpPr>
          <p:cNvPr id="1048612" name="Content Placeholder 1048665"/>
          <p:cNvSpPr>
            <a:spLocks noGrp="1"/>
          </p:cNvSpPr>
          <p:nvPr>
            <p:ph idx="1"/>
          </p:nvPr>
        </p:nvSpPr>
        <p:spPr>
          <a:xfrm>
            <a:off x="475161" y="1654706"/>
            <a:ext cx="11029615" cy="4570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Anterior fascicular Block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feature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axis deviation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R wave in lead I &amp; III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S wave in lead I &amp; III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QRS complex, ST Segment and T wave are normal 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EF8BF2-29DA-83CB-850D-8DA6E362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22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0E2F18-2C25-9C8A-DD92-4CE369060B67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0F360-F033-46E5-B001-24EF463E60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8C701-D072-23A4-2FDB-7EA2EFCE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Content Placeholder 1048665">
            <a:extLst>
              <a:ext uri="{FF2B5EF4-FFF2-40B4-BE49-F238E27FC236}">
                <a16:creationId xmlns:a16="http://schemas.microsoft.com/office/drawing/2014/main" id="{10D76547-D689-8A7B-9D06-B50B4313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87365"/>
            <a:ext cx="11029615" cy="3154680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posterior fascicular block 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Feature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Axis Deviation 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Prominent S waves in lead I and R wave in Lead II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QRS Complex, ST-segment and T wave are normal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C04ED-EB7F-4F2D-4409-A17D20D7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23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324162-A12B-41FA-5AE9-F7C56F53A765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6648F-F7FF-B906-338B-0A5006FFEF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  <p:sp>
        <p:nvSpPr>
          <p:cNvPr id="6" name="Title 1048658">
            <a:extLst>
              <a:ext uri="{FF2B5EF4-FFF2-40B4-BE49-F238E27FC236}">
                <a16:creationId xmlns:a16="http://schemas.microsoft.com/office/drawing/2014/main" id="{9C5FCFF3-5834-5D9F-AAF1-B264E1AA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9977108" cy="928524"/>
          </a:xfrm>
        </p:spPr>
        <p:txBody>
          <a:bodyPr>
            <a:normAutofit/>
          </a:bodyPr>
          <a:lstStyle/>
          <a:p>
            <a:r>
              <a:rPr lang="en-US" sz="4000" b="1" dirty="0"/>
              <a:t>CON’T</a:t>
            </a:r>
          </a:p>
        </p:txBody>
      </p:sp>
    </p:spTree>
    <p:extLst>
      <p:ext uri="{BB962C8B-B14F-4D97-AF65-F5344CB8AC3E}">
        <p14:creationId xmlns:p14="http://schemas.microsoft.com/office/powerpoint/2010/main" val="3969618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0CD1-99D3-551D-0335-F5CFD5AA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048664">
            <a:extLst>
              <a:ext uri="{FF2B5EF4-FFF2-40B4-BE49-F238E27FC236}">
                <a16:creationId xmlns:a16="http://schemas.microsoft.com/office/drawing/2014/main" id="{AFAE2A9D-83D5-A9D7-AF01-9FCF8828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73596"/>
            <a:ext cx="9599128" cy="928524"/>
          </a:xfrm>
        </p:spPr>
        <p:txBody>
          <a:bodyPr>
            <a:normAutofit fontScale="90000"/>
          </a:bodyPr>
          <a:lstStyle/>
          <a:p>
            <a:r>
              <a:rPr lang="en-US" sz="4900" b="1" dirty="0" err="1"/>
              <a:t>BifasciculAr</a:t>
            </a:r>
            <a:r>
              <a:rPr lang="en-US" sz="4900" b="1" dirty="0"/>
              <a:t> Block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048612" name="Content Placeholder 1048665">
            <a:extLst>
              <a:ext uri="{FF2B5EF4-FFF2-40B4-BE49-F238E27FC236}">
                <a16:creationId xmlns:a16="http://schemas.microsoft.com/office/drawing/2014/main" id="{F29E8B9D-5D5D-954B-61F9-1E0D8396D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61" y="1826473"/>
            <a:ext cx="11029615" cy="45708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Bifascicular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This involves two fascicle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RBBB + Left Posterior fascicular block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3000" dirty="0">
                <a:solidFill>
                  <a:schemeClr val="accent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feature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RSR! V1&amp; V₂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S waves in Lead  1,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V5, V6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-Broad QRS  Complex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-Significant  RAD  (right axis deviation) 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93CE28-AAA2-8398-966B-04F4EC22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24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D1275B-7225-98C3-7238-B1C71CAEAC93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4D4DF-65F9-452C-5095-96F0A65EF6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61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4BEC9-2166-E4F5-89DB-EA988A62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048664">
            <a:extLst>
              <a:ext uri="{FF2B5EF4-FFF2-40B4-BE49-F238E27FC236}">
                <a16:creationId xmlns:a16="http://schemas.microsoft.com/office/drawing/2014/main" id="{3B60C291-DD51-BF67-6DE3-E262E6FD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52" y="702156"/>
            <a:ext cx="9599128" cy="928524"/>
          </a:xfrm>
        </p:spPr>
        <p:txBody>
          <a:bodyPr>
            <a:normAutofit fontScale="90000"/>
          </a:bodyPr>
          <a:lstStyle/>
          <a:p>
            <a:r>
              <a:rPr lang="en-US" sz="3600" b="1" dirty="0" err="1"/>
              <a:t>BifasciculAr</a:t>
            </a:r>
            <a:r>
              <a:rPr lang="en-US" sz="3600" b="1" dirty="0"/>
              <a:t>  Block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048612" name="Content Placeholder 1048665">
            <a:extLst>
              <a:ext uri="{FF2B5EF4-FFF2-40B4-BE49-F238E27FC236}">
                <a16:creationId xmlns:a16="http://schemas.microsoft.com/office/drawing/2014/main" id="{6A63E1D6-D59A-A38A-7D9A-7D85E630F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61" y="1826473"/>
            <a:ext cx="11029615" cy="45708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BBB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Left Anterior fasciculus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dirty="0">
                <a:solidFill>
                  <a:schemeClr val="accent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Feature)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Left Axis Deviation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-RSR! Complex in V1, V2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-Deep S wave in lead I, aVL,V5, V6,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-Broad QRS Complex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CFC8FE-29A1-32A2-9A0F-F370D793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25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9DED7E-7162-CF5B-E527-722A581CE87F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97F4C-2649-7105-3DC1-C750E50675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44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68B0-CD1B-2077-406F-4598F5EB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048664">
            <a:extLst>
              <a:ext uri="{FF2B5EF4-FFF2-40B4-BE49-F238E27FC236}">
                <a16:creationId xmlns:a16="http://schemas.microsoft.com/office/drawing/2014/main" id="{80EEF980-1F70-62DC-E310-BCC21467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52" y="1404472"/>
            <a:ext cx="9599128" cy="928524"/>
          </a:xfrm>
        </p:spPr>
        <p:txBody>
          <a:bodyPr>
            <a:noAutofit/>
          </a:bodyPr>
          <a:lstStyle/>
          <a:p>
            <a:r>
              <a:rPr lang="en-US" sz="3200" b="1" dirty="0"/>
              <a:t>Tri fascicular Block. </a:t>
            </a:r>
            <a:br>
              <a:rPr lang="en-US" sz="3200" b="1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1048612" name="Content Placeholder 1048665">
            <a:extLst>
              <a:ext uri="{FF2B5EF4-FFF2-40B4-BE49-F238E27FC236}">
                <a16:creationId xmlns:a16="http://schemas.microsoft.com/office/drawing/2014/main" id="{15C47D44-2315-AACD-75D3-4864B07D2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33" y="2021511"/>
            <a:ext cx="11029615" cy="3905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 fascicular Block.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RBBB + Heart Block  + hemi block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LBBB + Heart block + hemi block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CED951-87C0-1B31-C531-657346F3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26</a:t>
            </a:fld>
            <a:endParaRPr lang="zh-CN" altLang="en-US" sz="4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7C7C747-4740-1E47-E676-598DD3BE3579}"/>
              </a:ext>
            </a:extLst>
          </p:cNvPr>
          <p:cNvSpPr/>
          <p:nvPr/>
        </p:nvSpPr>
        <p:spPr>
          <a:xfrm>
            <a:off x="10558300" y="702156"/>
            <a:ext cx="1034248" cy="1013800"/>
          </a:xfrm>
          <a:prstGeom prst="ellipse">
            <a:avLst/>
          </a:prstGeom>
          <a:solidFill>
            <a:srgbClr val="DE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28379F-53E5-D08B-6509-C71533C40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097" y="812673"/>
            <a:ext cx="875679" cy="8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12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DF5C-FEAE-8F43-D55F-4DAE4B27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3BC001-21A8-5E09-7322-FCE4D528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z="4000" smtClean="0"/>
              <a:t>27</a:t>
            </a:fld>
            <a:endParaRPr lang="zh-CN" alt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F50E7-37C9-C451-274D-938BD4C6A680}"/>
              </a:ext>
            </a:extLst>
          </p:cNvPr>
          <p:cNvSpPr/>
          <p:nvPr/>
        </p:nvSpPr>
        <p:spPr>
          <a:xfrm>
            <a:off x="274320" y="579120"/>
            <a:ext cx="11582400" cy="1315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12" name="Content Placeholder 1048665">
            <a:extLst>
              <a:ext uri="{FF2B5EF4-FFF2-40B4-BE49-F238E27FC236}">
                <a16:creationId xmlns:a16="http://schemas.microsoft.com/office/drawing/2014/main" id="{CFB3BC5A-DC1C-0F2F-D99D-6035F1E49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984" y="5650230"/>
            <a:ext cx="8256032" cy="169164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800" b="1" dirty="0">
                <a:solidFill>
                  <a:schemeClr val="tx1"/>
                </a:solidFill>
              </a:rPr>
              <a:t>THANK YOU</a:t>
            </a:r>
          </a:p>
          <a:p>
            <a:pPr marL="0" indent="0" algn="ctr">
              <a:buNone/>
            </a:pPr>
            <a:endParaRPr lang="en-US" sz="138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BCBD3D-490C-F421-5417-DDAFA90B2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61413"/>
            <a:ext cx="4640259" cy="48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9913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2645</TotalTime>
  <Words>740</Words>
  <Application>Microsoft Office PowerPoint</Application>
  <PresentationFormat>Widescreen</PresentationFormat>
  <Paragraphs>167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Franklin Gothic Medium</vt:lpstr>
      <vt:lpstr>Gill Sans MT</vt:lpstr>
      <vt:lpstr>Times New Roman</vt:lpstr>
      <vt:lpstr>Wingdings</vt:lpstr>
      <vt:lpstr>Wingdings 2</vt:lpstr>
      <vt:lpstr>Dividend</vt:lpstr>
      <vt:lpstr>Heart Block 1st, 2nD, 3rd Degree BLOCK,  RBBB, LBBB  &amp; Other Heart Blocks </vt:lpstr>
      <vt:lpstr>Outline </vt:lpstr>
      <vt:lpstr>Conductive System </vt:lpstr>
      <vt:lpstr>PowerPoint Presentation</vt:lpstr>
      <vt:lpstr>PowerPoint Presentation</vt:lpstr>
      <vt:lpstr>Definition &amp; Cause</vt:lpstr>
      <vt:lpstr>Types of Heart Block</vt:lpstr>
      <vt:lpstr>Types of Heart Block</vt:lpstr>
      <vt:lpstr>Second Degree Heart Block </vt:lpstr>
      <vt:lpstr>Second Degree Heart Block </vt:lpstr>
      <vt:lpstr>Con’t</vt:lpstr>
      <vt:lpstr>Con’t</vt:lpstr>
      <vt:lpstr>PowerPoint Presentation</vt:lpstr>
      <vt:lpstr>THIRD DEGREE HEART BLOCK</vt:lpstr>
      <vt:lpstr>Bundle Branch Block </vt:lpstr>
      <vt:lpstr>RIGHT Bundle Branch Block </vt:lpstr>
      <vt:lpstr>PowerPoint Presentation</vt:lpstr>
      <vt:lpstr>CON’T</vt:lpstr>
      <vt:lpstr>LEFT BUNDLE BRANCH BLOCK</vt:lpstr>
      <vt:lpstr>PowerPoint Presentation</vt:lpstr>
      <vt:lpstr>LBBB</vt:lpstr>
      <vt:lpstr>Hemiblock (fascicular Block)  </vt:lpstr>
      <vt:lpstr>CON’T</vt:lpstr>
      <vt:lpstr>BifasciculAr Block </vt:lpstr>
      <vt:lpstr>BifasciculAr  Block </vt:lpstr>
      <vt:lpstr>Tri fascicular Block.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TECNO KL4</dc:creator>
  <cp:lastModifiedBy>Haastrup Temitope</cp:lastModifiedBy>
  <cp:revision>234</cp:revision>
  <dcterms:created xsi:type="dcterms:W3CDTF">2015-05-12T05:30:45Z</dcterms:created>
  <dcterms:modified xsi:type="dcterms:W3CDTF">2025-07-10T18:22:55Z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eded10a5dcf643ac82692e0e2c63008f</vt:lpwstr>
  </property>
</Properties>
</file>