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319" r:id="rId20"/>
    <p:sldId id="299" r:id="rId21"/>
    <p:sldId id="333" r:id="rId22"/>
    <p:sldId id="272" r:id="rId23"/>
    <p:sldId id="273" r:id="rId24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  <a:tblStyle styleId="{ED083AE6-46FA-4A59-8FB0-9F97EB1071A0}" styleName="Light Style 3 - Accent 4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FFC000"/>
              </a:solidFill>
            </a:ln>
          </a:left>
          <a:right>
            <a:ln w="12700" cmpd="sng">
              <a:solidFill>
                <a:srgbClr val="FFC000"/>
              </a:solidFill>
            </a:ln>
          </a:right>
          <a:top>
            <a:ln w="12700" cmpd="sng">
              <a:solidFill>
                <a:srgbClr val="FFC000"/>
              </a:solidFill>
            </a:ln>
          </a:top>
          <a:bottom>
            <a:ln w="12700" cmpd="sng">
              <a:solidFill>
                <a:srgbClr val="FFC000"/>
              </a:solidFill>
            </a:ln>
          </a:bottom>
          <a:insideH>
            <a:ln w="12700" cmpd="sng">
              <a:solidFill>
                <a:srgbClr val="FFC000"/>
              </a:solidFill>
            </a:ln>
          </a:insideH>
          <a:insideV>
            <a:ln w="12700" cmpd="sng">
              <a:solidFill>
                <a:srgbClr val="FFC000"/>
              </a:solidFill>
            </a:ln>
          </a:insideV>
        </a:tcBdr>
        <a:fill>
          <a:noFill/>
        </a:fill>
      </a:tcStyle>
    </a:wholeTbl>
    <a:band1H>
      <a:tcStyle>
        <a:fill>
          <a:solidFill>
            <a:srgbClr val="FFC000">
              <a:alpha val="20000"/>
            </a:srgbClr>
          </a:solidFill>
        </a:fill>
      </a:tcStyle>
    </a:band1H>
    <a:band1V>
      <a:tcStyle>
        <a:fill>
          <a:solidFill>
            <a:srgbClr val="FFC000">
              <a:alpha val="20000"/>
            </a:srgb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rgbClr val="FFC000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rgbClr val="FFC000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tableStyles" Target="tableStyle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2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19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20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726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2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2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3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0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62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3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3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73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3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0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70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71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1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1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1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70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Rectangle 6"/>
          <p:cNvSpPr/>
          <p:nvPr/>
        </p:nvSpPr>
        <p:spPr>
          <a:xfrm>
            <a:off x="2381" y="6400800"/>
            <a:ext cx="9141618" cy="4572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5" name="Rectangle 7"/>
          <p:cNvSpPr/>
          <p:nvPr/>
        </p:nvSpPr>
        <p:spPr>
          <a:xfrm>
            <a:off x="11" y="6334316"/>
            <a:ext cx="9141618" cy="64008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16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baseline="0" sz="6000" spc="-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17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algn="l" indent="0" marL="0">
              <a:buNone/>
              <a:defRPr baseline="0" cap="all" sz="1800" spc="200">
                <a:solidFill>
                  <a:schemeClr val="tx2"/>
                </a:solidFill>
                <a:latin typeface="+mj-lt"/>
              </a:defRPr>
            </a:lvl1pPr>
            <a:lvl2pPr algn="ctr" indent="0" marL="457200">
              <a:buNone/>
              <a:defRPr sz="2400"/>
            </a:lvl2pPr>
            <a:lvl3pPr algn="ctr" indent="0" marL="914400">
              <a:buNone/>
              <a:defRPr sz="2400"/>
            </a:lvl3pPr>
            <a:lvl4pPr algn="ctr" indent="0" marL="1371600">
              <a:buNone/>
              <a:defRPr sz="2000"/>
            </a:lvl4pPr>
            <a:lvl5pPr algn="ctr" indent="0" marL="1828800">
              <a:buNone/>
              <a:defRPr sz="2000"/>
            </a:lvl5pPr>
            <a:lvl6pPr algn="ctr" indent="0" marL="2286000">
              <a:buNone/>
              <a:defRPr sz="2000"/>
            </a:lvl6pPr>
            <a:lvl7pPr algn="ctr" indent="0" marL="2743200">
              <a:buNone/>
              <a:defRPr sz="2000"/>
            </a:lvl7pPr>
            <a:lvl8pPr algn="ctr" indent="0" marL="3200400">
              <a:buNone/>
              <a:defRPr sz="2000"/>
            </a:lvl8pPr>
            <a:lvl9pPr algn="ctr" indent="0" marL="3657600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dirty="0" lang="en-US"/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9" name="Straight Connector 8"/>
          <p:cNvCxnSpPr>
            <a:cxnSpLocks/>
          </p:cNvCxnSpPr>
          <p:nvPr/>
        </p:nvCxnSpPr>
        <p:spPr>
          <a:xfrm>
            <a:off x="905744" y="4343400"/>
            <a:ext cx="7406640" cy="0"/>
          </a:xfrm>
          <a:prstGeom prst="line"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bg>
      <p:bgPr>
        <a:solidFill>
          <a:schemeClr val="bg1"/>
        </a:solidFill>
        <a:effectLst/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Rectangle 6"/>
          <p:cNvSpPr/>
          <p:nvPr/>
        </p:nvSpPr>
        <p:spPr>
          <a:xfrm>
            <a:off x="2381" y="6400800"/>
            <a:ext cx="9141618" cy="4572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2" name="Rectangle 7"/>
          <p:cNvSpPr/>
          <p:nvPr/>
        </p:nvSpPr>
        <p:spPr>
          <a:xfrm>
            <a:off x="11" y="6334316"/>
            <a:ext cx="9141618" cy="64008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b="0"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74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anchor="t" anchorCtr="0" lIns="91440" rIns="91440">
            <a:normAutofit/>
          </a:bodyPr>
          <a:lstStyle>
            <a:lvl1pPr indent="0" marL="0">
              <a:buNone/>
              <a:defRPr baseline="0" cap="all" sz="1800" spc="200">
                <a:solidFill>
                  <a:schemeClr val="tx2"/>
                </a:solidFill>
                <a:latin typeface="+mj-lt"/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30" name="Straight Connector 8"/>
          <p:cNvCxnSpPr>
            <a:cxnSpLocks/>
          </p:cNvCxnSpPr>
          <p:nvPr/>
        </p:nvCxnSpPr>
        <p:spPr>
          <a:xfrm>
            <a:off x="905744" y="4343400"/>
            <a:ext cx="7406640" cy="0"/>
          </a:xfrm>
          <a:prstGeom prst="line"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7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66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7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9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91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anchor="ctr" lIns="91440" rIns="91440">
            <a:normAutofit/>
          </a:bodyPr>
          <a:lstStyle>
            <a:lvl1pPr indent="0" marL="0">
              <a:buNone/>
              <a:defRPr baseline="0" b="0" cap="all" sz="1500">
                <a:solidFill>
                  <a:schemeClr val="tx2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2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9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anchor="ctr" lIns="91440" rIns="91440">
            <a:normAutofit/>
          </a:bodyPr>
          <a:lstStyle>
            <a:lvl1pPr indent="0" marL="0">
              <a:buNone/>
              <a:defRPr baseline="0" b="0" cap="all" sz="1500">
                <a:solidFill>
                  <a:schemeClr val="tx2"/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94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9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9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9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8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8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8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Rectangle 4"/>
          <p:cNvSpPr/>
          <p:nvPr/>
        </p:nvSpPr>
        <p:spPr>
          <a:xfrm>
            <a:off x="2381" y="6400800"/>
            <a:ext cx="9141618" cy="4572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1" name="Rectangle 5"/>
          <p:cNvSpPr/>
          <p:nvPr/>
        </p:nvSpPr>
        <p:spPr>
          <a:xfrm>
            <a:off x="11" y="6334316"/>
            <a:ext cx="9141618" cy="64008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4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64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Rectangle 7"/>
          <p:cNvSpPr/>
          <p:nvPr/>
        </p:nvSpPr>
        <p:spPr>
          <a:xfrm>
            <a:off x="12" y="0"/>
            <a:ext cx="3038093" cy="68580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79" name="Rectangle 8"/>
          <p:cNvSpPr/>
          <p:nvPr/>
        </p:nvSpPr>
        <p:spPr>
          <a:xfrm>
            <a:off x="3030053" y="0"/>
            <a:ext cx="48006" cy="6858000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b="0" sz="27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82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indent="0" marL="0">
              <a:buNone/>
              <a:defRPr sz="1125">
                <a:solidFill>
                  <a:srgbClr val="FFFFFF"/>
                </a:solidFill>
              </a:defRPr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83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5"/>
            <a:ext cx="1963883" cy="365125"/>
          </a:xfrm>
        </p:spPr>
        <p:txBody>
          <a:bodyPr/>
          <a:lstStyle>
            <a:lvl1pPr algn="l"/>
          </a:lstStyle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8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5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04868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7"/>
          <p:cNvSpPr/>
          <p:nvPr/>
        </p:nvSpPr>
        <p:spPr>
          <a:xfrm>
            <a:off x="0" y="4953000"/>
            <a:ext cx="9141618" cy="19050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6" name="Rectangle 8"/>
          <p:cNvSpPr/>
          <p:nvPr/>
        </p:nvSpPr>
        <p:spPr>
          <a:xfrm>
            <a:off x="11" y="4915076"/>
            <a:ext cx="9141618" cy="64008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47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anchor="b" bIns="0" lIns="91440" rIns="91440" tIns="0">
            <a:noAutofit/>
          </a:bodyPr>
          <a:lstStyle>
            <a:lvl1pPr>
              <a:defRPr b="0" sz="27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48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11" y="0"/>
            <a:ext cx="9143988" cy="4915076"/>
          </a:xfrm>
          <a:solidFill>
            <a:schemeClr val="bg2">
              <a:lumMod val="90000"/>
            </a:schemeClr>
          </a:solidFill>
        </p:spPr>
        <p:txBody>
          <a:bodyPr anchor="t" lIns="457200" tIns="457200"/>
          <a:lstStyle>
            <a:lvl1pPr indent="0" marL="0">
              <a:buNone/>
              <a:defRPr sz="24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dirty="0" lang="en-US"/>
          </a:p>
        </p:txBody>
      </p:sp>
      <p:sp>
        <p:nvSpPr>
          <p:cNvPr id="1048649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4948" cy="594360"/>
          </a:xfrm>
        </p:spPr>
        <p:txBody>
          <a:bodyPr bIns="0" lIns="91440" rIns="91440" tIns="0">
            <a:normAutofit/>
          </a:bodyPr>
          <a:lstStyle>
            <a:lvl1pPr indent="0" marL="0">
              <a:spcBef>
                <a:spcPts val="0"/>
              </a:spcBef>
              <a:spcAft>
                <a:spcPts val="600"/>
              </a:spcAft>
              <a:buNone/>
              <a:defRPr sz="1125">
                <a:solidFill>
                  <a:srgbClr val="FFFFFF"/>
                </a:solidFill>
              </a:defRPr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5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bIns="0" lIns="45720" rIns="45720" tIns="0"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ctangle 6"/>
          <p:cNvSpPr/>
          <p:nvPr/>
        </p:nvSpPr>
        <p:spPr>
          <a:xfrm>
            <a:off x="2381" y="6400800"/>
            <a:ext cx="9141618" cy="4572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9" name="Rectangle 7"/>
          <p:cNvSpPr/>
          <p:nvPr/>
        </p:nvSpPr>
        <p:spPr>
          <a:xfrm>
            <a:off x="11" y="6334316"/>
            <a:ext cx="9141618" cy="64008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0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66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bIns="0" lIns="45720" rIns="45720" tIns="0"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  <a:t>2015/5/12</a:t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6"/>
          <p:cNvSpPr/>
          <p:nvPr/>
        </p:nvSpPr>
        <p:spPr>
          <a:xfrm>
            <a:off x="1" y="6400800"/>
            <a:ext cx="9144000" cy="457200"/>
          </a:xfrm>
          <a:prstGeom prst="rect"/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95" name="Rectangle 8"/>
          <p:cNvSpPr/>
          <p:nvPr/>
        </p:nvSpPr>
        <p:spPr>
          <a:xfrm>
            <a:off x="11" y="6334316"/>
            <a:ext cx="9143988" cy="66484"/>
          </a:xfrm>
          <a:prstGeom prst="rect"/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596" name="Title Placeholder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  <a:prstGeom prst="rect"/>
        </p:spPr>
        <p:txBody>
          <a:bodyPr anchor="b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dirty="0" lang="en-US"/>
          </a:p>
        </p:txBody>
      </p:sp>
      <p:sp>
        <p:nvSpPr>
          <p:cNvPr id="1048597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/>
        </p:spPr>
        <p:txBody>
          <a:bodyPr bIns="45720" lIns="0" rIns="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 lang="en-US"/>
          </a:p>
        </p:txBody>
      </p:sp>
      <p:sp>
        <p:nvSpPr>
          <p:cNvPr id="1048598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" y="6459785"/>
            <a:ext cx="1854203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D168EC68-B2F8-4C9F-9B81-423E34F1E518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104859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5"/>
            <a:ext cx="3617103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baseline="0" cap="all" sz="675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4860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5"/>
            <a:ext cx="98401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787">
                <a:solidFill>
                  <a:srgbClr val="FFFFFF"/>
                </a:solidFill>
              </a:defRPr>
            </a:lvl1pPr>
          </a:lstStyle>
          <a:p>
            <a:fld id="{877F23FD-C331-4202-B3C9-988F493DF51F}" type="slidenum">
              <a:rPr lang="en-US" smtClean="0"/>
              <a:t>‹#›</a:t>
            </a:fld>
            <a:endParaRPr lang="en-US"/>
          </a:p>
        </p:txBody>
      </p:sp>
      <p:cxnSp>
        <p:nvCxnSpPr>
          <p:cNvPr id="3145728" name="Straight Connector 9"/>
          <p:cNvCxnSpPr>
            <a:cxnSpLocks/>
          </p:cNvCxnSpPr>
          <p:nvPr/>
        </p:nvCxnSpPr>
        <p:spPr>
          <a:xfrm>
            <a:off x="895149" y="1737845"/>
            <a:ext cx="7475220" cy="0"/>
          </a:xfrm>
          <a:prstGeom prst="line"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eaLnBrk="1" hangingPunct="1" latinLnBrk="0" rtl="0">
        <a:lnSpc>
          <a:spcPct val="85000"/>
        </a:lnSpc>
        <a:spcBef>
          <a:spcPct val="0"/>
        </a:spcBef>
        <a:buNone/>
        <a:defRPr baseline="0" sz="4800" kern="1200" spc="-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91440" latinLnBrk="0" marL="91440" rtl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182880" latinLnBrk="0" marL="384048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182880" latinLnBrk="0" marL="566928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182880" latinLnBrk="0" marL="749808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182880" latinLnBrk="0" marL="932688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11000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13000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15000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1700000" rtl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0"/>
            <a:ext cx="9144000" cy="6889950"/>
          </a:xfrm>
          <a:prstGeom prst="rect"/>
        </p:spPr>
      </p:pic>
      <p:sp>
        <p:nvSpPr>
          <p:cNvPr id="1048586" name=""/>
          <p:cNvSpPr txBox="1"/>
          <p:nvPr/>
        </p:nvSpPr>
        <p:spPr>
          <a:xfrm>
            <a:off x="3304838" y="6054630"/>
            <a:ext cx="5606029" cy="574040"/>
          </a:xfrm>
          <a:prstGeom prst="rect"/>
          <a:solidFill>
            <a:srgbClr val="808080"/>
          </a:solidFill>
        </p:spPr>
        <p:txBody>
          <a:bodyPr rtlCol="0" wrap="square">
            <a:spAutoFit/>
          </a:bodyPr>
          <a:p>
            <a:r>
              <a:rPr b="1" sz="3200" lang="en-US">
                <a:solidFill>
                  <a:srgbClr val="000000"/>
                </a:solidFill>
              </a:rPr>
              <a:t>M</a:t>
            </a:r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.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U</a:t>
            </a:r>
            <a:r>
              <a:rPr b="1" sz="3200" lang="en-US">
                <a:solidFill>
                  <a:srgbClr val="000000"/>
                </a:solidFill>
              </a:rPr>
              <a:t>M</a:t>
            </a:r>
            <a:r>
              <a:rPr b="1" sz="3200" lang="en-US">
                <a:solidFill>
                  <a:srgbClr val="000000"/>
                </a:solidFill>
              </a:rPr>
              <a:t>A</a:t>
            </a:r>
            <a:r>
              <a:rPr b="1" sz="3200" lang="en-US">
                <a:solidFill>
                  <a:srgbClr val="000000"/>
                </a:solidFill>
              </a:rPr>
              <a:t>R</a:t>
            </a:r>
            <a:r>
              <a:rPr b="1" sz="3200" lang="en-US">
                <a:solidFill>
                  <a:srgbClr val="000000"/>
                </a:solidFill>
              </a:rPr>
              <a:t> </a:t>
            </a:r>
            <a:r>
              <a:rPr b="1" sz="3200" lang="en-US">
                <a:solidFill>
                  <a:srgbClr val="000000"/>
                </a:solidFill>
              </a:rPr>
              <a:t>AMINU </a:t>
            </a:r>
            <a:r>
              <a:rPr b="1" sz="3200" lang="en-US">
                <a:solidFill>
                  <a:srgbClr val="000000"/>
                </a:solidFill>
              </a:rPr>
              <a:t>IBRAHIM </a:t>
            </a:r>
            <a:endParaRPr b="1" sz="36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Title 1"/>
          <p:cNvSpPr>
            <a:spLocks noGrp="1"/>
          </p:cNvSpPr>
          <p:nvPr>
            <p:ph type="ctrTitle"/>
          </p:nvPr>
        </p:nvSpPr>
        <p:spPr>
          <a:xfrm>
            <a:off x="-188862" y="-455727"/>
            <a:ext cx="9294242" cy="1470012"/>
          </a:xfrm>
          <a:solidFill>
            <a:srgbClr val="800000"/>
          </a:solidFill>
        </p:spPr>
        <p:txBody>
          <a:bodyPr>
            <a:normAutofit/>
          </a:bodyPr>
          <a:p>
            <a:r>
              <a:rPr altLang="zh-CN" sz="4000" lang="en-US">
                <a:solidFill>
                  <a:srgbClr val="FFFFFF"/>
                </a:solidFill>
              </a:rPr>
              <a:t>P</a:t>
            </a:r>
            <a:r>
              <a:rPr altLang="zh-CN" sz="4000" lang="en-US">
                <a:solidFill>
                  <a:srgbClr val="FFFFFF"/>
                </a:solidFill>
              </a:rPr>
              <a:t>u</a:t>
            </a:r>
            <a:r>
              <a:rPr altLang="zh-CN" sz="4000" lang="en-US">
                <a:solidFill>
                  <a:srgbClr val="FFFFFF"/>
                </a:solidFill>
              </a:rPr>
              <a:t>l</a:t>
            </a:r>
            <a:r>
              <a:rPr altLang="zh-CN" sz="4000" lang="en-US">
                <a:solidFill>
                  <a:srgbClr val="FFFFFF"/>
                </a:solidFill>
              </a:rPr>
              <a:t>s</a:t>
            </a:r>
            <a:r>
              <a:rPr altLang="zh-CN" sz="4000" lang="en-US">
                <a:solidFill>
                  <a:srgbClr val="FFFFFF"/>
                </a:solidFill>
              </a:rPr>
              <a:t>e</a:t>
            </a:r>
            <a:r>
              <a:rPr altLang="zh-CN" sz="4000" lang="en-US">
                <a:solidFill>
                  <a:srgbClr val="FFFFFF"/>
                </a:solidFill>
              </a:rPr>
              <a:t>l</a:t>
            </a:r>
            <a:r>
              <a:rPr altLang="zh-CN" sz="4000" lang="en-US">
                <a:solidFill>
                  <a:srgbClr val="FFFFFF"/>
                </a:solidFill>
              </a:rPr>
              <a:t>e</a:t>
            </a:r>
            <a:r>
              <a:rPr altLang="zh-CN" sz="4000" lang="en-US">
                <a:solidFill>
                  <a:srgbClr val="FFFFFF"/>
                </a:solidFill>
              </a:rPr>
              <a:t>ss </a:t>
            </a:r>
            <a:r>
              <a:rPr altLang="zh-CN" sz="4000" lang="en-US">
                <a:solidFill>
                  <a:srgbClr val="FFFFFF"/>
                </a:solidFill>
              </a:rPr>
              <a:t>Electrical </a:t>
            </a:r>
            <a:r>
              <a:rPr altLang="zh-CN" sz="4000" lang="en-US">
                <a:solidFill>
                  <a:srgbClr val="FFFFFF"/>
                </a:solidFill>
              </a:rPr>
              <a:t>A</a:t>
            </a:r>
            <a:r>
              <a:rPr altLang="zh-CN" sz="4000" lang="en-US">
                <a:solidFill>
                  <a:srgbClr val="FFFFFF"/>
                </a:solidFill>
              </a:rPr>
              <a:t>c</a:t>
            </a:r>
            <a:r>
              <a:rPr altLang="zh-CN" sz="4000" lang="en-US">
                <a:solidFill>
                  <a:srgbClr val="FFFFFF"/>
                </a:solidFill>
              </a:rPr>
              <a:t>t</a:t>
            </a:r>
            <a:r>
              <a:rPr altLang="zh-CN" sz="4000" lang="en-US">
                <a:solidFill>
                  <a:srgbClr val="FFFFFF"/>
                </a:solidFill>
              </a:rPr>
              <a:t>i</a:t>
            </a:r>
            <a:r>
              <a:rPr altLang="zh-CN" sz="4000" lang="en-US">
                <a:solidFill>
                  <a:srgbClr val="FFFFFF"/>
                </a:solidFill>
              </a:rPr>
              <a:t>v</a:t>
            </a:r>
            <a:r>
              <a:rPr altLang="zh-CN" sz="4000" lang="en-US">
                <a:solidFill>
                  <a:srgbClr val="FFFFFF"/>
                </a:solidFill>
              </a:rPr>
              <a:t>ity </a:t>
            </a:r>
            <a:r>
              <a:rPr altLang="zh-CN" sz="4000" lang="en-US">
                <a:solidFill>
                  <a:srgbClr val="FFFFFF"/>
                </a:solidFill>
              </a:rPr>
              <a:t>(</a:t>
            </a:r>
            <a:r>
              <a:rPr altLang="zh-CN" sz="4000" lang="en-US">
                <a:solidFill>
                  <a:srgbClr val="FFFFFF"/>
                </a:solidFill>
              </a:rPr>
              <a:t>P</a:t>
            </a:r>
            <a:r>
              <a:rPr altLang="zh-CN" sz="4000" lang="en-US">
                <a:solidFill>
                  <a:srgbClr val="FFFFFF"/>
                </a:solidFill>
              </a:rPr>
              <a:t>E</a:t>
            </a:r>
            <a:r>
              <a:rPr altLang="zh-CN" sz="4000" lang="en-US">
                <a:solidFill>
                  <a:srgbClr val="FFFFFF"/>
                </a:solidFill>
              </a:rPr>
              <a:t>A</a:t>
            </a:r>
            <a:r>
              <a:rPr altLang="zh-CN" sz="4000" lang="en-US">
                <a:solidFill>
                  <a:srgbClr val="FFFFFF"/>
                </a:solidFill>
              </a:rPr>
              <a:t>)</a:t>
            </a:r>
            <a:endParaRPr altLang="zh-CN" lang="en-US">
              <a:solidFill>
                <a:srgbClr val="FFFFFF"/>
              </a:solidFill>
            </a:endParaRPr>
          </a:p>
        </p:txBody>
      </p:sp>
      <p:sp>
        <p:nvSpPr>
          <p:cNvPr id="1048588" name=""/>
          <p:cNvSpPr txBox="1"/>
          <p:nvPr/>
        </p:nvSpPr>
        <p:spPr>
          <a:xfrm>
            <a:off x="0" y="1014284"/>
            <a:ext cx="8916518" cy="34442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▪ Electricity is working, but the mechanics and plumbing are not.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The absence of a palpable pulse and absence of myocardial muscle activity with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presence of organized electrical activity on the cardiac monitor. The patient is </a:t>
            </a:r>
            <a:r>
              <a:rPr sz="2800" lang="en-US">
                <a:solidFill>
                  <a:srgbClr val="000000"/>
                </a:solidFill>
              </a:rPr>
              <a:t>clinically dead despite some type of organized rhythm on monitor.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4458525"/>
            <a:ext cx="9144000" cy="2589766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1014284"/>
            <a:ext cx="9144000" cy="3975419"/>
          </a:xfrm>
          <a:prstGeom prst="rect"/>
        </p:spPr>
      </p:pic>
      <p:sp>
        <p:nvSpPr>
          <p:cNvPr id="1048589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u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ss 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Electrical 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v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ity 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(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)</a:t>
            </a:r>
            <a:endParaRPr altLang="zh-CN" lang="en-US">
              <a:solidFill>
                <a:srgbClr val="FFFFFF"/>
              </a:solidFill>
            </a:endParaRPr>
          </a:p>
        </p:txBody>
      </p:sp>
      <p:sp>
        <p:nvSpPr>
          <p:cNvPr id="1048590" name=""/>
          <p:cNvSpPr txBox="1"/>
          <p:nvPr/>
        </p:nvSpPr>
        <p:spPr>
          <a:xfrm>
            <a:off x="0" y="5353691"/>
            <a:ext cx="8833785" cy="1056640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An example of pulseless electrical activity. True PEA is a “nonshockable” heart rhythm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"/>
          <p:cNvSpPr txBox="1"/>
          <p:nvPr/>
        </p:nvSpPr>
        <p:spPr>
          <a:xfrm>
            <a:off x="5343696" y="1242060"/>
            <a:ext cx="4000000" cy="4282440"/>
          </a:xfrm>
          <a:prstGeom prst="rect"/>
        </p:spPr>
        <p:txBody>
          <a:bodyPr rtlCol="0" wrap="square">
            <a:spAutoFit/>
          </a:bodyPr>
          <a:p>
            <a:r>
              <a:rPr b="0" sz="2800" lang="en-US" u="sng">
                <a:solidFill>
                  <a:srgbClr val="000000"/>
                </a:solidFill>
              </a:rPr>
              <a:t>Signs and Symptoms</a:t>
            </a:r>
            <a:endParaRPr b="0"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Pulselessness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Loss of consciousness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No palpable BP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 u="sng">
                <a:solidFill>
                  <a:srgbClr val="000000"/>
                </a:solidFill>
              </a:rPr>
              <a:t>Medical Treatment</a:t>
            </a:r>
            <a:endParaRPr sz="2800" lang="en-US" u="sng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Determine cause &amp; treat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CPR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592" name=""/>
          <p:cNvSpPr txBox="1"/>
          <p:nvPr/>
        </p:nvSpPr>
        <p:spPr>
          <a:xfrm>
            <a:off x="0" y="1170538"/>
            <a:ext cx="7922106" cy="5539740"/>
          </a:xfrm>
          <a:prstGeom prst="rect"/>
        </p:spPr>
        <p:txBody>
          <a:bodyPr rtlCol="0" wrap="square">
            <a:spAutoFit/>
          </a:bodyPr>
          <a:p>
            <a:r>
              <a:rPr sz="2800" lang="en-US" u="sng">
                <a:solidFill>
                  <a:srgbClr val="000000"/>
                </a:solidFill>
              </a:rPr>
              <a:t>Causes</a:t>
            </a:r>
            <a:r>
              <a:rPr sz="2800" lang="en-US">
                <a:solidFill>
                  <a:srgbClr val="000000"/>
                </a:solidFill>
              </a:rPr>
              <a:t>: H’s and T’s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Hypovolemia </a:t>
            </a:r>
            <a:r>
              <a:rPr b="1" sz="2800" lang="en-US">
                <a:solidFill>
                  <a:srgbClr val="000000"/>
                </a:solidFill>
              </a:rPr>
              <a:t>#1 cause </a:t>
            </a:r>
            <a:endParaRPr b="1"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Hypoxia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Hydrogen ions (acidosis)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Hypo / Hyperkalemia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Hypothermia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Toxins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Tamponade (cardiac)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Tension pneumothorax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Thrombosis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Trauma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Massive MI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• Overdose of tricyclic antidepressants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593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sz="4000" lang="en-US">
                <a:solidFill>
                  <a:srgbClr val="FFFFFF"/>
                </a:solidFill>
                <a:latin typeface="Arial"/>
              </a:rPr>
              <a:t>Causes and S/S of 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(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PEA</a:t>
            </a:r>
            <a:r>
              <a:rPr altLang="zh-CN" sz="4000" lang="en-US">
                <a:solidFill>
                  <a:srgbClr val="FFFFFF"/>
                </a:solidFill>
                <a:latin typeface="Arial"/>
              </a:rPr>
              <a:t>)</a:t>
            </a:r>
            <a:endParaRPr altLang="zh-CN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-106527" y="0"/>
            <a:ext cx="9033261" cy="1307770"/>
          </a:xfrm>
          <a:solidFill>
            <a:srgbClr val="800000"/>
          </a:solidFill>
        </p:spPr>
        <p:txBody>
          <a:bodyPr/>
          <a:p>
            <a:r>
              <a:rPr b="1" dirty="0" lang="en-GB" smtClean="0">
                <a:solidFill>
                  <a:srgbClr val="FFFFFF"/>
                </a:solidFill>
              </a:rPr>
              <a:t>PR INTERVAL</a:t>
            </a:r>
            <a:endParaRPr b="1" dirty="0" lang="en-GB">
              <a:solidFill>
                <a:srgbClr val="FFFFFF"/>
              </a:solidFill>
            </a:endParaRPr>
          </a:p>
        </p:txBody>
      </p:sp>
      <p:pic>
        <p:nvPicPr>
          <p:cNvPr id="2097155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-106527" y="1307770"/>
            <a:ext cx="4192478" cy="5217197"/>
          </a:xfrm>
        </p:spPr>
      </p:pic>
      <p:pic>
        <p:nvPicPr>
          <p:cNvPr id="2097156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034790" y="0"/>
            <a:ext cx="5109210" cy="6345405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"/>
          <p:cNvSpPr>
            <a:spLocks noGrp="1"/>
          </p:cNvSpPr>
          <p:nvPr>
            <p:ph type="ctrTitle"/>
          </p:nvPr>
        </p:nvSpPr>
        <p:spPr>
          <a:xfrm>
            <a:off x="-143119" y="0"/>
            <a:ext cx="9287765" cy="1405398"/>
          </a:xfrm>
          <a:solidFill>
            <a:srgbClr val="800000"/>
          </a:solidFill>
        </p:spPr>
        <p:txBody>
          <a:bodyPr>
            <a:normAutofit/>
          </a:bodyPr>
          <a:p>
            <a:r>
              <a:rPr b="1" sz="4000" lang="en-US">
                <a:solidFill>
                  <a:srgbClr val="FFFFFF"/>
                </a:solidFill>
              </a:rPr>
              <a:t>Overview of Wolff-Parkinson-White (WPW) Syndrome</a:t>
            </a:r>
            <a:endParaRPr b="1" lang="en-US">
              <a:solidFill>
                <a:srgbClr val="FFFFFF"/>
              </a:solidFill>
            </a:endParaRPr>
          </a:p>
        </p:txBody>
      </p:sp>
      <p:sp>
        <p:nvSpPr>
          <p:cNvPr id="1048608" name=""/>
          <p:cNvSpPr txBox="1"/>
          <p:nvPr/>
        </p:nvSpPr>
        <p:spPr>
          <a:xfrm>
            <a:off x="0" y="1586330"/>
            <a:ext cx="8737666" cy="5539739"/>
          </a:xfrm>
          <a:prstGeom prst="rect"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lang="en-US">
                <a:solidFill>
                  <a:srgbClr val="000000"/>
                </a:solidFill>
                <a:latin typeface="Arial"/>
              </a:rPr>
              <a:t>WPW Syndrome refers to the presence of a congenital accessory pathway (AP) and episodes of tachyarrhythmias. The term is often used interchangeablely with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pre-excitation syndrome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.</a:t>
            </a:r>
            <a:endParaRPr b="1" sz="2400" lang="en-US">
              <a:solidFill>
                <a:srgbClr val="000000"/>
              </a:solidFill>
            </a:endParaRPr>
          </a:p>
          <a:p>
            <a:pPr algn="l"/>
            <a:endParaRPr b="1" sz="3200" lang="en-US">
              <a:solidFill>
                <a:srgbClr val="000000"/>
              </a:solidFill>
            </a:endParaRPr>
          </a:p>
          <a:p>
            <a:pPr algn="l"/>
            <a:r>
              <a:rPr sz="2800" lang="en-US">
                <a:solidFill>
                  <a:srgbClr val="000000"/>
                </a:solidFill>
                <a:latin typeface="Arial"/>
              </a:rPr>
              <a:t>First described in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1930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by Louis Wolff, John Parkinson and Paul Dudley White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400" lang="en-US">
              <a:solidFill>
                <a:srgbClr val="000000"/>
              </a:solidFill>
            </a:endParaRPr>
          </a:p>
          <a:p>
            <a:pPr algn="l"/>
            <a:endParaRPr sz="4000" lang="en-US">
              <a:solidFill>
                <a:srgbClr val="000000"/>
              </a:solidFill>
            </a:endParaRPr>
          </a:p>
          <a:p>
            <a:pPr algn="l"/>
            <a:r>
              <a:rPr sz="2800" lang="en-US">
                <a:solidFill>
                  <a:srgbClr val="000000"/>
                </a:solidFill>
                <a:latin typeface="Arial"/>
              </a:rPr>
              <a:t>Incidence is 0.1 – 3.0 per 1000</a:t>
            </a:r>
            <a:endParaRPr sz="2400" lang="en-US">
              <a:solidFill>
                <a:srgbClr val="000000"/>
              </a:solidFill>
            </a:endParaRPr>
          </a:p>
          <a:p>
            <a:pPr algn="l"/>
            <a:endParaRPr sz="4000" lang="en-US">
              <a:solidFill>
                <a:srgbClr val="000000"/>
              </a:solidFill>
            </a:endParaRPr>
          </a:p>
          <a:p>
            <a:pPr algn="l"/>
            <a:r>
              <a:rPr sz="2800" lang="en-US">
                <a:solidFill>
                  <a:srgbClr val="000000"/>
                </a:solidFill>
                <a:latin typeface="Arial"/>
              </a:rPr>
              <a:t>Associated with a small risk of sudden cardiac death</a:t>
            </a:r>
            <a:endParaRPr sz="2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61500" y="0"/>
            <a:ext cx="8944644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86346" y="42989"/>
            <a:ext cx="9131338" cy="671171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353225"/>
            <a:ext cx="9144000" cy="5687642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"/>
          <p:cNvSpPr txBox="1"/>
          <p:nvPr/>
        </p:nvSpPr>
        <p:spPr>
          <a:xfrm>
            <a:off x="65579" y="0"/>
            <a:ext cx="8884517" cy="63779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Sinus rhythm with a very short PR interval (&lt; 120 ms)</a:t>
            </a:r>
            <a:endParaRPr sz="2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Broad QRS complexes with a slurred upstroke to the QRS complex — the delta wave</a:t>
            </a:r>
            <a:endParaRPr sz="2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D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ominant R wave in V1 suggests a left-sided AP, and is sometimes referred to as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“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Type A” WPW</a:t>
            </a:r>
            <a:endParaRPr b="1" sz="2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Tall R waves and inverted T waves in V1-3 mimicking right ventricular hypertrophy (RVH) — these changes are due to WPW and do not indicate underlying RVH</a:t>
            </a:r>
            <a:endParaRPr sz="24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Negative delta wave in aVL simulating the Q waves of lateral infarction — this is referred to as the “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pseudo-infarction”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pattern</a:t>
            </a:r>
            <a:endParaRPr sz="24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355940"/>
            <a:ext cx="9065273" cy="6070637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"/>
          <p:cNvSpPr txBox="1"/>
          <p:nvPr/>
        </p:nvSpPr>
        <p:spPr>
          <a:xfrm>
            <a:off x="193179" y="0"/>
            <a:ext cx="8805555" cy="59588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S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i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nus rhythm with very short PR interval (&lt; 120 ms)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Broad QRS complexes with a slurred upstroke to the QRS complexes — 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the delta wave</a:t>
            </a:r>
            <a:endParaRPr b="1"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Dominant S wave in V1 indicates a right-sided AP — sometimes referred to as “</a:t>
            </a:r>
            <a:r>
              <a:rPr b="1" sz="2800" lang="en-US">
                <a:solidFill>
                  <a:srgbClr val="000000"/>
                </a:solidFill>
                <a:latin typeface="Arial"/>
              </a:rPr>
              <a:t>Type B” WPW</a:t>
            </a:r>
            <a:endParaRPr b="1" sz="2800" lang="en-US">
              <a:solidFill>
                <a:srgbClr val="000000"/>
              </a:solidFill>
            </a:endParaRPr>
          </a:p>
          <a:p>
            <a:endParaRPr b="1"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•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 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Tall R waves and inverted T waves in the inferior leads and V4-6 mimic the appearance of left ventricular hypertrophy (LVH) — again, this is due to WPW and does not indicate underlying LVH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"/>
          <p:cNvSpPr txBox="1"/>
          <p:nvPr/>
        </p:nvSpPr>
        <p:spPr>
          <a:xfrm>
            <a:off x="40166" y="1174491"/>
            <a:ext cx="9060762" cy="5120640"/>
          </a:xfrm>
          <a:prstGeom prst="rect"/>
        </p:spPr>
        <p:txBody>
          <a:bodyPr rtlCol="0" wrap="square">
            <a:spAutoFit/>
          </a:bodyPr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lang="en-US">
                <a:solidFill>
                  <a:srgbClr val="000000"/>
                </a:solidFill>
                <a:latin typeface="Arial"/>
              </a:rPr>
              <a:t>QTc simply means corrected QT interval.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QT interval contains entire duration of a ventricular activity, from the period of its depolarization to its repolarization.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Normal QT interval = 0.36 — 0.44s (9 - 11 small boxes)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QTc prolongation can vary in gender; female (360 — 450msec) and male (360 h 470msec).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Formula =                          QT (msec)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  <a:latin typeface="Arial"/>
              </a:rPr>
              <a:t>                                         √(R — R interval) in seconds.                              (Bazett criteria</a:t>
            </a:r>
            <a:r>
              <a:rPr sz="2800" lang="en-US">
                <a:solidFill>
                  <a:srgbClr val="000000"/>
                </a:solidFill>
                <a:latin typeface="Arial"/>
              </a:rPr>
              <a:t>)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32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400" lang="en-US">
                <a:solidFill>
                  <a:srgbClr val="FFFFFF"/>
                </a:solidFill>
                <a:latin typeface="Arial"/>
              </a:rPr>
              <a:t>Corected QT interval (QTc)</a:t>
            </a:r>
            <a:endParaRPr altLang="zh-CN" b="1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Content Placeholder 2"/>
          <p:cNvSpPr>
            <a:spLocks noGrp="1"/>
          </p:cNvSpPr>
          <p:nvPr/>
        </p:nvSpPr>
        <p:spPr>
          <a:xfrm>
            <a:off x="168372" y="1051169"/>
            <a:ext cx="8568939" cy="5406196"/>
          </a:xfrm>
          <a:prstGeom prst="rect"/>
        </p:spPr>
        <p:txBody>
          <a:bodyPr bIns="45720" lIns="0" rIns="0" rtlCol="0" tIns="45720" vert="horz">
            <a:normAutofit fontScale="95000"/>
          </a:bodyPr>
          <a:lstStyle>
            <a:lvl1pPr algn="l" defTabSz="914400" eaLnBrk="1" hangingPunct="1" indent="-91440" latinLnBrk="0" marL="9144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D34817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indent="-182880" latinLnBrk="0" marL="384048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8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indent="-182880" latinLnBrk="0" marL="566928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indent="-182880" latinLnBrk="0" marL="749808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indent="-182880" latinLnBrk="0" marL="932688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indent="-228600" latinLnBrk="0" marL="11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indent="-228600" latinLnBrk="0" marL="13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indent="-228600" latinLnBrk="0" marL="15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indent="-228600" latinLnBrk="0" marL="1700000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D34817"/>
              </a:buClr>
              <a:buFont typeface="Calibri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514350" marL="514350">
              <a:buAutoNum type="arabicPeriod"/>
            </a:pPr>
            <a:r>
              <a:rPr b="1" dirty="0" sz="2500" lang="en-GB" smtClean="0">
                <a:solidFill>
                  <a:srgbClr val="000000"/>
                </a:solidFill>
                <a:latin typeface="Calibri"/>
              </a:rPr>
              <a:t>Calculate </a:t>
            </a:r>
            <a:r>
              <a:rPr b="1" dirty="0" sz="2500" lang="en-GB">
                <a:solidFill>
                  <a:srgbClr val="000000"/>
                </a:solidFill>
                <a:latin typeface="Calibri"/>
              </a:rPr>
              <a:t>QT interval</a:t>
            </a:r>
            <a:r>
              <a:rPr b="1" dirty="0" sz="2500" lang="en-GB" smtClean="0">
                <a:solidFill>
                  <a:srgbClr val="000000"/>
                </a:solidFill>
                <a:latin typeface="Calibri"/>
              </a:rPr>
              <a:t>:</a:t>
            </a:r>
            <a:endParaRPr b="1" dirty="0" sz="2500" lang="en-GB" smtClean="0">
              <a:solidFill>
                <a:srgbClr val="000000"/>
              </a:solidFill>
            </a:endParaRPr>
          </a:p>
          <a:p>
            <a:pPr indent="-514350" marL="514350">
              <a:buAutoNum type="arabicPeriod"/>
            </a:pPr>
            <a:endParaRPr dirty="0" sz="2500" lang="en-GB">
              <a:solidFill>
                <a:srgbClr val="000000"/>
              </a:solidFill>
            </a:endParaRPr>
          </a:p>
          <a:p>
            <a:pPr lvl="0" marL="990600"/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Count 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small boxes from the end of PR segment </a:t>
            </a:r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to 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the end of T wave. </a:t>
            </a:r>
            <a:endParaRPr dirty="0" sz="2500" lang="en-GB" smtClean="0">
              <a:solidFill>
                <a:srgbClr val="000000"/>
              </a:solidFill>
            </a:endParaRPr>
          </a:p>
          <a:p>
            <a:pPr lvl="0" marL="990600"/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Multiply the result by 0.04s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 </a:t>
            </a:r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to covert to seconds.</a:t>
            </a:r>
            <a:endParaRPr dirty="0" sz="2500" lang="en-GB" smtClean="0">
              <a:solidFill>
                <a:srgbClr val="000000"/>
              </a:solidFill>
            </a:endParaRPr>
          </a:p>
          <a:p>
            <a:pPr lvl="0" marL="990600"/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Convert 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your answer which is in seconds to milliseconds by multiplying by 1000.</a:t>
            </a:r>
            <a:endParaRPr dirty="0" sz="2500" lang="en-GB">
              <a:solidFill>
                <a:srgbClr val="000000"/>
              </a:solidFill>
            </a:endParaRPr>
          </a:p>
          <a:p>
            <a:pPr indent="0" marL="0">
              <a:buNone/>
            </a:pPr>
            <a:endParaRPr b="1" dirty="0" sz="2500" lang="en-GB" smtClean="0">
              <a:solidFill>
                <a:srgbClr val="000000"/>
              </a:solidFill>
            </a:endParaRPr>
          </a:p>
          <a:p>
            <a:pPr indent="0" marL="0">
              <a:buNone/>
            </a:pPr>
            <a:r>
              <a:rPr b="1" dirty="0" sz="2500" lang="en-GB" smtClean="0">
                <a:solidFill>
                  <a:srgbClr val="000000"/>
                </a:solidFill>
                <a:latin typeface="Calibri"/>
              </a:rPr>
              <a:t>2. Calculate </a:t>
            </a:r>
            <a:r>
              <a:rPr b="1" dirty="0" sz="2500" lang="en-GB">
                <a:solidFill>
                  <a:srgbClr val="000000"/>
                </a:solidFill>
                <a:latin typeface="Calibri"/>
              </a:rPr>
              <a:t>R-R </a:t>
            </a:r>
            <a:r>
              <a:rPr b="1" dirty="0" sz="2500" lang="en-GB" smtClean="0">
                <a:solidFill>
                  <a:srgbClr val="000000"/>
                </a:solidFill>
                <a:latin typeface="Calibri"/>
              </a:rPr>
              <a:t>interval</a:t>
            </a:r>
            <a:endParaRPr dirty="0" sz="2500" lang="en-GB" smtClean="0">
              <a:solidFill>
                <a:srgbClr val="000000"/>
              </a:solidFill>
            </a:endParaRPr>
          </a:p>
          <a:p>
            <a:pPr marL="901700"/>
            <a:r>
              <a:rPr dirty="0" sz="2500" lang="en-GB">
                <a:solidFill>
                  <a:srgbClr val="000000"/>
                </a:solidFill>
                <a:latin typeface="Calibri"/>
              </a:rPr>
              <a:t>Calculate the heart rate first. Then find R-R </a:t>
            </a:r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interval;</a:t>
            </a:r>
            <a:endParaRPr dirty="0" sz="2500" lang="en-GB" smtClean="0">
              <a:solidFill>
                <a:srgbClr val="000000"/>
              </a:solidFill>
            </a:endParaRPr>
          </a:p>
          <a:p>
            <a:pPr marL="901700"/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R-R 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interval =	</a:t>
            </a:r>
            <a:r>
              <a:rPr dirty="0" sz="2500" lang="en-GB" u="sng">
                <a:solidFill>
                  <a:srgbClr val="000000"/>
                </a:solidFill>
                <a:latin typeface="Calibri"/>
              </a:rPr>
              <a:t>60	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										</a:t>
            </a:r>
            <a:r>
              <a:rPr dirty="0" sz="2500" lang="en-GB" smtClean="0">
                <a:solidFill>
                  <a:srgbClr val="000000"/>
                </a:solidFill>
                <a:latin typeface="Calibri"/>
              </a:rPr>
              <a:t>Heart </a:t>
            </a:r>
            <a:r>
              <a:rPr dirty="0" sz="2500" lang="en-GB">
                <a:solidFill>
                  <a:srgbClr val="000000"/>
                </a:solidFill>
                <a:latin typeface="Calibri"/>
              </a:rPr>
              <a:t>rate</a:t>
            </a:r>
            <a:endParaRPr dirty="0" sz="2500" lang="en-GB">
              <a:solidFill>
                <a:srgbClr val="000000"/>
              </a:solidFill>
            </a:endParaRPr>
          </a:p>
          <a:p>
            <a:endParaRPr dirty="0" lang="en-GB"/>
          </a:p>
        </p:txBody>
      </p:sp>
      <p:sp>
        <p:nvSpPr>
          <p:cNvPr id="1048634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400" lang="en-US">
                <a:solidFill>
                  <a:srgbClr val="FFFFFF"/>
                </a:solidFill>
                <a:latin typeface="Arial"/>
              </a:rPr>
              <a:t>HOW TO CALCULATE QTc</a:t>
            </a:r>
            <a:endParaRPr altLang="zh-CN" b="1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"/>
          <p:cNvGraphicFramePr>
            <a:graphicFrameLocks/>
          </p:cNvGraphicFramePr>
          <p:nvPr/>
        </p:nvGraphicFramePr>
        <p:xfrm>
          <a:off x="-93283" y="1506902"/>
          <a:ext cx="9103084" cy="5346116"/>
        </p:xfrm>
        <a:graphic>
          <a:graphicData uri="http://schemas.openxmlformats.org/drawingml/2006/table">
            <a:tbl>
              <a:tblPr firstRow="1" bandRow="1">
                <a:tableStyleId>{ED083AE6-46FA-4A59-8FB0-9F97EB1071A0}</a:tableStyleId>
              </a:tblPr>
              <a:tblGrid>
                <a:gridCol w="4551542"/>
                <a:gridCol w="4551542"/>
              </a:tblGrid>
              <a:tr h="4295338">
                <a:tc>
                  <a:txBody>
                    <a:bodyPr/>
                    <a:p>
                      <a:r>
                        <a:rPr altLang="en-US" sz="3600" lang="en-US"/>
                        <a:t>P</a:t>
                      </a:r>
                      <a:r>
                        <a:rPr altLang="en-US" sz="3600" lang="en-US"/>
                        <a:t>r</a:t>
                      </a:r>
                      <a:r>
                        <a:rPr altLang="en-US" sz="3600" lang="en-US"/>
                        <a:t>o</a:t>
                      </a:r>
                      <a:r>
                        <a:rPr altLang="en-US" sz="3600" lang="en-US"/>
                        <a:t>l</a:t>
                      </a:r>
                      <a:r>
                        <a:rPr altLang="en-US" sz="3600" lang="en-US"/>
                        <a:t>o</a:t>
                      </a:r>
                      <a:r>
                        <a:rPr altLang="en-US" sz="3600" lang="en-US"/>
                        <a:t>nged</a:t>
                      </a:r>
                      <a:r>
                        <a:rPr altLang="en-US" sz="2000" lang="en-US"/>
                        <a:t> </a:t>
                      </a:r>
                      <a:r>
                        <a:rPr altLang="en-US" sz="2000" lang="en-US"/>
                        <a:t> </a:t>
                      </a:r>
                      <a:r>
                        <a:rPr altLang="en-US" b="1" sz="3600" lang="en-US"/>
                        <a:t>Q</a:t>
                      </a:r>
                      <a:r>
                        <a:rPr altLang="en-US" b="1" sz="3600" lang="en-US"/>
                        <a:t>T</a:t>
                      </a:r>
                      <a:endParaRPr altLang="en-US" b="1" lang="en-US"/>
                    </a:p>
                  </a:txBody>
                </a:tc>
                <a:tc>
                  <a:txBody>
                    <a:bodyPr/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Anti-Arrhythmics e.g amiodarone.</a:t>
                      </a:r>
                      <a:endParaRPr altLang="en-US" b="0" sz="2800" lang="en-US"/>
                    </a:p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Anti-Biotics e.g Ketoconazole.</a:t>
                      </a:r>
                      <a:endParaRPr altLang="en-US" b="0" sz="2800" lang="en-US"/>
                    </a:p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Anti-psychotics e.g Haloperidol.</a:t>
                      </a:r>
                      <a:endParaRPr altLang="en-US" b="0" sz="2800" lang="en-US"/>
                    </a:p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Anti-depressants e.g Amitriptyline.</a:t>
                      </a:r>
                      <a:endParaRPr altLang="en-US" b="0" sz="2800" lang="en-US"/>
                    </a:p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Anti-emetics e.g Metoclopramide.</a:t>
                      </a:r>
                      <a:endParaRPr altLang="en-US" b="0" sz="2800" lang="en-US"/>
                    </a:p>
                    <a:p>
                      <a:pPr algn="l"/>
                      <a:r>
                        <a:rPr altLang="en-US" b="0" sz="2400" lang="en-US"/>
                        <a:t>•</a:t>
                      </a:r>
                      <a:r>
                        <a:rPr altLang="en-US" b="0" sz="2400" lang="en-US"/>
                        <a:t> </a:t>
                      </a:r>
                      <a:r>
                        <a:rPr altLang="en-US" b="0" sz="2400" lang="en-US"/>
                        <a:t>HypoK/HypoMg/HypoC</a:t>
                      </a:r>
                      <a:endParaRPr altLang="en-US" b="0" lang="en-US"/>
                    </a:p>
                  </a:txBody>
                </a:tc>
              </a:tr>
              <a:tr h="1050777">
                <a:tc>
                  <a:txBody>
                    <a:bodyPr/>
                    <a:p>
                      <a:r>
                        <a:rPr altLang="en-US" b="1" sz="3600" lang="en-US"/>
                        <a:t>S</a:t>
                      </a:r>
                      <a:r>
                        <a:rPr altLang="en-US" b="1" sz="3600" lang="en-US"/>
                        <a:t>h</a:t>
                      </a:r>
                      <a:r>
                        <a:rPr altLang="en-US" b="1" sz="3600" lang="en-US"/>
                        <a:t>o</a:t>
                      </a:r>
                      <a:r>
                        <a:rPr altLang="en-US" b="1" sz="3600" lang="en-US"/>
                        <a:t>r</a:t>
                      </a:r>
                      <a:r>
                        <a:rPr altLang="en-US" b="1" sz="3600" lang="en-US"/>
                        <a:t>t</a:t>
                      </a:r>
                      <a:r>
                        <a:rPr altLang="en-US" b="1" sz="3600" lang="en-US"/>
                        <a:t>ened</a:t>
                      </a:r>
                      <a:r>
                        <a:rPr altLang="en-US" sz="2000" lang="en-US"/>
                        <a:t> </a:t>
                      </a:r>
                      <a:r>
                        <a:rPr altLang="en-US" sz="2000" lang="en-US"/>
                        <a:t> </a:t>
                      </a:r>
                      <a:r>
                        <a:rPr altLang="en-US" b="1" sz="3600" lang="en-US"/>
                        <a:t>Q</a:t>
                      </a:r>
                      <a:r>
                        <a:rPr altLang="en-US" b="1" sz="3600" lang="en-US"/>
                        <a:t>T</a:t>
                      </a:r>
                      <a:endParaRPr altLang="en-US" b="1" lang="en-US"/>
                    </a:p>
                  </a:txBody>
                </a:tc>
                <a:tc>
                  <a:txBody>
                    <a:bodyPr/>
                    <a:p>
                      <a:r>
                        <a:rPr altLang="en-US" sz="2400" lang="en-US"/>
                        <a:t>•</a:t>
                      </a:r>
                      <a:r>
                        <a:rPr altLang="en-US" sz="2400" lang="en-US"/>
                        <a:t> </a:t>
                      </a:r>
                      <a:r>
                        <a:rPr altLang="en-US" sz="2400" lang="en-US"/>
                        <a:t>HyperCa/HyperK</a:t>
                      </a:r>
                      <a:endParaRPr altLang="en-US" lang="en-US"/>
                    </a:p>
                  </a:txBody>
                </a:tc>
              </a:tr>
            </a:tbl>
          </a:graphicData>
        </a:graphic>
      </p:graphicFrame>
      <p:sp>
        <p:nvSpPr>
          <p:cNvPr id="1048635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400" lang="en-US">
                <a:solidFill>
                  <a:srgbClr val="FFFFFF"/>
                </a:solidFill>
                <a:latin typeface="Arial"/>
              </a:rPr>
              <a:t>D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U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G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AT 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O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ONGED 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Q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400" lang="en-US">
                <a:solidFill>
                  <a:srgbClr val="FFFFFF"/>
                </a:solidFill>
                <a:latin typeface="Arial"/>
              </a:rPr>
              <a:t>c</a:t>
            </a:r>
            <a:endParaRPr altLang="zh-CN" b="1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Title 1"/>
          <p:cNvSpPr>
            <a:spLocks noGrp="1"/>
          </p:cNvSpPr>
          <p:nvPr/>
        </p:nvSpPr>
        <p:spPr>
          <a:xfrm>
            <a:off x="-188862" y="-455727"/>
            <a:ext cx="9294242" cy="1159843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l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and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tainted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wave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(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y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k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alemia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)</a:t>
            </a:r>
            <a:endParaRPr altLang="zh-CN" b="1" lang="en-US">
              <a:solidFill>
                <a:srgbClr val="FFFFFF"/>
              </a:solidFill>
            </a:endParaRPr>
          </a:p>
        </p:txBody>
      </p:sp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74885" y="704115"/>
            <a:ext cx="9351228" cy="4768847"/>
          </a:xfrm>
          <a:prstGeom prst="rect"/>
        </p:spPr>
      </p:pic>
      <p:sp>
        <p:nvSpPr>
          <p:cNvPr id="1048746" name=""/>
          <p:cNvSpPr txBox="1"/>
          <p:nvPr/>
        </p:nvSpPr>
        <p:spPr>
          <a:xfrm>
            <a:off x="143530" y="5638968"/>
            <a:ext cx="8856940" cy="1056639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Tall, narrow, symmetrically peaked T-waves are characteristically seen in hyperkalaemia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Title 1"/>
          <p:cNvSpPr>
            <a:spLocks noGrp="1"/>
          </p:cNvSpPr>
          <p:nvPr/>
        </p:nvSpPr>
        <p:spPr>
          <a:xfrm>
            <a:off x="-188862" y="-455727"/>
            <a:ext cx="9294242" cy="1159843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0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y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e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u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e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w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ave</a:t>
            </a:r>
            <a:endParaRPr altLang="zh-CN" b="1" lang="en-US">
              <a:solidFill>
                <a:srgbClr val="FFFFFF"/>
              </a:solidFill>
            </a:endParaRPr>
          </a:p>
        </p:txBody>
      </p:sp>
      <p:pic>
        <p:nvPicPr>
          <p:cNvPr id="209716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171692" y="756037"/>
            <a:ext cx="9277072" cy="4673893"/>
          </a:xfrm>
          <a:prstGeom prst="rect"/>
        </p:spPr>
      </p:pic>
      <p:sp>
        <p:nvSpPr>
          <p:cNvPr id="1048751" name=""/>
          <p:cNvSpPr txBox="1"/>
          <p:nvPr/>
        </p:nvSpPr>
        <p:spPr>
          <a:xfrm>
            <a:off x="39915" y="5318761"/>
            <a:ext cx="9064171" cy="1539239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Broad, asymmetrically peaked or ‘</a:t>
            </a:r>
            <a:r>
              <a:rPr b="1" sz="3200" lang="en-US">
                <a:solidFill>
                  <a:srgbClr val="000000"/>
                </a:solidFill>
              </a:rPr>
              <a:t>hyperacute’ T-waves (HATW)</a:t>
            </a:r>
            <a:r>
              <a:rPr sz="3200" lang="en-US">
                <a:solidFill>
                  <a:srgbClr val="000000"/>
                </a:solidFill>
              </a:rPr>
              <a:t> are seen in the early stages of ST-elevation MI (STEMI</a:t>
            </a:r>
            <a:r>
              <a:rPr sz="3200" lang="en-US">
                <a:solidFill>
                  <a:srgbClr val="000000"/>
                </a:solidFill>
              </a:rPr>
              <a:t>)</a:t>
            </a:r>
            <a:r>
              <a:rPr sz="32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itle 1"/>
          <p:cNvSpPr>
            <a:spLocks noGrp="1"/>
          </p:cNvSpPr>
          <p:nvPr/>
        </p:nvSpPr>
        <p:spPr>
          <a:xfrm>
            <a:off x="-188862" y="-455727"/>
            <a:ext cx="9294242" cy="1159843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000" lang="en-US">
                <a:solidFill>
                  <a:srgbClr val="FFFFFF"/>
                </a:solidFill>
                <a:latin typeface="Arial"/>
              </a:rPr>
              <a:t>B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waves </a:t>
            </a:r>
            <a:endParaRPr altLang="zh-CN" b="1" lang="en-US">
              <a:solidFill>
                <a:srgbClr val="FFFFFF"/>
              </a:solidFill>
            </a:endParaRPr>
          </a:p>
        </p:txBody>
      </p:sp>
      <p:sp>
        <p:nvSpPr>
          <p:cNvPr id="1048752" name=""/>
          <p:cNvSpPr txBox="1"/>
          <p:nvPr/>
        </p:nvSpPr>
        <p:spPr>
          <a:xfrm>
            <a:off x="201812" y="704116"/>
            <a:ext cx="8882845" cy="2453640"/>
          </a:xfrm>
          <a:prstGeom prst="rect"/>
        </p:spPr>
        <p:txBody>
          <a:bodyPr rtlCol="0" wrap="square">
            <a:spAutoFit/>
          </a:bodyPr>
          <a:p>
            <a:r>
              <a:rPr altLang="en-US" sz="2800" lang="en-US">
                <a:solidFill>
                  <a:srgbClr val="000000"/>
                </a:solidFill>
              </a:rPr>
              <a:t>There are two main causes of biphasic T waves:</a:t>
            </a:r>
            <a:endParaRPr altLang="en-US" lang="zh-CN"/>
          </a:p>
          <a:p>
            <a:r>
              <a:rPr altLang="en-US" sz="2800" lang="en-US">
                <a:solidFill>
                  <a:srgbClr val="000000"/>
                </a:solidFill>
              </a:rPr>
              <a:t>•</a:t>
            </a:r>
            <a:r>
              <a:rPr altLang="en-US" sz="2800" lang="en-US">
                <a:solidFill>
                  <a:srgbClr val="000000"/>
                </a:solidFill>
              </a:rPr>
              <a:t> </a:t>
            </a:r>
            <a:r>
              <a:rPr altLang="en-US" sz="2800" lang="en-US">
                <a:solidFill>
                  <a:srgbClr val="000000"/>
                </a:solidFill>
              </a:rPr>
              <a:t>Myocardial ischaemia</a:t>
            </a:r>
            <a:endParaRPr altLang="en-US" lang="zh-CN"/>
          </a:p>
          <a:p>
            <a:r>
              <a:rPr altLang="en-US" sz="2800" lang="en-US">
                <a:solidFill>
                  <a:srgbClr val="000000"/>
                </a:solidFill>
              </a:rPr>
              <a:t>•</a:t>
            </a:r>
            <a:r>
              <a:rPr altLang="en-US" sz="2800" lang="en-US">
                <a:solidFill>
                  <a:srgbClr val="000000"/>
                </a:solidFill>
              </a:rPr>
              <a:t> </a:t>
            </a:r>
            <a:r>
              <a:rPr altLang="en-US" sz="2800" lang="en-US">
                <a:solidFill>
                  <a:srgbClr val="000000"/>
                </a:solidFill>
              </a:rPr>
              <a:t>Hypokalaemia</a:t>
            </a:r>
            <a:endParaRPr altLang="en-US" lang="zh-CN"/>
          </a:p>
          <a:p>
            <a:endParaRPr altLang="en-US" lang="zh-CN"/>
          </a:p>
          <a:p>
            <a:r>
              <a:rPr altLang="en-US" sz="2800" lang="en-US">
                <a:solidFill>
                  <a:srgbClr val="000000"/>
                </a:solidFill>
              </a:rPr>
              <a:t>Biphasic T waves due to ischaemia – T waves go </a:t>
            </a:r>
            <a:r>
              <a:rPr altLang="en-US" b="1" sz="2800" lang="en-US">
                <a:solidFill>
                  <a:srgbClr val="000000"/>
                </a:solidFill>
              </a:rPr>
              <a:t>UP</a:t>
            </a:r>
            <a:r>
              <a:rPr altLang="en-US" sz="2800" lang="en-US">
                <a:solidFill>
                  <a:srgbClr val="000000"/>
                </a:solidFill>
              </a:rPr>
              <a:t> then </a:t>
            </a:r>
            <a:r>
              <a:rPr altLang="en-US" b="1" sz="2800" lang="en-US">
                <a:solidFill>
                  <a:srgbClr val="000000"/>
                </a:solidFill>
              </a:rPr>
              <a:t>DOWN</a:t>
            </a:r>
            <a:r>
              <a:rPr altLang="en-US" b="1" sz="2800" lang="en-US">
                <a:solidFill>
                  <a:srgbClr val="000000"/>
                </a:solidFill>
              </a:rPr>
              <a:t>.</a:t>
            </a:r>
            <a:endParaRPr altLang="en-US" b="1" lang="zh-CN"/>
          </a:p>
        </p:txBody>
      </p:sp>
      <p:pic>
        <p:nvPicPr>
          <p:cNvPr id="209716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74847" y="3299762"/>
            <a:ext cx="8910868" cy="3618637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/>
        </p:nvSpPr>
        <p:spPr>
          <a:xfrm>
            <a:off x="-188862" y="-455727"/>
            <a:ext cx="9294242" cy="1159843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4000" lang="en-US">
                <a:solidFill>
                  <a:srgbClr val="FFFFFF"/>
                </a:solidFill>
                <a:latin typeface="Arial"/>
              </a:rPr>
              <a:t>B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p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h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4000" lang="en-US">
                <a:solidFill>
                  <a:srgbClr val="FFFFFF"/>
                </a:solidFill>
                <a:latin typeface="Arial"/>
              </a:rPr>
              <a:t>waves </a:t>
            </a:r>
            <a:endParaRPr altLang="zh-CN" b="1" lang="en-US">
              <a:solidFill>
                <a:srgbClr val="FFFFFF"/>
              </a:solidFill>
            </a:endParaRPr>
          </a:p>
        </p:txBody>
      </p:sp>
      <p:sp>
        <p:nvSpPr>
          <p:cNvPr id="1048755" name=""/>
          <p:cNvSpPr txBox="1"/>
          <p:nvPr/>
        </p:nvSpPr>
        <p:spPr>
          <a:xfrm>
            <a:off x="0" y="936743"/>
            <a:ext cx="8766279" cy="9296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Biphasic T waves due to Hypokalaemia – T waves go </a:t>
            </a:r>
            <a:r>
              <a:rPr b="1" sz="2800" lang="en-US">
                <a:solidFill>
                  <a:srgbClr val="000000"/>
                </a:solidFill>
              </a:rPr>
              <a:t>DOWN</a:t>
            </a:r>
            <a:r>
              <a:rPr sz="2800" lang="en-US">
                <a:solidFill>
                  <a:srgbClr val="000000"/>
                </a:solidFill>
              </a:rPr>
              <a:t> then </a:t>
            </a:r>
            <a:r>
              <a:rPr b="1" sz="2800" lang="en-US">
                <a:solidFill>
                  <a:srgbClr val="000000"/>
                </a:solidFill>
              </a:rPr>
              <a:t>UP</a:t>
            </a:r>
            <a:r>
              <a:rPr b="1" sz="2800" lang="en-US">
                <a:solidFill>
                  <a:srgbClr val="000000"/>
                </a:solidFill>
              </a:rPr>
              <a:t>.</a:t>
            </a:r>
            <a:endParaRPr b="1" sz="2800" lang="en-US">
              <a:solidFill>
                <a:srgbClr val="000000"/>
              </a:solidFill>
            </a:endParaRPr>
          </a:p>
        </p:txBody>
      </p:sp>
      <p:pic>
        <p:nvPicPr>
          <p:cNvPr id="209716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23042" y="2013854"/>
            <a:ext cx="8884964" cy="4872236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"/>
          <p:cNvSpPr txBox="1"/>
          <p:nvPr/>
        </p:nvSpPr>
        <p:spPr>
          <a:xfrm>
            <a:off x="124098" y="1049023"/>
            <a:ext cx="8610857" cy="1767841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▪ Ventricular standstill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No palpable pulse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No measurable BP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▪ Loss of consciousness</a:t>
            </a:r>
            <a:endParaRPr sz="2800" lang="en-US">
              <a:solidFill>
                <a:srgbClr val="000000"/>
              </a:solidFill>
            </a:endParaRPr>
          </a:p>
        </p:txBody>
      </p:sp>
      <p:pic>
        <p:nvPicPr>
          <p:cNvPr id="2097161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142474" y="2983233"/>
            <a:ext cx="9144000" cy="2471948"/>
          </a:xfrm>
          <a:prstGeom prst="rect"/>
        </p:spPr>
      </p:pic>
      <p:sp>
        <p:nvSpPr>
          <p:cNvPr id="1048637" name=""/>
          <p:cNvSpPr txBox="1"/>
          <p:nvPr/>
        </p:nvSpPr>
        <p:spPr>
          <a:xfrm>
            <a:off x="124098" y="5509261"/>
            <a:ext cx="8403626" cy="14757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Z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y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tole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ment</a:t>
            </a:r>
            <a:r>
              <a:rPr sz="2800" lang="en-US">
                <a:solidFill>
                  <a:srgbClr val="000000"/>
                </a:solidFill>
              </a:rPr>
              <a:t>: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C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K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e</a:t>
            </a:r>
            <a:r>
              <a:rPr sz="2800" lang="en-US">
                <a:solidFill>
                  <a:srgbClr val="000000"/>
                </a:solidFill>
              </a:rPr>
              <a:t>p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m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d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t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i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l</a:t>
            </a:r>
            <a:r>
              <a:rPr sz="2800" lang="en-US">
                <a:solidFill>
                  <a:srgbClr val="000000"/>
                </a:solidFill>
              </a:rPr>
              <a:t>s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"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N</a:t>
            </a:r>
            <a:r>
              <a:rPr b="1" sz="3200" lang="en-US">
                <a:solidFill>
                  <a:srgbClr val="800000"/>
                </a:solidFill>
              </a:rPr>
              <a:t>o</a:t>
            </a:r>
            <a:r>
              <a:rPr b="1" sz="3200" lang="en-US">
                <a:solidFill>
                  <a:srgbClr val="800000"/>
                </a:solidFill>
              </a:rPr>
              <a:t>n</a:t>
            </a:r>
            <a:r>
              <a:rPr b="1" sz="3200" lang="en-US">
                <a:solidFill>
                  <a:srgbClr val="800000"/>
                </a:solidFill>
              </a:rPr>
              <a:t>s</a:t>
            </a:r>
            <a:r>
              <a:rPr b="1" sz="3200" lang="en-US">
                <a:solidFill>
                  <a:srgbClr val="800000"/>
                </a:solidFill>
              </a:rPr>
              <a:t>h</a:t>
            </a:r>
            <a:r>
              <a:rPr b="1" sz="3200" lang="en-US">
                <a:solidFill>
                  <a:srgbClr val="800000"/>
                </a:solidFill>
              </a:rPr>
              <a:t>o</a:t>
            </a:r>
            <a:r>
              <a:rPr b="1" sz="3200" lang="en-US">
                <a:solidFill>
                  <a:srgbClr val="800000"/>
                </a:solidFill>
              </a:rPr>
              <a:t>c</a:t>
            </a:r>
            <a:r>
              <a:rPr b="1" sz="3200" lang="en-US">
                <a:solidFill>
                  <a:srgbClr val="800000"/>
                </a:solidFill>
              </a:rPr>
              <a:t>k</a:t>
            </a:r>
            <a:r>
              <a:rPr b="1" sz="3200" lang="en-US">
                <a:solidFill>
                  <a:srgbClr val="800000"/>
                </a:solidFill>
              </a:rPr>
              <a:t>a</a:t>
            </a:r>
            <a:r>
              <a:rPr b="1" sz="3200" lang="en-US">
                <a:solidFill>
                  <a:srgbClr val="800000"/>
                </a:solidFill>
              </a:rPr>
              <a:t>b</a:t>
            </a:r>
            <a:r>
              <a:rPr b="1" sz="3200" lang="en-US">
                <a:solidFill>
                  <a:srgbClr val="800000"/>
                </a:solidFill>
              </a:rPr>
              <a:t>l</a:t>
            </a:r>
            <a:r>
              <a:rPr b="1" sz="3200" lang="en-US">
                <a:solidFill>
                  <a:srgbClr val="800000"/>
                </a:solidFill>
              </a:rPr>
              <a:t>e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r</a:t>
            </a:r>
            <a:r>
              <a:rPr b="1" sz="3200" lang="en-US">
                <a:solidFill>
                  <a:srgbClr val="800000"/>
                </a:solidFill>
              </a:rPr>
              <a:t>h</a:t>
            </a:r>
            <a:r>
              <a:rPr b="1" sz="3200" lang="en-US">
                <a:solidFill>
                  <a:srgbClr val="800000"/>
                </a:solidFill>
              </a:rPr>
              <a:t>y</a:t>
            </a:r>
            <a:r>
              <a:rPr b="1" sz="3200" lang="en-US">
                <a:solidFill>
                  <a:srgbClr val="800000"/>
                </a:solidFill>
              </a:rPr>
              <a:t>thm</a:t>
            </a:r>
            <a:r>
              <a:rPr b="1" sz="3200" lang="en-US">
                <a:solidFill>
                  <a:srgbClr val="800000"/>
                </a:solidFill>
              </a:rPr>
              <a:t>"</a:t>
            </a:r>
            <a:r>
              <a:rPr b="1" sz="3200" lang="en-US">
                <a:solidFill>
                  <a:srgbClr val="800000"/>
                </a:solidFill>
              </a:rPr>
              <a:t>.</a:t>
            </a:r>
            <a:endParaRPr b="1" sz="2800" lang="en-US">
              <a:solidFill>
                <a:srgbClr val="800000"/>
              </a:solidFill>
            </a:endParaRPr>
          </a:p>
        </p:txBody>
      </p:sp>
      <p:sp>
        <p:nvSpPr>
          <p:cNvPr id="1048638" name="Title 1"/>
          <p:cNvSpPr>
            <a:spLocks noGrp="1"/>
          </p:cNvSpPr>
          <p:nvPr/>
        </p:nvSpPr>
        <p:spPr>
          <a:xfrm>
            <a:off x="-188862" y="-455727"/>
            <a:ext cx="9294242" cy="1470012"/>
          </a:xfrm>
          <a:prstGeom prst="rect"/>
          <a:solidFill>
            <a:srgbClr val="800000"/>
          </a:solidFill>
        </p:spPr>
        <p:txBody>
          <a:bodyPr anchor="b" bIns="45720" lIns="91440" rIns="91440" rtlCol="0" tIns="45720" vert="horz">
            <a:norm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altLang="zh-CN" b="1" sz="54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ystole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(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r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d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c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 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a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n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d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s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t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i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ll</a:t>
            </a:r>
            <a:r>
              <a:rPr altLang="zh-CN" b="1" sz="5400" lang="en-US">
                <a:solidFill>
                  <a:srgbClr val="FFFFFF"/>
                </a:solidFill>
                <a:latin typeface="Arial"/>
              </a:rPr>
              <a:t>)</a:t>
            </a:r>
            <a:endParaRPr altLang="zh-CN" b="1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B7B6"/>
        </a:solidFill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3499038"/>
          </a:xfrm>
          <a:solidFill>
            <a:srgbClr val="800000"/>
          </a:solidFill>
        </p:spPr>
        <p:txBody>
          <a:bodyPr/>
          <a:p>
            <a:r>
              <a:rPr b="1" sz="7200" lang="en-US">
                <a:solidFill>
                  <a:srgbClr val="FFFFFF"/>
                </a:solidFill>
              </a:rPr>
              <a:t>T</a:t>
            </a:r>
            <a:r>
              <a:rPr b="1" sz="7200" lang="en-US">
                <a:solidFill>
                  <a:srgbClr val="FFFFFF"/>
                </a:solidFill>
              </a:rPr>
              <a:t>H</a:t>
            </a:r>
            <a:r>
              <a:rPr b="1" sz="7200" lang="en-US">
                <a:solidFill>
                  <a:srgbClr val="FFFFFF"/>
                </a:solidFill>
              </a:rPr>
              <a:t>ANK </a:t>
            </a:r>
            <a:r>
              <a:rPr b="1" sz="7200" lang="en-US">
                <a:solidFill>
                  <a:srgbClr val="FFFFFF"/>
                </a:solidFill>
              </a:rPr>
              <a:t>YOU</a:t>
            </a:r>
            <a:r>
              <a:rPr b="1" sz="7200" lang="en-US">
                <a:solidFill>
                  <a:srgbClr val="FFFFFF"/>
                </a:solidFill>
              </a:rPr>
              <a:t>!</a:t>
            </a:r>
            <a:endParaRPr b="1"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Retrospect">
  <a:themeElements>
    <a:clrScheme name="Retrospect">
      <a:dk1>
        <a:sysClr lastClr="000000" val="windowText"/>
      </a:dk1>
      <a:lt1>
        <a:sysClr lastClr="FFFFFF" val="window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algn="br" blurRad="38100" dir="2700000" dist="25400" rotWithShape="0">
              <a:srgbClr val="000000">
                <a:alpha val="60000"/>
              </a:srgbClr>
            </a:outerShdw>
          </a:effectLst>
        </a:effectStyle>
        <a:effectStyle>
          <a:effectLst>
            <a:outerShdw algn="br" blurRad="44450" dir="2700000" dist="254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SM-A426U</dc:creator>
  <dcterms:created xsi:type="dcterms:W3CDTF">2015-05-11T19:30:45Z</dcterms:created>
  <dcterms:modified xsi:type="dcterms:W3CDTF">2025-07-21T17:00:56Z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56464f845f674990973a6fb1286ff35f</vt:lpwstr>
  </property>
</Properties>
</file>