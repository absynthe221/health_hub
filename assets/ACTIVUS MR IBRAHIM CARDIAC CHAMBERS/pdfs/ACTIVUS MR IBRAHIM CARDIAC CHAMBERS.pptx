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Default Extension="jpe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</file>

<file path=ppt/presentation.xml><?xml version="1.0" encoding="utf-8"?>
<p:presentation xmlns:p="http://schemas.openxmlformats.org/presentationml/2006/main" xmlns:r="http://schemas.openxmlformats.org/officeDocument/2006/relationships" xmlns:a="http://schemas.openxmlformats.org/drawingml/2006/main" saveSubsetFonts="1">
  <p:sldMasterIdLst>
    <p:sldMasterId id="2147483672" r:id="rId1"/>
  </p:sldMasterIdLst>
  <p:notesMasterIdLst>
    <p:notesMasterId r:id="rId2"/>
  </p:notesMasterIdLst>
  <p:sldIdLst>
    <p:sldId id="349" r:id="rId3"/>
    <p:sldId id="350" r:id="rId4"/>
    <p:sldId id="351" r:id="rId5"/>
    <p:sldId id="352" r:id="rId6"/>
    <p:sldId id="353" r:id="rId7"/>
    <p:sldId id="354" r:id="rId8"/>
    <p:sldId id="355" r:id="rId9"/>
    <p:sldId id="356" r:id="rId10"/>
    <p:sldId id="357" r:id="rId11"/>
    <p:sldId id="358" r:id="rId12"/>
    <p:sldId id="359" r:id="rId13"/>
    <p:sldId id="360" r:id="rId14"/>
    <p:sldId id="361" r:id="rId15"/>
    <p:sldId id="362" r:id="rId16"/>
    <p:sldId id="363" r:id="rId17"/>
    <p:sldId id="364" r:id="rId18"/>
    <p:sldId id="365" r:id="rId19"/>
    <p:sldId id="366" r:id="rId20"/>
    <p:sldId id="367" r:id="rId21"/>
    <p:sldId id="368" r:id="rId22"/>
    <p:sldId id="369" r:id="rId23"/>
    <p:sldId id="370" r:id="rId24"/>
    <p:sldId id="371" r:id="rId25"/>
    <p:sldId id="372" r:id="rId26"/>
    <p:sldId id="373" r:id="rId27"/>
    <p:sldId id="374" r:id="rId28"/>
    <p:sldId id="375" r:id="rId29"/>
    <p:sldId id="376" r:id="rId30"/>
    <p:sldId id="377" r:id="rId31"/>
    <p:sldId id="378" r:id="rId32"/>
    <p:sldId id="379" r:id="rId33"/>
    <p:sldId id="380" r:id="rId34"/>
    <p:sldId id="381" r:id="rId35"/>
    <p:sldId id="382" r:id="rId36"/>
    <p:sldId id="383" r:id="rId37"/>
    <p:sldId id="384" r:id="rId38"/>
    <p:sldId id="385" r:id="rId39"/>
    <p:sldId id="386" r:id="rId40"/>
    <p:sldId id="387" r:id="rId41"/>
    <p:sldId id="388" r:id="rId42"/>
    <p:sldId id="389" r:id="rId43"/>
    <p:sldId id="390" r:id="rId44"/>
    <p:sldId id="391" r:id="rId45"/>
    <p:sldId id="392" r:id="rId46"/>
    <p:sldId id="393" r:id="rId47"/>
  </p:sldIdLst>
  <p:sldSz type="screen4x3" cy="6858000" cx="9144000"/>
  <p:notesSz cx="6858000" cy="9144000"/>
  <p:defaultTextStyle>
    <a:defPPr>
      <a:defRPr lang="zh-CN"/>
    </a:defPPr>
    <a:lvl1pPr algn="l" defTabSz="914400" eaLnBrk="1" hangingPunct="1" latinLnBrk="0" marL="0" rtl="0">
      <a:defRPr sz="1800" kern="12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sz="1800" kern="12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sz="1800" kern="12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sz="1800" kern="12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sz="1800" kern="12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sz="1800" kern="12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sz="1800" kern="12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sz="1800" kern="12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 xmlns:r="http://schemas.openxmlformats.org/officeDocument/2006/relationships" xmlns:a="http://schemas.openxmlformats.org/drawing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r="http://schemas.openxmlformats.org/officeDocument/2006/relationships" xmlns:a="http://schemas.openxmlformats.org/drawing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1446" y="108"/>
      </p:cViewPr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slide" Target="slides/slide18.xml"/><Relationship Id="rId21" Type="http://schemas.openxmlformats.org/officeDocument/2006/relationships/slide" Target="slides/slide19.xml"/><Relationship Id="rId22" Type="http://schemas.openxmlformats.org/officeDocument/2006/relationships/slide" Target="slides/slide20.xml"/><Relationship Id="rId23" Type="http://schemas.openxmlformats.org/officeDocument/2006/relationships/slide" Target="slides/slide21.xml"/><Relationship Id="rId24" Type="http://schemas.openxmlformats.org/officeDocument/2006/relationships/slide" Target="slides/slide22.xml"/><Relationship Id="rId25" Type="http://schemas.openxmlformats.org/officeDocument/2006/relationships/slide" Target="slides/slide23.xml"/><Relationship Id="rId26" Type="http://schemas.openxmlformats.org/officeDocument/2006/relationships/slide" Target="slides/slide24.xml"/><Relationship Id="rId27" Type="http://schemas.openxmlformats.org/officeDocument/2006/relationships/slide" Target="slides/slide25.xml"/><Relationship Id="rId28" Type="http://schemas.openxmlformats.org/officeDocument/2006/relationships/slide" Target="slides/slide26.xml"/><Relationship Id="rId29" Type="http://schemas.openxmlformats.org/officeDocument/2006/relationships/slide" Target="slides/slide27.xml"/><Relationship Id="rId30" Type="http://schemas.openxmlformats.org/officeDocument/2006/relationships/slide" Target="slides/slide28.xml"/><Relationship Id="rId31" Type="http://schemas.openxmlformats.org/officeDocument/2006/relationships/slide" Target="slides/slide29.xml"/><Relationship Id="rId32" Type="http://schemas.openxmlformats.org/officeDocument/2006/relationships/slide" Target="slides/slide30.xml"/><Relationship Id="rId33" Type="http://schemas.openxmlformats.org/officeDocument/2006/relationships/slide" Target="slides/slide31.xml"/><Relationship Id="rId34" Type="http://schemas.openxmlformats.org/officeDocument/2006/relationships/slide" Target="slides/slide32.xml"/><Relationship Id="rId35" Type="http://schemas.openxmlformats.org/officeDocument/2006/relationships/slide" Target="slides/slide33.xml"/><Relationship Id="rId36" Type="http://schemas.openxmlformats.org/officeDocument/2006/relationships/slide" Target="slides/slide34.xml"/><Relationship Id="rId37" Type="http://schemas.openxmlformats.org/officeDocument/2006/relationships/slide" Target="slides/slide35.xml"/><Relationship Id="rId38" Type="http://schemas.openxmlformats.org/officeDocument/2006/relationships/slide" Target="slides/slide36.xml"/><Relationship Id="rId39" Type="http://schemas.openxmlformats.org/officeDocument/2006/relationships/slide" Target="slides/slide37.xml"/><Relationship Id="rId40" Type="http://schemas.openxmlformats.org/officeDocument/2006/relationships/slide" Target="slides/slide38.xml"/><Relationship Id="rId41" Type="http://schemas.openxmlformats.org/officeDocument/2006/relationships/slide" Target="slides/slide39.xml"/><Relationship Id="rId42" Type="http://schemas.openxmlformats.org/officeDocument/2006/relationships/slide" Target="slides/slide40.xml"/><Relationship Id="rId43" Type="http://schemas.openxmlformats.org/officeDocument/2006/relationships/slide" Target="slides/slide41.xml"/><Relationship Id="rId44" Type="http://schemas.openxmlformats.org/officeDocument/2006/relationships/slide" Target="slides/slide42.xml"/><Relationship Id="rId45" Type="http://schemas.openxmlformats.org/officeDocument/2006/relationships/slide" Target="slides/slide43.xml"/><Relationship Id="rId46" Type="http://schemas.openxmlformats.org/officeDocument/2006/relationships/slide" Target="slides/slide44.xml"/><Relationship Id="rId47" Type="http://schemas.openxmlformats.org/officeDocument/2006/relationships/slide" Target="slides/slide45.xml"/><Relationship Id="rId48" Type="http://schemas.openxmlformats.org/officeDocument/2006/relationships/tableStyles" Target="tableStyles.xml"/><Relationship Id="rId49" Type="http://schemas.openxmlformats.org/officeDocument/2006/relationships/presProps" Target="presProps.xml"/><Relationship Id="rId50" Type="http://schemas.openxmlformats.org/officeDocument/2006/relationships/viewProps" Target="viewProps.xml"/><Relationship Id="rId51" Type="http://schemas.openxmlformats.org/officeDocument/2006/relationships/theme" Target="theme/theme1.xml"/></Relationships>
</file>

<file path=ppt/notesMasters/_rels/notesMaster1.xml.rels><?xml version="1.0" encoding="UTF-8" standalone="yes"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1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05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2" y="1"/>
            <a:ext cx="3076575" cy="512763"/>
          </a:xfrm>
          <a:prstGeom prst="rect"/>
          <a:noFill/>
          <a:ln w="9525">
            <a:noFill/>
            <a:miter lim="800000"/>
            <a:headEnd/>
            <a:tailEnd/>
          </a:ln>
          <a:effectLst/>
        </p:spPr>
        <p:txBody>
          <a:bodyPr anchor="t" anchorCtr="0" bIns="45745" compatLnSpc="1" lIns="91492" numCol="1" rIns="91492" tIns="45745" vert="horz" wrap="square">
            <a:prstTxWarp prst="textNoShape"/>
          </a:bodyPr>
          <a:lstStyle>
            <a:lvl1pPr algn="l">
              <a:defRPr sz="1100"/>
            </a:lvl1pPr>
          </a:lstStyle>
          <a:p>
            <a:endParaRPr lang="en-US"/>
          </a:p>
        </p:txBody>
      </p:sp>
      <p:sp>
        <p:nvSpPr>
          <p:cNvPr id="1048706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1139" y="1"/>
            <a:ext cx="3076575" cy="512763"/>
          </a:xfrm>
          <a:prstGeom prst="rect"/>
          <a:noFill/>
          <a:ln w="9525">
            <a:noFill/>
            <a:miter lim="800000"/>
            <a:headEnd/>
            <a:tailEnd/>
          </a:ln>
          <a:effectLst/>
        </p:spPr>
        <p:txBody>
          <a:bodyPr anchor="t" anchorCtr="0" bIns="45745" compatLnSpc="1" lIns="91492" numCol="1" rIns="91492" tIns="45745" vert="horz" wrap="square">
            <a:prstTxWarp prst="textNoShape"/>
          </a:bodyPr>
          <a:lstStyle>
            <a:lvl1pPr algn="r">
              <a:defRPr sz="1100"/>
            </a:lvl1pPr>
          </a:lstStyle>
          <a:p>
            <a:endParaRPr lang="en-US"/>
          </a:p>
        </p:txBody>
      </p:sp>
      <p:sp>
        <p:nvSpPr>
          <p:cNvPr id="1048707" name="Rectangle 4"/>
          <p:cNvSpPr>
            <a:spLocks noChangeAspect="1" noRot="1" noGrp="1" noChangeArrowheads="1" noTextEdit="1"/>
          </p:cNvSpPr>
          <p:nvPr>
            <p:ph type="sldImg" idx="2"/>
          </p:nvPr>
        </p:nvSpPr>
        <p:spPr bwMode="auto">
          <a:xfrm>
            <a:off x="990600" y="766763"/>
            <a:ext cx="5118100" cy="3838575"/>
          </a:xfrm>
          <a:prstGeom prst="rect"/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1048708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9614" y="4862514"/>
            <a:ext cx="5680075" cy="4605337"/>
          </a:xfrm>
          <a:prstGeom prst="rect"/>
          <a:noFill/>
          <a:ln w="9525">
            <a:noFill/>
            <a:miter lim="800000"/>
            <a:headEnd/>
            <a:tailEnd/>
          </a:ln>
          <a:effectLst/>
        </p:spPr>
        <p:txBody>
          <a:bodyPr anchor="t" anchorCtr="0" bIns="45745" compatLnSpc="1" lIns="91492" numCol="1" rIns="91492" tIns="45745" vert="horz" wrap="square">
            <a:prstTxWarp prst="textNoShape"/>
          </a:bodyPr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1048709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2" y="9720264"/>
            <a:ext cx="3076575" cy="512762"/>
          </a:xfrm>
          <a:prstGeom prst="rect"/>
          <a:noFill/>
          <a:ln w="9525">
            <a:noFill/>
            <a:miter lim="800000"/>
            <a:headEnd/>
            <a:tailEnd/>
          </a:ln>
          <a:effectLst/>
        </p:spPr>
        <p:txBody>
          <a:bodyPr anchor="b" anchorCtr="0" bIns="45745" compatLnSpc="1" lIns="91492" numCol="1" rIns="91492" tIns="45745" vert="horz" wrap="square">
            <a:prstTxWarp prst="textNoShape"/>
          </a:bodyPr>
          <a:lstStyle>
            <a:lvl1pPr algn="l">
              <a:defRPr sz="1100"/>
            </a:lvl1pPr>
          </a:lstStyle>
          <a:p>
            <a:endParaRPr lang="en-US"/>
          </a:p>
        </p:txBody>
      </p:sp>
      <p:sp>
        <p:nvSpPr>
          <p:cNvPr id="1048710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1139" y="9720264"/>
            <a:ext cx="3076575" cy="512762"/>
          </a:xfrm>
          <a:prstGeom prst="rect"/>
          <a:noFill/>
          <a:ln w="9525">
            <a:noFill/>
            <a:miter lim="800000"/>
            <a:headEnd/>
            <a:tailEnd/>
          </a:ln>
          <a:effectLst/>
        </p:spPr>
        <p:txBody>
          <a:bodyPr anchor="b" anchorCtr="0" bIns="45745" compatLnSpc="1" lIns="91492" numCol="1" rIns="91492" tIns="45745" vert="horz" wrap="square">
            <a:prstTxWarp prst="textNoShape"/>
          </a:bodyPr>
          <a:lstStyle>
            <a:lvl1pPr algn="r">
              <a:defRPr sz="1100"/>
            </a:lvl1pPr>
          </a:lstStyle>
          <a:p>
            <a:fld id="{A9A0EA98-5831-4853-B862-C702E6EB345C}" type="slidenum">
              <a:rPr lang="en-US"/>
              <a:t>‹#›</a:t>
            </a:fld>
            <a:endParaRPr lang="en-US"/>
          </a:p>
        </p:txBody>
      </p:sp>
    </p:spTree>
  </p:cSld>
  <p:clrMap accent1="accent1" accent2="accent2" accent3="accent3" accent4="accent4" accent5="accent5" accent6="accent6" bg1="lt1" bg2="lt2" tx1="dk1" tx2="dk2" hlink="hlink" folHlink="folHlink"/>
  <p:notesStyle>
    <a:lvl1pPr algn="l" fontAlgn="base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algn="l" fontAlgn="base" marL="457200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algn="l" fontAlgn="base" marL="914400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algn="l" fontAlgn="base" marL="1371600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algn="l" fontAlgn="base" marL="1828800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algn="l" defTabSz="914400" eaLnBrk="1" hangingPunct="1" latinLnBrk="0" marL="2286000" rtl="0">
      <a:defRPr sz="1200" kern="12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sz="1200" kern="12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sz="1200" kern="12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itle">
  <p:cSld name="Title Slide">
    <p:spTree>
      <p:nvGrpSpPr>
        <p:cNvPr id="2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1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altLang="zh-CN" lang="en-US" smtClean="0"/>
              <a:t>Click to edit Master title style</a:t>
            </a:r>
            <a:endParaRPr dirty="0" lang="en-US"/>
          </a:p>
        </p:txBody>
      </p:sp>
      <p:sp>
        <p:nvSpPr>
          <p:cNvPr id="1048582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algn="ctr" indent="0" marL="0">
              <a:buNone/>
              <a:defRPr sz="2400"/>
            </a:lvl1pPr>
            <a:lvl2pPr algn="ctr" indent="0" marL="457200">
              <a:buNone/>
              <a:defRPr sz="2000"/>
            </a:lvl2pPr>
            <a:lvl3pPr algn="ctr" indent="0" marL="914400">
              <a:buNone/>
              <a:defRPr sz="1800"/>
            </a:lvl3pPr>
            <a:lvl4pPr algn="ctr" indent="0" marL="1371600">
              <a:buNone/>
              <a:defRPr sz="1600"/>
            </a:lvl4pPr>
            <a:lvl5pPr algn="ctr" indent="0" marL="1828800">
              <a:buNone/>
              <a:defRPr sz="1600"/>
            </a:lvl5pPr>
            <a:lvl6pPr algn="ctr" indent="0" marL="2286000">
              <a:buNone/>
              <a:defRPr sz="1600"/>
            </a:lvl6pPr>
            <a:lvl7pPr algn="ctr" indent="0" marL="2743200">
              <a:buNone/>
              <a:defRPr sz="1600"/>
            </a:lvl7pPr>
            <a:lvl8pPr algn="ctr" indent="0" marL="3200400">
              <a:buNone/>
              <a:defRPr sz="1600"/>
            </a:lvl8pPr>
            <a:lvl9pPr algn="ctr" indent="0" marL="3657600">
              <a:buNone/>
              <a:defRPr sz="1600"/>
            </a:lvl9pPr>
          </a:lstStyle>
          <a:p>
            <a:r>
              <a:rPr altLang="zh-CN" lang="en-US" smtClean="0"/>
              <a:t>Click to edit Master subtitle style</a:t>
            </a:r>
            <a:endParaRPr dirty="0" lang="en-US"/>
          </a:p>
        </p:txBody>
      </p:sp>
      <p:sp>
        <p:nvSpPr>
          <p:cNvPr id="104858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70BC1078-46ED-40F9-8930-935BAD7C2B02}" type="datetimeFigureOut">
              <a:rPr altLang="en-US" lang="zh-CN" smtClean="0"/>
              <a:t>2015/5/12</a:t>
            </a:fld>
            <a:endParaRPr altLang="en-US" lang="zh-CN"/>
          </a:p>
        </p:txBody>
      </p:sp>
      <p:sp>
        <p:nvSpPr>
          <p:cNvPr id="104858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altLang="en-US" lang="zh-CN"/>
          </a:p>
        </p:txBody>
      </p:sp>
      <p:sp>
        <p:nvSpPr>
          <p:cNvPr id="104858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D5B52ADC-5BFA-4FBD-BEE2-16096B7F4166}" type="slidenum">
              <a:rPr altLang="en-US" lang="zh-CN" smtClean="0"/>
              <a:t>‹#›</a:t>
            </a:fld>
            <a:endParaRPr altLang="en-US" 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0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61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altLang="zh-CN" lang="en-US" smtClean="0"/>
              <a:t>Click to edit Master title style</a:t>
            </a:r>
            <a:endParaRPr dirty="0" lang="en-US"/>
          </a:p>
        </p:txBody>
      </p:sp>
      <p:sp>
        <p:nvSpPr>
          <p:cNvPr id="1048662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 lvl="0"/>
            <a:r>
              <a:rPr altLang="zh-CN" lang="en-US" smtClean="0"/>
              <a:t>Click to edit Master text styles</a:t>
            </a:r>
          </a:p>
          <a:p>
            <a:pPr lvl="1"/>
            <a:r>
              <a:rPr altLang="zh-CN" lang="en-US" smtClean="0"/>
              <a:t>Second level</a:t>
            </a:r>
          </a:p>
          <a:p>
            <a:pPr lvl="2"/>
            <a:r>
              <a:rPr altLang="zh-CN" lang="en-US" smtClean="0"/>
              <a:t>Third level</a:t>
            </a:r>
          </a:p>
          <a:p>
            <a:pPr lvl="3"/>
            <a:r>
              <a:rPr altLang="zh-CN" lang="en-US" smtClean="0"/>
              <a:t>Fourth level</a:t>
            </a:r>
          </a:p>
          <a:p>
            <a:pPr lvl="4"/>
            <a:r>
              <a:rPr altLang="zh-CN" lang="en-US" smtClean="0"/>
              <a:t>Fifth level</a:t>
            </a:r>
            <a:endParaRPr dirty="0" lang="en-US"/>
          </a:p>
        </p:txBody>
      </p:sp>
      <p:sp>
        <p:nvSpPr>
          <p:cNvPr id="104866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70BC1078-46ED-40F9-8930-935BAD7C2B02}" type="datetimeFigureOut">
              <a:rPr altLang="en-US" lang="zh-CN" smtClean="0"/>
              <a:t>2015/5/12</a:t>
            </a:fld>
            <a:endParaRPr altLang="en-US" lang="zh-CN"/>
          </a:p>
        </p:txBody>
      </p:sp>
      <p:sp>
        <p:nvSpPr>
          <p:cNvPr id="104866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altLang="en-US" lang="zh-CN"/>
          </a:p>
        </p:txBody>
      </p:sp>
      <p:sp>
        <p:nvSpPr>
          <p:cNvPr id="104866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D5B52ADC-5BFA-4FBD-BEE2-16096B7F4166}" type="slidenum">
              <a:rPr altLang="en-US" lang="zh-CN" smtClean="0"/>
              <a:t>‹#›</a:t>
            </a:fld>
            <a:endParaRPr altLang="en-US" 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secHead">
  <p:cSld name="Section Header">
    <p:spTree>
      <p:nvGrpSpPr>
        <p:cNvPr id="11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77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altLang="zh-CN" lang="en-US" smtClean="0"/>
              <a:t>Click to edit Master title style</a:t>
            </a:r>
            <a:endParaRPr dirty="0" lang="en-US"/>
          </a:p>
        </p:txBody>
      </p:sp>
      <p:sp>
        <p:nvSpPr>
          <p:cNvPr id="1048678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indent="0" marL="0">
              <a:buNone/>
              <a:defRPr sz="2400">
                <a:solidFill>
                  <a:schemeClr val="tx1"/>
                </a:solidFill>
              </a:defRPr>
            </a:lvl1pPr>
            <a:lvl2pPr indent="0" marL="45720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indent="0" marL="91440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indent="0" marL="137160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indent="0" marL="182880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indent="0" marL="228600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indent="0" marL="274320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indent="0" marL="320040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indent="0" marL="365760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altLang="zh-CN" lang="en-US" smtClean="0"/>
              <a:t>Click to edit Master text styles</a:t>
            </a:r>
          </a:p>
        </p:txBody>
      </p:sp>
      <p:sp>
        <p:nvSpPr>
          <p:cNvPr id="1048679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70BC1078-46ED-40F9-8930-935BAD7C2B02}" type="datetimeFigureOut">
              <a:rPr altLang="en-US" lang="zh-CN" smtClean="0"/>
              <a:t>2015/5/12</a:t>
            </a:fld>
            <a:endParaRPr altLang="en-US" lang="zh-CN"/>
          </a:p>
        </p:txBody>
      </p:sp>
      <p:sp>
        <p:nvSpPr>
          <p:cNvPr id="1048680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altLang="en-US" lang="zh-CN"/>
          </a:p>
        </p:txBody>
      </p:sp>
      <p:sp>
        <p:nvSpPr>
          <p:cNvPr id="1048681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D5B52ADC-5BFA-4FBD-BEE2-16096B7F4166}" type="slidenum">
              <a:rPr altLang="en-US" lang="zh-CN" smtClean="0"/>
              <a:t>‹#›</a:t>
            </a:fld>
            <a:endParaRPr altLang="en-US" 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woObj">
  <p:cSld name="Two Content">
    <p:spTree>
      <p:nvGrpSpPr>
        <p:cNvPr id="11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8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altLang="zh-CN" lang="en-US" smtClean="0"/>
              <a:t>Click to edit Master title style</a:t>
            </a:r>
            <a:endParaRPr dirty="0" lang="en-US"/>
          </a:p>
        </p:txBody>
      </p:sp>
      <p:sp>
        <p:nvSpPr>
          <p:cNvPr id="104868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p>
            <a:pPr lvl="0"/>
            <a:r>
              <a:rPr altLang="zh-CN" lang="en-US" smtClean="0"/>
              <a:t>Click to edit Master text styles</a:t>
            </a:r>
          </a:p>
          <a:p>
            <a:pPr lvl="1"/>
            <a:r>
              <a:rPr altLang="zh-CN" lang="en-US" smtClean="0"/>
              <a:t>Second level</a:t>
            </a:r>
          </a:p>
          <a:p>
            <a:pPr lvl="2"/>
            <a:r>
              <a:rPr altLang="zh-CN" lang="en-US" smtClean="0"/>
              <a:t>Third level</a:t>
            </a:r>
          </a:p>
          <a:p>
            <a:pPr lvl="3"/>
            <a:r>
              <a:rPr altLang="zh-CN" lang="en-US" smtClean="0"/>
              <a:t>Fourth level</a:t>
            </a:r>
          </a:p>
          <a:p>
            <a:pPr lvl="4"/>
            <a:r>
              <a:rPr altLang="zh-CN" lang="en-US" smtClean="0"/>
              <a:t>Fifth level</a:t>
            </a:r>
            <a:endParaRPr dirty="0" lang="en-US"/>
          </a:p>
        </p:txBody>
      </p:sp>
      <p:sp>
        <p:nvSpPr>
          <p:cNvPr id="104868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p>
            <a:pPr lvl="0"/>
            <a:r>
              <a:rPr altLang="zh-CN" lang="en-US" smtClean="0"/>
              <a:t>Click to edit Master text styles</a:t>
            </a:r>
          </a:p>
          <a:p>
            <a:pPr lvl="1"/>
            <a:r>
              <a:rPr altLang="zh-CN" lang="en-US" smtClean="0"/>
              <a:t>Second level</a:t>
            </a:r>
          </a:p>
          <a:p>
            <a:pPr lvl="2"/>
            <a:r>
              <a:rPr altLang="zh-CN" lang="en-US" smtClean="0"/>
              <a:t>Third level</a:t>
            </a:r>
          </a:p>
          <a:p>
            <a:pPr lvl="3"/>
            <a:r>
              <a:rPr altLang="zh-CN" lang="en-US" smtClean="0"/>
              <a:t>Fourth level</a:t>
            </a:r>
          </a:p>
          <a:p>
            <a:pPr lvl="4"/>
            <a:r>
              <a:rPr altLang="zh-CN" lang="en-US" smtClean="0"/>
              <a:t>Fifth level</a:t>
            </a:r>
            <a:endParaRPr dirty="0" lang="en-US"/>
          </a:p>
        </p:txBody>
      </p:sp>
      <p:sp>
        <p:nvSpPr>
          <p:cNvPr id="104868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70BC1078-46ED-40F9-8930-935BAD7C2B02}" type="datetimeFigureOut">
              <a:rPr altLang="en-US" lang="zh-CN" smtClean="0"/>
              <a:t>2015/5/12</a:t>
            </a:fld>
            <a:endParaRPr altLang="en-US" lang="zh-CN"/>
          </a:p>
        </p:txBody>
      </p:sp>
      <p:sp>
        <p:nvSpPr>
          <p:cNvPr id="104868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altLang="en-US" lang="zh-CN"/>
          </a:p>
        </p:txBody>
      </p:sp>
      <p:sp>
        <p:nvSpPr>
          <p:cNvPr id="104868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D5B52ADC-5BFA-4FBD-BEE2-16096B7F4166}" type="slidenum">
              <a:rPr altLang="en-US" lang="zh-CN" smtClean="0"/>
              <a:t>‹#›</a:t>
            </a:fld>
            <a:endParaRPr altLang="en-US" 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woTxTwoObj">
  <p:cSld name="Comparison">
    <p:spTree>
      <p:nvGrpSpPr>
        <p:cNvPr id="11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88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p>
            <a:r>
              <a:rPr altLang="zh-CN" lang="en-US" smtClean="0"/>
              <a:t>Click to edit Master title style</a:t>
            </a:r>
            <a:endParaRPr dirty="0" lang="en-US"/>
          </a:p>
        </p:txBody>
      </p:sp>
      <p:sp>
        <p:nvSpPr>
          <p:cNvPr id="1048689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indent="0" marL="0">
              <a:buNone/>
              <a:defRPr b="1" sz="2400"/>
            </a:lvl1pPr>
            <a:lvl2pPr indent="0" marL="457200">
              <a:buNone/>
              <a:defRPr b="1" sz="2000"/>
            </a:lvl2pPr>
            <a:lvl3pPr indent="0" marL="914400">
              <a:buNone/>
              <a:defRPr b="1" sz="1800"/>
            </a:lvl3pPr>
            <a:lvl4pPr indent="0" marL="1371600">
              <a:buNone/>
              <a:defRPr b="1" sz="1600"/>
            </a:lvl4pPr>
            <a:lvl5pPr indent="0" marL="1828800">
              <a:buNone/>
              <a:defRPr b="1" sz="1600"/>
            </a:lvl5pPr>
            <a:lvl6pPr indent="0" marL="2286000">
              <a:buNone/>
              <a:defRPr b="1" sz="1600"/>
            </a:lvl6pPr>
            <a:lvl7pPr indent="0" marL="2743200">
              <a:buNone/>
              <a:defRPr b="1" sz="1600"/>
            </a:lvl7pPr>
            <a:lvl8pPr indent="0" marL="3200400">
              <a:buNone/>
              <a:defRPr b="1" sz="1600"/>
            </a:lvl8pPr>
            <a:lvl9pPr indent="0" marL="3657600">
              <a:buNone/>
              <a:defRPr b="1" sz="1600"/>
            </a:lvl9pPr>
          </a:lstStyle>
          <a:p>
            <a:pPr lvl="0"/>
            <a:r>
              <a:rPr altLang="zh-CN" lang="en-US" smtClean="0"/>
              <a:t>Click to edit Master text styles</a:t>
            </a:r>
          </a:p>
        </p:txBody>
      </p:sp>
      <p:sp>
        <p:nvSpPr>
          <p:cNvPr id="1048690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p>
            <a:pPr lvl="0"/>
            <a:r>
              <a:rPr altLang="zh-CN" lang="en-US" smtClean="0"/>
              <a:t>Click to edit Master text styles</a:t>
            </a:r>
          </a:p>
          <a:p>
            <a:pPr lvl="1"/>
            <a:r>
              <a:rPr altLang="zh-CN" lang="en-US" smtClean="0"/>
              <a:t>Second level</a:t>
            </a:r>
          </a:p>
          <a:p>
            <a:pPr lvl="2"/>
            <a:r>
              <a:rPr altLang="zh-CN" lang="en-US" smtClean="0"/>
              <a:t>Third level</a:t>
            </a:r>
          </a:p>
          <a:p>
            <a:pPr lvl="3"/>
            <a:r>
              <a:rPr altLang="zh-CN" lang="en-US" smtClean="0"/>
              <a:t>Fourth level</a:t>
            </a:r>
          </a:p>
          <a:p>
            <a:pPr lvl="4"/>
            <a:r>
              <a:rPr altLang="zh-CN" lang="en-US" smtClean="0"/>
              <a:t>Fifth level</a:t>
            </a:r>
            <a:endParaRPr dirty="0" lang="en-US"/>
          </a:p>
        </p:txBody>
      </p:sp>
      <p:sp>
        <p:nvSpPr>
          <p:cNvPr id="1048691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indent="0" marL="0">
              <a:buNone/>
              <a:defRPr b="1" sz="2400"/>
            </a:lvl1pPr>
            <a:lvl2pPr indent="0" marL="457200">
              <a:buNone/>
              <a:defRPr b="1" sz="2000"/>
            </a:lvl2pPr>
            <a:lvl3pPr indent="0" marL="914400">
              <a:buNone/>
              <a:defRPr b="1" sz="1800"/>
            </a:lvl3pPr>
            <a:lvl4pPr indent="0" marL="1371600">
              <a:buNone/>
              <a:defRPr b="1" sz="1600"/>
            </a:lvl4pPr>
            <a:lvl5pPr indent="0" marL="1828800">
              <a:buNone/>
              <a:defRPr b="1" sz="1600"/>
            </a:lvl5pPr>
            <a:lvl6pPr indent="0" marL="2286000">
              <a:buNone/>
              <a:defRPr b="1" sz="1600"/>
            </a:lvl6pPr>
            <a:lvl7pPr indent="0" marL="2743200">
              <a:buNone/>
              <a:defRPr b="1" sz="1600"/>
            </a:lvl7pPr>
            <a:lvl8pPr indent="0" marL="3200400">
              <a:buNone/>
              <a:defRPr b="1" sz="1600"/>
            </a:lvl8pPr>
            <a:lvl9pPr indent="0" marL="3657600">
              <a:buNone/>
              <a:defRPr b="1" sz="1600"/>
            </a:lvl9pPr>
          </a:lstStyle>
          <a:p>
            <a:pPr lvl="0"/>
            <a:r>
              <a:rPr altLang="zh-CN" lang="en-US" smtClean="0"/>
              <a:t>Click to edit Master text styles</a:t>
            </a:r>
          </a:p>
        </p:txBody>
      </p:sp>
      <p:sp>
        <p:nvSpPr>
          <p:cNvPr id="1048692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p>
            <a:pPr lvl="0"/>
            <a:r>
              <a:rPr altLang="zh-CN" lang="en-US" smtClean="0"/>
              <a:t>Click to edit Master text styles</a:t>
            </a:r>
          </a:p>
          <a:p>
            <a:pPr lvl="1"/>
            <a:r>
              <a:rPr altLang="zh-CN" lang="en-US" smtClean="0"/>
              <a:t>Second level</a:t>
            </a:r>
          </a:p>
          <a:p>
            <a:pPr lvl="2"/>
            <a:r>
              <a:rPr altLang="zh-CN" lang="en-US" smtClean="0"/>
              <a:t>Third level</a:t>
            </a:r>
          </a:p>
          <a:p>
            <a:pPr lvl="3"/>
            <a:r>
              <a:rPr altLang="zh-CN" lang="en-US" smtClean="0"/>
              <a:t>Fourth level</a:t>
            </a:r>
          </a:p>
          <a:p>
            <a:pPr lvl="4"/>
            <a:r>
              <a:rPr altLang="zh-CN" lang="en-US" smtClean="0"/>
              <a:t>Fifth level</a:t>
            </a:r>
            <a:endParaRPr dirty="0" lang="en-US"/>
          </a:p>
        </p:txBody>
      </p:sp>
      <p:sp>
        <p:nvSpPr>
          <p:cNvPr id="1048693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70BC1078-46ED-40F9-8930-935BAD7C2B02}" type="datetimeFigureOut">
              <a:rPr altLang="en-US" lang="zh-CN" smtClean="0"/>
              <a:t>2015/5/12</a:t>
            </a:fld>
            <a:endParaRPr altLang="en-US" lang="zh-CN"/>
          </a:p>
        </p:txBody>
      </p:sp>
      <p:sp>
        <p:nvSpPr>
          <p:cNvPr id="1048694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altLang="en-US" lang="zh-CN"/>
          </a:p>
        </p:txBody>
      </p:sp>
      <p:sp>
        <p:nvSpPr>
          <p:cNvPr id="1048695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D5B52ADC-5BFA-4FBD-BEE2-16096B7F4166}" type="slidenum">
              <a:rPr altLang="en-US" lang="zh-CN" smtClean="0"/>
              <a:t>‹#›</a:t>
            </a:fld>
            <a:endParaRPr altLang="en-US" 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itleOnly">
  <p:cSld name="Title Only">
    <p:spTree>
      <p:nvGrpSpPr>
        <p:cNvPr id="10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altLang="zh-CN" lang="en-US" smtClean="0"/>
              <a:t>Click to edit Master title style</a:t>
            </a:r>
            <a:endParaRPr dirty="0" lang="en-US"/>
          </a:p>
        </p:txBody>
      </p:sp>
      <p:sp>
        <p:nvSpPr>
          <p:cNvPr id="104865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70BC1078-46ED-40F9-8930-935BAD7C2B02}" type="datetimeFigureOut">
              <a:rPr altLang="en-US" lang="zh-CN" smtClean="0"/>
              <a:t>2015/5/12</a:t>
            </a:fld>
            <a:endParaRPr altLang="en-US" lang="zh-CN"/>
          </a:p>
        </p:txBody>
      </p:sp>
      <p:sp>
        <p:nvSpPr>
          <p:cNvPr id="104865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altLang="en-US" lang="zh-CN"/>
          </a:p>
        </p:txBody>
      </p:sp>
      <p:sp>
        <p:nvSpPr>
          <p:cNvPr id="104865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D5B52ADC-5BFA-4FBD-BEE2-16096B7F4166}" type="slidenum">
              <a:rPr altLang="en-US" lang="zh-CN" smtClean="0"/>
              <a:t>‹#›</a:t>
            </a:fld>
            <a:endParaRPr altLang="en-US" 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blank">
  <p:cSld name="Blank">
    <p:spTree>
      <p:nvGrpSpPr>
        <p:cNvPr id="11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96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70BC1078-46ED-40F9-8930-935BAD7C2B02}" type="datetimeFigureOut">
              <a:rPr altLang="en-US" lang="zh-CN" smtClean="0"/>
              <a:t>2015/5/12</a:t>
            </a:fld>
            <a:endParaRPr altLang="en-US" lang="zh-CN"/>
          </a:p>
        </p:txBody>
      </p:sp>
      <p:sp>
        <p:nvSpPr>
          <p:cNvPr id="1048697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altLang="en-US" lang="zh-CN"/>
          </a:p>
        </p:txBody>
      </p:sp>
      <p:sp>
        <p:nvSpPr>
          <p:cNvPr id="1048698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D5B52ADC-5BFA-4FBD-BEE2-16096B7F4166}" type="slidenum">
              <a:rPr altLang="en-US" lang="zh-CN" smtClean="0"/>
              <a:t>‹#›</a:t>
            </a:fld>
            <a:endParaRPr altLang="en-US" 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Tx">
  <p:cSld name="Content with Caption">
    <p:spTree>
      <p:nvGrpSpPr>
        <p:cNvPr id="11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99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altLang="zh-CN" lang="en-US" smtClean="0"/>
              <a:t>Click to edit Master title style</a:t>
            </a:r>
            <a:endParaRPr dirty="0" lang="en-US"/>
          </a:p>
        </p:txBody>
      </p:sp>
      <p:sp>
        <p:nvSpPr>
          <p:cNvPr id="1048700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altLang="zh-CN" lang="en-US" smtClean="0"/>
              <a:t>Click to edit Master text styles</a:t>
            </a:r>
          </a:p>
          <a:p>
            <a:pPr lvl="1"/>
            <a:r>
              <a:rPr altLang="zh-CN" lang="en-US" smtClean="0"/>
              <a:t>Second level</a:t>
            </a:r>
          </a:p>
          <a:p>
            <a:pPr lvl="2"/>
            <a:r>
              <a:rPr altLang="zh-CN" lang="en-US" smtClean="0"/>
              <a:t>Third level</a:t>
            </a:r>
          </a:p>
          <a:p>
            <a:pPr lvl="3"/>
            <a:r>
              <a:rPr altLang="zh-CN" lang="en-US" smtClean="0"/>
              <a:t>Fourth level</a:t>
            </a:r>
          </a:p>
          <a:p>
            <a:pPr lvl="4"/>
            <a:r>
              <a:rPr altLang="zh-CN" lang="en-US" smtClean="0"/>
              <a:t>Fifth level</a:t>
            </a:r>
            <a:endParaRPr dirty="0" lang="en-US"/>
          </a:p>
        </p:txBody>
      </p:sp>
      <p:sp>
        <p:nvSpPr>
          <p:cNvPr id="1048701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indent="0" marL="0">
              <a:buNone/>
              <a:defRPr sz="1600"/>
            </a:lvl1pPr>
            <a:lvl2pPr indent="0" marL="457200">
              <a:buNone/>
              <a:defRPr sz="1400"/>
            </a:lvl2pPr>
            <a:lvl3pPr indent="0" marL="914400">
              <a:buNone/>
              <a:defRPr sz="1200"/>
            </a:lvl3pPr>
            <a:lvl4pPr indent="0" marL="1371600">
              <a:buNone/>
              <a:defRPr sz="1000"/>
            </a:lvl4pPr>
            <a:lvl5pPr indent="0" marL="1828800">
              <a:buNone/>
              <a:defRPr sz="1000"/>
            </a:lvl5pPr>
            <a:lvl6pPr indent="0" marL="2286000">
              <a:buNone/>
              <a:defRPr sz="1000"/>
            </a:lvl6pPr>
            <a:lvl7pPr indent="0" marL="2743200">
              <a:buNone/>
              <a:defRPr sz="1000"/>
            </a:lvl7pPr>
            <a:lvl8pPr indent="0" marL="3200400">
              <a:buNone/>
              <a:defRPr sz="1000"/>
            </a:lvl8pPr>
            <a:lvl9pPr indent="0" marL="3657600">
              <a:buNone/>
              <a:defRPr sz="1000"/>
            </a:lvl9pPr>
          </a:lstStyle>
          <a:p>
            <a:pPr lvl="0"/>
            <a:r>
              <a:rPr altLang="zh-CN" lang="en-US" smtClean="0"/>
              <a:t>Click to edit Master text styles</a:t>
            </a:r>
          </a:p>
        </p:txBody>
      </p:sp>
      <p:sp>
        <p:nvSpPr>
          <p:cNvPr id="1048702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70BC1078-46ED-40F9-8930-935BAD7C2B02}" type="datetimeFigureOut">
              <a:rPr altLang="en-US" lang="zh-CN" smtClean="0"/>
              <a:t>2015/5/12</a:t>
            </a:fld>
            <a:endParaRPr altLang="en-US" lang="zh-CN"/>
          </a:p>
        </p:txBody>
      </p:sp>
      <p:sp>
        <p:nvSpPr>
          <p:cNvPr id="1048703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altLang="en-US" lang="zh-CN"/>
          </a:p>
        </p:txBody>
      </p:sp>
      <p:sp>
        <p:nvSpPr>
          <p:cNvPr id="1048704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D5B52ADC-5BFA-4FBD-BEE2-16096B7F4166}" type="slidenum">
              <a:rPr altLang="en-US" lang="zh-CN" smtClean="0"/>
              <a:t>‹#›</a:t>
            </a:fld>
            <a:endParaRPr altLang="en-US" 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picTx">
  <p:cSld name="Picture with Caption">
    <p:spTree>
      <p:nvGrpSpPr>
        <p:cNvPr id="10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66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altLang="zh-CN" lang="en-US" smtClean="0"/>
              <a:t>Click to edit Master title style</a:t>
            </a:r>
            <a:endParaRPr dirty="0" lang="en-US"/>
          </a:p>
        </p:txBody>
      </p:sp>
      <p:sp>
        <p:nvSpPr>
          <p:cNvPr id="1048667" name="Picture Placeholder 2"/>
          <p:cNvSpPr>
            <a:spLocks noChangeAspect="1"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indent="0" marL="0">
              <a:buNone/>
              <a:defRPr sz="3200"/>
            </a:lvl1pPr>
            <a:lvl2pPr indent="0" marL="457200">
              <a:buNone/>
              <a:defRPr sz="2800"/>
            </a:lvl2pPr>
            <a:lvl3pPr indent="0" marL="914400">
              <a:buNone/>
              <a:defRPr sz="2400"/>
            </a:lvl3pPr>
            <a:lvl4pPr indent="0" marL="1371600">
              <a:buNone/>
              <a:defRPr sz="2000"/>
            </a:lvl4pPr>
            <a:lvl5pPr indent="0" marL="1828800">
              <a:buNone/>
              <a:defRPr sz="2000"/>
            </a:lvl5pPr>
            <a:lvl6pPr indent="0" marL="2286000">
              <a:buNone/>
              <a:defRPr sz="2000"/>
            </a:lvl6pPr>
            <a:lvl7pPr indent="0" marL="2743200">
              <a:buNone/>
              <a:defRPr sz="2000"/>
            </a:lvl7pPr>
            <a:lvl8pPr indent="0" marL="3200400">
              <a:buNone/>
              <a:defRPr sz="2000"/>
            </a:lvl8pPr>
            <a:lvl9pPr indent="0" marL="3657600">
              <a:buNone/>
              <a:defRPr sz="2000"/>
            </a:lvl9pPr>
          </a:lstStyle>
          <a:p>
            <a:r>
              <a:rPr altLang="zh-CN" lang="en-US" smtClean="0"/>
              <a:t>Click icon to add picture</a:t>
            </a:r>
            <a:endParaRPr dirty="0" lang="en-US"/>
          </a:p>
        </p:txBody>
      </p:sp>
      <p:sp>
        <p:nvSpPr>
          <p:cNvPr id="1048668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indent="0" marL="0">
              <a:buNone/>
              <a:defRPr sz="1600"/>
            </a:lvl1pPr>
            <a:lvl2pPr indent="0" marL="457200">
              <a:buNone/>
              <a:defRPr sz="1400"/>
            </a:lvl2pPr>
            <a:lvl3pPr indent="0" marL="914400">
              <a:buNone/>
              <a:defRPr sz="1200"/>
            </a:lvl3pPr>
            <a:lvl4pPr indent="0" marL="1371600">
              <a:buNone/>
              <a:defRPr sz="1000"/>
            </a:lvl4pPr>
            <a:lvl5pPr indent="0" marL="1828800">
              <a:buNone/>
              <a:defRPr sz="1000"/>
            </a:lvl5pPr>
            <a:lvl6pPr indent="0" marL="2286000">
              <a:buNone/>
              <a:defRPr sz="1000"/>
            </a:lvl6pPr>
            <a:lvl7pPr indent="0" marL="2743200">
              <a:buNone/>
              <a:defRPr sz="1000"/>
            </a:lvl7pPr>
            <a:lvl8pPr indent="0" marL="3200400">
              <a:buNone/>
              <a:defRPr sz="1000"/>
            </a:lvl8pPr>
            <a:lvl9pPr indent="0" marL="3657600">
              <a:buNone/>
              <a:defRPr sz="1000"/>
            </a:lvl9pPr>
          </a:lstStyle>
          <a:p>
            <a:pPr lvl="0"/>
            <a:r>
              <a:rPr altLang="zh-CN" lang="en-US" smtClean="0"/>
              <a:t>Click to edit Master text styles</a:t>
            </a:r>
          </a:p>
        </p:txBody>
      </p:sp>
      <p:sp>
        <p:nvSpPr>
          <p:cNvPr id="1048669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70BC1078-46ED-40F9-8930-935BAD7C2B02}" type="datetimeFigureOut">
              <a:rPr altLang="en-US" lang="zh-CN" smtClean="0"/>
              <a:t>2015/5/12</a:t>
            </a:fld>
            <a:endParaRPr altLang="en-US" lang="zh-CN"/>
          </a:p>
        </p:txBody>
      </p:sp>
      <p:sp>
        <p:nvSpPr>
          <p:cNvPr id="1048670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altLang="en-US" lang="zh-CN"/>
          </a:p>
        </p:txBody>
      </p:sp>
      <p:sp>
        <p:nvSpPr>
          <p:cNvPr id="1048671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D5B52ADC-5BFA-4FBD-BEE2-16096B7F4166}" type="slidenum">
              <a:rPr altLang="en-US" lang="zh-CN" smtClean="0"/>
              <a:t>‹#›</a:t>
            </a:fld>
            <a:endParaRPr altLang="en-US" 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vertTx">
  <p:cSld name="Title and Vertical Text">
    <p:spTree>
      <p:nvGrpSpPr>
        <p:cNvPr id="10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7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altLang="zh-CN" lang="en-US" smtClean="0"/>
              <a:t>Click to edit Master title style</a:t>
            </a:r>
            <a:endParaRPr dirty="0" lang="en-US"/>
          </a:p>
        </p:txBody>
      </p:sp>
      <p:sp>
        <p:nvSpPr>
          <p:cNvPr id="104867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p>
            <a:pPr lvl="0"/>
            <a:r>
              <a:rPr altLang="zh-CN" lang="en-US" smtClean="0"/>
              <a:t>Click to edit Master text styles</a:t>
            </a:r>
          </a:p>
          <a:p>
            <a:pPr lvl="1"/>
            <a:r>
              <a:rPr altLang="zh-CN" lang="en-US" smtClean="0"/>
              <a:t>Second level</a:t>
            </a:r>
          </a:p>
          <a:p>
            <a:pPr lvl="2"/>
            <a:r>
              <a:rPr altLang="zh-CN" lang="en-US" smtClean="0"/>
              <a:t>Third level</a:t>
            </a:r>
          </a:p>
          <a:p>
            <a:pPr lvl="3"/>
            <a:r>
              <a:rPr altLang="zh-CN" lang="en-US" smtClean="0"/>
              <a:t>Fourth level</a:t>
            </a:r>
          </a:p>
          <a:p>
            <a:pPr lvl="4"/>
            <a:r>
              <a:rPr altLang="zh-CN" lang="en-US" smtClean="0"/>
              <a:t>Fifth level</a:t>
            </a:r>
            <a:endParaRPr dirty="0" lang="en-US"/>
          </a:p>
        </p:txBody>
      </p:sp>
      <p:sp>
        <p:nvSpPr>
          <p:cNvPr id="104867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70BC1078-46ED-40F9-8930-935BAD7C2B02}" type="datetimeFigureOut">
              <a:rPr altLang="en-US" lang="zh-CN" smtClean="0"/>
              <a:t>2015/5/12</a:t>
            </a:fld>
            <a:endParaRPr altLang="en-US" lang="zh-CN"/>
          </a:p>
        </p:txBody>
      </p:sp>
      <p:sp>
        <p:nvSpPr>
          <p:cNvPr id="104867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altLang="en-US" lang="zh-CN"/>
          </a:p>
        </p:txBody>
      </p:sp>
      <p:sp>
        <p:nvSpPr>
          <p:cNvPr id="104867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D5B52ADC-5BFA-4FBD-BEE2-16096B7F4166}" type="slidenum">
              <a:rPr altLang="en-US" lang="zh-CN" smtClean="0"/>
              <a:t>‹#›</a:t>
            </a:fld>
            <a:endParaRPr altLang="en-US" 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vertTitleAndTx">
  <p:cSld name="Vertical Title and Text">
    <p:spTree>
      <p:nvGrpSpPr>
        <p:cNvPr id="10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6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p>
            <a:r>
              <a:rPr altLang="zh-CN" lang="en-US" smtClean="0"/>
              <a:t>Click to edit Master title style</a:t>
            </a:r>
            <a:endParaRPr dirty="0" lang="en-US"/>
          </a:p>
        </p:txBody>
      </p:sp>
      <p:sp>
        <p:nvSpPr>
          <p:cNvPr id="1048657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p>
            <a:pPr lvl="0"/>
            <a:r>
              <a:rPr altLang="zh-CN" lang="en-US" smtClean="0"/>
              <a:t>Click to edit Master text styles</a:t>
            </a:r>
          </a:p>
          <a:p>
            <a:pPr lvl="1"/>
            <a:r>
              <a:rPr altLang="zh-CN" lang="en-US" smtClean="0"/>
              <a:t>Second level</a:t>
            </a:r>
          </a:p>
          <a:p>
            <a:pPr lvl="2"/>
            <a:r>
              <a:rPr altLang="zh-CN" lang="en-US" smtClean="0"/>
              <a:t>Third level</a:t>
            </a:r>
          </a:p>
          <a:p>
            <a:pPr lvl="3"/>
            <a:r>
              <a:rPr altLang="zh-CN" lang="en-US" smtClean="0"/>
              <a:t>Fourth level</a:t>
            </a:r>
          </a:p>
          <a:p>
            <a:pPr lvl="4"/>
            <a:r>
              <a:rPr altLang="zh-CN" lang="en-US" smtClean="0"/>
              <a:t>Fifth level</a:t>
            </a:r>
            <a:endParaRPr dirty="0" lang="en-US"/>
          </a:p>
        </p:txBody>
      </p:sp>
      <p:sp>
        <p:nvSpPr>
          <p:cNvPr id="1048658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70BC1078-46ED-40F9-8930-935BAD7C2B02}" type="datetimeFigureOut">
              <a:rPr altLang="en-US" lang="zh-CN" smtClean="0"/>
              <a:t>2015/5/12</a:t>
            </a:fld>
            <a:endParaRPr altLang="en-US" lang="zh-CN"/>
          </a:p>
        </p:txBody>
      </p:sp>
      <p:sp>
        <p:nvSpPr>
          <p:cNvPr id="1048659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altLang="en-US" lang="zh-CN"/>
          </a:p>
        </p:txBody>
      </p:sp>
      <p:sp>
        <p:nvSpPr>
          <p:cNvPr id="1048660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D5B52ADC-5BFA-4FBD-BEE2-16096B7F4166}" type="slidenum">
              <a:rPr altLang="en-US" lang="zh-CN" smtClean="0"/>
              <a:t>‹#›</a:t>
            </a:fld>
            <a:endParaRPr altLang="en-US" lang="zh-CN"/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76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/>
        </p:spPr>
        <p:txBody>
          <a:bodyPr anchor="ctr" bIns="45720" lIns="91440" rIns="91440" rtlCol="0" tIns="45720" vert="horz">
            <a:normAutofit/>
          </a:bodyPr>
          <a:p>
            <a:r>
              <a:rPr altLang="zh-CN" lang="en-US" smtClean="0"/>
              <a:t>Click to edit Master title style</a:t>
            </a:r>
            <a:endParaRPr dirty="0" lang="en-US"/>
          </a:p>
        </p:txBody>
      </p:sp>
      <p:sp>
        <p:nvSpPr>
          <p:cNvPr id="1048577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/>
        </p:spPr>
        <p:txBody>
          <a:bodyPr bIns="45720" lIns="91440" rIns="91440" rtlCol="0" tIns="45720" vert="horz">
            <a:normAutofit/>
          </a:bodyPr>
          <a:p>
            <a:pPr lvl="0"/>
            <a:r>
              <a:rPr altLang="zh-CN" lang="en-US" smtClean="0"/>
              <a:t>Click to edit Master text styles</a:t>
            </a:r>
          </a:p>
          <a:p>
            <a:pPr lvl="1"/>
            <a:r>
              <a:rPr altLang="zh-CN" lang="en-US" smtClean="0"/>
              <a:t>Second level</a:t>
            </a:r>
          </a:p>
          <a:p>
            <a:pPr lvl="2"/>
            <a:r>
              <a:rPr altLang="zh-CN" lang="en-US" smtClean="0"/>
              <a:t>Third level</a:t>
            </a:r>
          </a:p>
          <a:p>
            <a:pPr lvl="3"/>
            <a:r>
              <a:rPr altLang="zh-CN" lang="en-US" smtClean="0"/>
              <a:t>Fourth level</a:t>
            </a:r>
          </a:p>
          <a:p>
            <a:pPr lvl="4"/>
            <a:r>
              <a:rPr altLang="zh-CN" lang="en-US" smtClean="0"/>
              <a:t>Fifth level</a:t>
            </a:r>
            <a:endParaRPr dirty="0" lang="en-US"/>
          </a:p>
        </p:txBody>
      </p:sp>
      <p:sp>
        <p:nvSpPr>
          <p:cNvPr id="1048578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/>
        </p:spPr>
        <p:txBody>
          <a:bodyPr anchor="ctr" bIns="45720" lIns="91440" rIns="91440" rtlCol="0" tIns="45720" vert="horz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0BC1078-46ED-40F9-8930-935BAD7C2B02}" type="datetimeFigureOut">
              <a:rPr altLang="en-US" lang="zh-CN" smtClean="0"/>
              <a:t>2015/5/12</a:t>
            </a:fld>
            <a:endParaRPr altLang="en-US" lang="zh-CN"/>
          </a:p>
        </p:txBody>
      </p:sp>
      <p:sp>
        <p:nvSpPr>
          <p:cNvPr id="1048579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/>
        </p:spPr>
        <p:txBody>
          <a:bodyPr anchor="ctr" bIns="45720" lIns="91440" rIns="91440" rtlCol="0" tIns="45720" vert="horz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altLang="en-US" lang="zh-CN"/>
          </a:p>
        </p:txBody>
      </p:sp>
      <p:sp>
        <p:nvSpPr>
          <p:cNvPr id="1048580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/>
        </p:spPr>
        <p:txBody>
          <a:bodyPr anchor="ctr" bIns="45720" lIns="91440" rIns="91440" rtlCol="0" tIns="45720" vert="horz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B52ADC-5BFA-4FBD-BEE2-16096B7F4166}" type="slidenum">
              <a:rPr altLang="en-US" lang="zh-CN" smtClean="0"/>
              <a:t>‹#›</a:t>
            </a:fld>
            <a:endParaRPr altLang="en-US" lang="zh-CN"/>
          </a:p>
        </p:txBody>
      </p:sp>
    </p:spTree>
  </p:cSld>
  <p:clrMap accent1="accent1" accent2="accent2" accent3="accent3" accent4="accent4" accent5="accent5" accent6="accent6" bg1="lt1" bg2="lt2" tx1="dk1" tx2="dk2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eaLnBrk="1" hangingPunct="1" latinLnBrk="0" rtl="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914400" eaLnBrk="1" hangingPunct="1" indent="-228600" latinLnBrk="0" marL="228600" rtl="0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indent="-228600" latinLnBrk="0" marL="685800" rtl="0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indent="-228600" latinLnBrk="0" marL="1143000" rtl="0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indent="-228600" latinLnBrk="0" marL="1600200" rtl="0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indent="-228600" latinLnBrk="0" marL="2057400" rtl="0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indent="-228600" latinLnBrk="0" marL="2514600" rtl="0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indent="-228600" latinLnBrk="0" marL="2971800" rtl="0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indent="-228600" latinLnBrk="0" marL="3429000" rtl="0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indent="-228600" latinLnBrk="0" marL="3886200" rtl="0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914400" eaLnBrk="1" hangingPunct="1" latinLnBrk="0" marL="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latinLnBrk="0" marL="4572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latinLnBrk="0" marL="9144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latinLnBrk="0" marL="13716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latinLnBrk="0" marL="18288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latinLnBrk="0" marL="22860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latinLnBrk="0" marL="27432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latinLnBrk="0" marL="32004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latinLnBrk="0" marL="36576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1.xml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image" Target="../media/image2.jpeg"/><Relationship Id="rId2" Type="http://schemas.openxmlformats.org/officeDocument/2006/relationships/slideLayout" Target="../slideLayouts/slideLayout1.xml"/></Relationships>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image" Target="../media/image3.jpeg"/><Relationship Id="rId2" Type="http://schemas.openxmlformats.org/officeDocument/2006/relationships/slideLayout" Target="../slideLayouts/slideLayout1.xml"/></Relationships>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image" Target="../media/image4.jpeg"/><Relationship Id="rId2" Type="http://schemas.openxmlformats.org/officeDocument/2006/relationships/slideLayout" Target="../slideLayouts/slideLayout1.xml"/></Relationships>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image" Target="../media/image5.jpeg"/><Relationship Id="rId2" Type="http://schemas.openxmlformats.org/officeDocument/2006/relationships/slideLayout" Target="../slideLayouts/slideLayout1.xml"/></Relationships>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
<Relationships xmlns="http://schemas.openxmlformats.org/package/2006/relationships"><Relationship Id="rId1" Type="http://schemas.openxmlformats.org/officeDocument/2006/relationships/image" Target="../media/image6.jpeg"/><Relationship Id="rId2" Type="http://schemas.openxmlformats.org/officeDocument/2006/relationships/slideLayout" Target="../slideLayouts/slideLayout1.xml"/></Relationships>
</file>

<file path=ppt/slides/_rels/slide2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
<Relationships xmlns="http://schemas.openxmlformats.org/package/2006/relationships"><Relationship Id="rId1" Type="http://schemas.openxmlformats.org/officeDocument/2006/relationships/image" Target="../media/image7.jpeg"/><Relationship Id="rId2" Type="http://schemas.openxmlformats.org/officeDocument/2006/relationships/slideLayout" Target="../slideLayouts/slideLayout1.xml"/></Relationships>
</file>

<file path=ppt/slides/_rels/slide2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
<Relationships xmlns="http://schemas.openxmlformats.org/package/2006/relationships"><Relationship Id="rId1" Type="http://schemas.openxmlformats.org/officeDocument/2006/relationships/image" Target="../media/image8.jpeg"/><Relationship Id="rId2" Type="http://schemas.openxmlformats.org/officeDocument/2006/relationships/slideLayout" Target="../slideLayouts/slideLayout1.xml"/></Relationships>
</file>

<file path=ppt/slides/_rels/slide2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
<Relationships xmlns="http://schemas.openxmlformats.org/package/2006/relationships"><Relationship Id="rId1" Type="http://schemas.openxmlformats.org/officeDocument/2006/relationships/image" Target="../media/image9.jpeg"/><Relationship Id="rId2" Type="http://schemas.openxmlformats.org/officeDocument/2006/relationships/slideLayout" Target="../slideLayouts/slideLayout1.xml"/></Relationships>
</file>

<file path=ppt/slides/_rels/slide28.xml.rels><?xml version="1.0" encoding="UTF-8" standalone="yes"?>
<Relationships xmlns="http://schemas.openxmlformats.org/package/2006/relationships"><Relationship Id="rId1" Type="http://schemas.openxmlformats.org/officeDocument/2006/relationships/image" Target="../media/image10.jpeg"/><Relationship Id="rId2" Type="http://schemas.openxmlformats.org/officeDocument/2006/relationships/slideLayout" Target="../slideLayouts/slideLayout1.xml"/></Relationships>
</file>

<file path=ppt/slides/_rels/slide29.xml.rels><?xml version="1.0" encoding="UTF-8" standalone="yes"?>
<Relationships xmlns="http://schemas.openxmlformats.org/package/2006/relationships"><Relationship Id="rId1" Type="http://schemas.openxmlformats.org/officeDocument/2006/relationships/image" Target="../media/image11.jpeg"/><Relationship Id="rId2" Type="http://schemas.openxmlformats.org/officeDocument/2006/relationships/slideLayout" Target="../slideLayouts/slideLayout1.xml"/></Relationships>
</file>

<file path=ppt/slides/_rels/slide3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
<Relationships xmlns="http://schemas.openxmlformats.org/package/2006/relationships"><Relationship Id="rId1" Type="http://schemas.openxmlformats.org/officeDocument/2006/relationships/image" Target="../media/image12.jpeg"/><Relationship Id="rId2" Type="http://schemas.openxmlformats.org/officeDocument/2006/relationships/slideLayout" Target="../slideLayouts/slideLayout1.xml"/></Relationships>
</file>

<file path=ppt/slides/_rels/slide33.xml.rels><?xml version="1.0" encoding="UTF-8" standalone="yes"?>
<Relationships xmlns="http://schemas.openxmlformats.org/package/2006/relationships"><Relationship Id="rId1" Type="http://schemas.openxmlformats.org/officeDocument/2006/relationships/image" Target="../media/image13.jpeg"/><Relationship Id="rId2" Type="http://schemas.openxmlformats.org/officeDocument/2006/relationships/slideLayout" Target="../slideLayouts/slideLayout1.xml"/></Relationships>
</file>

<file path=ppt/slides/_rels/slide34.xml.rels><?xml version="1.0" encoding="UTF-8" standalone="yes"?>
<Relationships xmlns="http://schemas.openxmlformats.org/package/2006/relationships"><Relationship Id="rId1" Type="http://schemas.openxmlformats.org/officeDocument/2006/relationships/image" Target="../media/image14.png"/><Relationship Id="rId2" Type="http://schemas.openxmlformats.org/officeDocument/2006/relationships/slideLayout" Target="../slideLayouts/slideLayout1.xml"/></Relationships>
</file>

<file path=ppt/slides/_rels/slide3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
<Relationships xmlns="http://schemas.openxmlformats.org/package/2006/relationships"><Relationship Id="rId1" Type="http://schemas.openxmlformats.org/officeDocument/2006/relationships/image" Target="../media/image15.jpeg"/><Relationship Id="rId2" Type="http://schemas.openxmlformats.org/officeDocument/2006/relationships/slideLayout" Target="../slideLayouts/slideLayout1.xml"/></Relationships>
</file>

<file path=ppt/slides/_rels/slide38.xml.rels><?xml version="1.0" encoding="UTF-8" standalone="yes"?>
<Relationships xmlns="http://schemas.openxmlformats.org/package/2006/relationships"><Relationship Id="rId1" Type="http://schemas.openxmlformats.org/officeDocument/2006/relationships/image" Target="../media/image16.jpeg"/><Relationship Id="rId2" Type="http://schemas.openxmlformats.org/officeDocument/2006/relationships/slideLayout" Target="../slideLayouts/slideLayout1.xml"/></Relationships>
</file>

<file path=ppt/slides/_rels/slide39.xml.rels><?xml version="1.0" encoding="UTF-8" standalone="yes"?>
<Relationships xmlns="http://schemas.openxmlformats.org/package/2006/relationships"><Relationship Id="rId1" Type="http://schemas.openxmlformats.org/officeDocument/2006/relationships/image" Target="../media/image17.jpeg"/><Relationship Id="rId2" Type="http://schemas.openxmlformats.org/officeDocument/2006/relationships/slideLayout" Target="../slideLayouts/slideLayout1.xml"/></Relationships>
</file>

<file path=ppt/slides/_rels/slide4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
<Relationships xmlns="http://schemas.openxmlformats.org/package/2006/relationships"><Relationship Id="rId1" Type="http://schemas.openxmlformats.org/officeDocument/2006/relationships/image" Target="../media/image18.jpeg"/><Relationship Id="rId2" Type="http://schemas.openxmlformats.org/officeDocument/2006/relationships/slideLayout" Target="../slideLayouts/slideLayout1.xml"/></Relationships>
</file>

<file path=ppt/slides/_rels/slide43.xml.rels><?xml version="1.0" encoding="UTF-8" standalone="yes"?>
<Relationships xmlns="http://schemas.openxmlformats.org/package/2006/relationships"><Relationship Id="rId1" Type="http://schemas.openxmlformats.org/officeDocument/2006/relationships/image" Target="../media/image19.jpeg"/><Relationship Id="rId2" Type="http://schemas.openxmlformats.org/officeDocument/2006/relationships/slideLayout" Target="../slideLayouts/slideLayout1.xml"/></Relationships>
</file>

<file path=ppt/slides/_rels/slide4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 standalone="yes"?>
<p:sld xmlns:a="http://schemas.openxmlformats.org/drawingml/2006/main" xmlns:r="http://schemas.openxmlformats.org/officeDocument/2006/relationships" xmlns:p="http://schemas.openxmlformats.org/presentationml/2006/main"><p:cSld><p:spTree><p:nvGrpSpPr><p:cNvPr id="25" name=""/><p:cNvGrpSpPr/><p:nvPr/></p:nvGrpSpPr><p:grpSpPr><a:xfrm><a:off x="0" y="0"/><a:ext cx="0" cy="0"/><a:chOff x="0" y="0"/><a:chExt cx="0" cy="0"/></a:xfrm></p:grpSpPr><p:sp><p:nvSpPr><p:cNvPr id="1048586" name=""/><p:cNvSpPr txBox="1"/><p:nvPr/></p:nvSpPr><p:spPr><a:xfrm><a:off x="-96080" y="557165"/><a:ext cx="9141882" cy="6098540"/></a:xfrm><a:prstGeom prst="rect"/></p:spPr><p:txBody><a:bodyPr rtlCol="0" wrap="square"><a:spAutoFit/></a:bodyPr><a:p><a:pPr algn="ctr"/><a:r><a:rPr b="1" sz="2800" lang="en-US"><a:solidFill><a:srgbClr val="0070C0"/></a:solidFill><a:latin typeface="Coming Soon"/><a:cs typeface="Droid Sans Mono"/></a:rPr><a:t>CARDIAC CHAMBERS HYPERTROPHY, </a:t></a:r><a:r><a:rPr b="1" sz="2800" lang="en-US"><a:solidFill><a:srgbClr val="0070C0"/></a:solidFill><a:latin typeface="Coming Soon"/><a:cs typeface="Droid Sans Mono"/></a:rPr><a:t>C</a:t></a:r><a:r><a:rPr b="1" sz="2800" lang="en-US"><a:solidFill><a:srgbClr val="0070C0"/></a:solidFill><a:latin typeface="Coming Soon"/><a:cs typeface="Droid Sans Mono"/></a:rPr><a:t>H</a:t></a:r><a:r><a:rPr b="1" sz="2800" lang="en-US"><a:solidFill><a:srgbClr val="0070C0"/></a:solidFill><a:latin typeface="Coming Soon"/><a:cs typeface="Droid Sans Mono"/></a:rPr><a:t>A</a:t></a:r><a:r><a:rPr b="1" sz="2800" lang="en-US"><a:solidFill><a:srgbClr val="0070C0"/></a:solidFill><a:latin typeface="Coming Soon"/><a:cs typeface="Droid Sans Mono"/></a:rPr><a:t>M</a:t></a:r><a:r><a:rPr b="1" sz="2800" lang="en-US"><a:solidFill><a:srgbClr val="0070C0"/></a:solidFill><a:latin typeface="Coming Soon"/><a:cs typeface="Droid Sans Mono"/></a:rPr><a:t>B</a:t></a:r><a:r><a:rPr b="1" sz="2800" lang="en-US"><a:solidFill><a:srgbClr val="0070C0"/></a:solidFill><a:latin typeface="Coming Soon"/><a:cs typeface="Droid Sans Mono"/></a:rPr><a:t>ERS  ENLARGEMENT AND LOW VOLTAGE ECG</a:t></a:r><a:endParaRPr b="1" sz="2800" lang="en-US"><a:solidFill><a:srgbClr val="0070C0"/></a:solidFill><a:latin typeface="Coming Soon"/><a:cs typeface="Droid Sans Mono"/></a:endParaRPr></a:p><a:p><a:pPr algn="ctr"/><a:r><a:rPr b="1" sz="2800" lang="en-US"><a:solidFill><a:srgbClr val="0070C0"/></a:solidFill><a:latin typeface="Coming Soon"/><a:cs typeface="Droid Sans Mono"/></a:rPr><a:t></a:t></a:r><a:endParaRPr b="1" sz="2800" lang="en-US"><a:solidFill><a:srgbClr val="0070C0"/></a:solidFill><a:latin typeface="Coming Soon"/><a:cs typeface="Droid Sans Mono"/></a:endParaRPr></a:p><a:p><a:pPr algn="ctr"/><a:r><a:rPr b="1" sz="2800" lang="en-US"><a:solidFill><a:srgbClr val="000000"/></a:solidFill><a:latin typeface="Coming Soon"/><a:cs typeface="Droid Sans Mono"/></a:rPr><a:t>BY</a:t></a:r><a:endParaRPr b="1" sz="2800" lang="en-US"><a:solidFill><a:srgbClr val="000000"/></a:solidFill><a:latin typeface="Coming Soon"/><a:cs typeface="Droid Sans Mono"/></a:endParaRPr></a:p><a:p><a:pPr algn="ctr"/><a:endParaRPr b="1" sz="2800" lang="en-US"><a:solidFill><a:srgbClr val="000000"/></a:solidFill><a:latin typeface="Coming Soon"/><a:cs typeface="Droid Sans Mono"/></a:endParaRPr></a:p><a:p><a:pPr algn="ctr"/><a:r><a:rPr b="1" sz="2800" lang="en-US"><a:solidFill><a:srgbClr val="000000"/></a:solidFill><a:latin typeface="Coming Soon"/><a:cs typeface="Droid Sans Mono"/></a:rPr><a:t>MR. UMAR AMINU IBRAHIM </a:t></a:r><a:endParaRPr b="1" sz="2800" lang="en-US"><a:solidFill><a:srgbClr val="000000"/></a:solidFill><a:latin typeface="Coming Soon"/><a:cs typeface="Droid Sans Mono"/></a:endParaRPr></a:p><a:p><a:pPr algn="ctr"/><a:endParaRPr b="1" sz="2800" lang="en-US"><a:solidFill><a:srgbClr val="000000"/></a:solidFill><a:latin typeface="Coming Soon"/><a:cs typeface="Droid Sans Mono"/></a:endParaRPr></a:p><a:p><a:pPr algn="ctr"/><a:endParaRPr b="1" sz="2800" lang="en-US"><a:solidFill><a:srgbClr val="000000"/></a:solidFill><a:latin typeface="Coming Soon"/><a:cs typeface="Droid Sans Mono"/></a:endParaRPr></a:p><a:p><a:pPr algn="ctr"/><a:r><a:rPr b="1" sz="2800" lang="en-US"><a:solidFill><a:srgbClr val="000000"/></a:solidFill><a:latin typeface="Coming Soon"/><a:cs typeface="Droid Sans Mono"/></a:rPr><a:t>09TH JULY.</a:t></a:r><a:endParaRPr b="1" sz="2800" lang="en-US"><a:solidFill><a:srgbClr val="000000"/></a:solidFill><a:latin typeface="Coming Soon"/><a:cs typeface="Droid Sans Mono"/></a:endParaRPr></a:p></p:txBody></p:sp></p:spTree></p:cSld><p:clrMapOvr><a:masterClrMapping/></p:clrMapOvr>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6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7" name=""/>
          <p:cNvSpPr txBox="1"/>
          <p:nvPr/>
        </p:nvSpPr>
        <p:spPr>
          <a:xfrm>
            <a:off x="2455434" y="130683"/>
            <a:ext cx="4233133" cy="510540"/>
          </a:xfrm>
          <a:prstGeom prst="rect"/>
        </p:spPr>
        <p:txBody>
          <a:bodyPr rtlCol="0" wrap="square">
            <a:spAutoFit/>
          </a:bodyPr>
          <a:p>
            <a:r>
              <a:rPr b="1" sz="2800" lang="en-US">
                <a:solidFill>
                  <a:srgbClr val="0070C0"/>
                </a:solidFill>
              </a:rPr>
              <a:t>TABLE OF CONTENTS </a:t>
            </a:r>
            <a:endParaRPr b="1" sz="2800" lang="en-US">
              <a:solidFill>
                <a:srgbClr val="0070C0"/>
              </a:solidFill>
            </a:endParaRPr>
          </a:p>
        </p:txBody>
      </p:sp>
      <p:sp>
        <p:nvSpPr>
          <p:cNvPr id="1048588" name=""/>
          <p:cNvSpPr txBox="1"/>
          <p:nvPr/>
        </p:nvSpPr>
        <p:spPr>
          <a:xfrm>
            <a:off x="155424" y="893604"/>
            <a:ext cx="8584952" cy="5603239"/>
          </a:xfrm>
          <a:prstGeom prst="rect"/>
        </p:spPr>
        <p:txBody>
          <a:bodyPr rtlCol="0" wrap="square">
            <a:spAutoFit/>
          </a:bodyPr>
          <a:p>
            <a:r>
              <a:rPr sz="2800" lang="en-US">
                <a:solidFill>
                  <a:srgbClr val="000000"/>
                </a:solidFill>
              </a:rPr>
              <a:t> • </a:t>
            </a:r>
            <a:r>
              <a:rPr b="1" sz="3200" lang="en-US">
                <a:solidFill>
                  <a:srgbClr val="008000"/>
                </a:solidFill>
              </a:rPr>
              <a:t>Definition</a:t>
            </a:r>
            <a:endParaRPr b="1" sz="3200" lang="en-US">
              <a:solidFill>
                <a:srgbClr val="008000"/>
              </a:solidFill>
            </a:endParaRPr>
          </a:p>
          <a:p>
            <a:r>
              <a:rPr sz="2800" lang="en-US">
                <a:solidFill>
                  <a:srgbClr val="000000"/>
                </a:solidFill>
              </a:rPr>
              <a:t> • Types of Hypertrophy</a:t>
            </a:r>
            <a:endParaRPr sz="2800" lang="en-US">
              <a:solidFill>
                <a:srgbClr val="000000"/>
              </a:solidFill>
            </a:endParaRPr>
          </a:p>
          <a:p>
            <a:r>
              <a:rPr sz="2800" lang="en-US">
                <a:solidFill>
                  <a:srgbClr val="000000"/>
                </a:solidFill>
              </a:rPr>
              <a:t> i. </a:t>
            </a:r>
            <a:r>
              <a:rPr b="1" sz="2800" lang="en-US">
                <a:solidFill>
                  <a:srgbClr val="008000"/>
                </a:solidFill>
              </a:rPr>
              <a:t>Left Ventricular Hypertrophy (LVH)</a:t>
            </a:r>
            <a:endParaRPr b="1" sz="2800" lang="en-US">
              <a:solidFill>
                <a:srgbClr val="008000"/>
              </a:solidFill>
            </a:endParaRPr>
          </a:p>
          <a:p>
            <a:r>
              <a:rPr sz="2800" lang="en-US">
                <a:solidFill>
                  <a:srgbClr val="000000"/>
                </a:solidFill>
              </a:rPr>
              <a:t>- Causes of LVH</a:t>
            </a:r>
            <a:endParaRPr sz="2800" lang="en-US">
              <a:solidFill>
                <a:srgbClr val="000000"/>
              </a:solidFill>
            </a:endParaRPr>
          </a:p>
          <a:p>
            <a:r>
              <a:rPr sz="2800" lang="en-US">
                <a:solidFill>
                  <a:srgbClr val="000000"/>
                </a:solidFill>
              </a:rPr>
              <a:t>- ECG diagnostic criteria</a:t>
            </a:r>
            <a:endParaRPr sz="2800" lang="en-US">
              <a:solidFill>
                <a:srgbClr val="000000"/>
              </a:solidFill>
            </a:endParaRPr>
          </a:p>
          <a:p>
            <a:r>
              <a:rPr sz="2800" lang="en-US">
                <a:solidFill>
                  <a:srgbClr val="000000"/>
                </a:solidFill>
              </a:rPr>
              <a:t>- Examples</a:t>
            </a:r>
            <a:endParaRPr sz="2800" lang="en-US">
              <a:solidFill>
                <a:srgbClr val="000000"/>
              </a:solidFill>
            </a:endParaRPr>
          </a:p>
          <a:p>
            <a:r>
              <a:rPr sz="2800" lang="en-US">
                <a:solidFill>
                  <a:srgbClr val="000000"/>
                </a:solidFill>
              </a:rPr>
              <a:t>ii. </a:t>
            </a:r>
            <a:r>
              <a:rPr b="1" sz="2800" lang="en-US">
                <a:solidFill>
                  <a:srgbClr val="008000"/>
                </a:solidFill>
              </a:rPr>
              <a:t>Right Ventricular Hypertrophy (RVH)</a:t>
            </a:r>
            <a:endParaRPr b="1" sz="2800" lang="en-US">
              <a:solidFill>
                <a:srgbClr val="008000"/>
              </a:solidFill>
            </a:endParaRPr>
          </a:p>
          <a:p>
            <a:r>
              <a:rPr sz="2800" lang="en-US">
                <a:solidFill>
                  <a:srgbClr val="000000"/>
                </a:solidFill>
              </a:rPr>
              <a:t>- Causes of RVH </a:t>
            </a:r>
            <a:endParaRPr sz="2800" lang="en-US">
              <a:solidFill>
                <a:srgbClr val="000000"/>
              </a:solidFill>
            </a:endParaRPr>
          </a:p>
          <a:p>
            <a:r>
              <a:rPr sz="2800" lang="en-US">
                <a:solidFill>
                  <a:srgbClr val="000000"/>
                </a:solidFill>
              </a:rPr>
              <a:t>- ECG diagnostic criteria</a:t>
            </a:r>
            <a:endParaRPr sz="2800" lang="en-US">
              <a:solidFill>
                <a:srgbClr val="000000"/>
              </a:solidFill>
            </a:endParaRPr>
          </a:p>
          <a:p>
            <a:r>
              <a:rPr sz="2800" lang="en-US">
                <a:solidFill>
                  <a:srgbClr val="000000"/>
                </a:solidFill>
              </a:rPr>
              <a:t>- Examples</a:t>
            </a:r>
            <a:endParaRPr sz="2800" lang="en-US">
              <a:solidFill>
                <a:srgbClr val="000000"/>
              </a:solidFill>
            </a:endParaRPr>
          </a:p>
          <a:p>
            <a:r>
              <a:rPr sz="2800" lang="en-US">
                <a:solidFill>
                  <a:srgbClr val="000000"/>
                </a:solidFill>
              </a:rPr>
              <a:t> • </a:t>
            </a:r>
            <a:r>
              <a:rPr b="1" sz="2800" lang="en-US">
                <a:solidFill>
                  <a:srgbClr val="008000"/>
                </a:solidFill>
              </a:rPr>
              <a:t>LOW VOLTAGE</a:t>
            </a:r>
            <a:endParaRPr b="1" sz="2800" lang="en-US">
              <a:solidFill>
                <a:srgbClr val="008000"/>
              </a:solidFill>
            </a:endParaRPr>
          </a:p>
          <a:p>
            <a:r>
              <a:rPr sz="2800" lang="en-US">
                <a:solidFill>
                  <a:srgbClr val="000000"/>
                </a:solidFill>
              </a:rPr>
              <a:t>- Causes of low voltage</a:t>
            </a:r>
            <a:endParaRPr sz="2800" lang="en-US">
              <a:solidFill>
                <a:srgbClr val="000000"/>
              </a:solidFill>
            </a:endParaRPr>
          </a:p>
          <a:p>
            <a:r>
              <a:rPr sz="2800" lang="en-US">
                <a:solidFill>
                  <a:srgbClr val="000000"/>
                </a:solidFill>
              </a:rPr>
              <a:t>- Electrical alternas </a:t>
            </a:r>
            <a:endParaRPr sz="2800" lang="en-US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6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9" name=""/>
          <p:cNvSpPr txBox="1"/>
          <p:nvPr/>
        </p:nvSpPr>
        <p:spPr>
          <a:xfrm>
            <a:off x="188860" y="1151657"/>
            <a:ext cx="8960556" cy="3863340"/>
          </a:xfrm>
          <a:prstGeom prst="rect"/>
        </p:spPr>
        <p:txBody>
          <a:bodyPr rtlCol="0" wrap="square">
            <a:spAutoFit/>
          </a:bodyPr>
          <a:p>
            <a:r>
              <a:rPr sz="2800" lang="en-US">
                <a:solidFill>
                  <a:srgbClr val="000000"/>
                </a:solidFill>
              </a:rPr>
              <a:t>Cardiac hypertrophy is the heart's response to a variety of extrinsic and intrinsic stimuli that impose increased biomechanical stress.( Frey and Olson,2023)</a:t>
            </a:r>
            <a:endParaRPr sz="2800" lang="en-US">
              <a:solidFill>
                <a:srgbClr val="000000"/>
              </a:solidFill>
            </a:endParaRPr>
          </a:p>
          <a:p>
            <a:endParaRPr sz="2800" lang="en-US">
              <a:solidFill>
                <a:srgbClr val="000000"/>
              </a:solidFill>
            </a:endParaRPr>
          </a:p>
          <a:p>
            <a:r>
              <a:rPr sz="2800" lang="en-US">
                <a:solidFill>
                  <a:srgbClr val="000000"/>
                </a:solidFill>
              </a:rPr>
              <a:t>Cardiac hypertrophy is an adaptive response to pressure or volume stress, mutations of sarcomere</a:t>
            </a:r>
            <a:r>
              <a:rPr sz="2800" lang="en-US">
                <a:solidFill>
                  <a:srgbClr val="000000"/>
                </a:solidFill>
              </a:rPr>
              <a:t>.</a:t>
            </a:r>
            <a:endParaRPr sz="2800" lang="en-US">
              <a:solidFill>
                <a:srgbClr val="000000"/>
              </a:solidFill>
            </a:endParaRPr>
          </a:p>
          <a:p>
            <a:endParaRPr sz="2800" lang="en-US">
              <a:solidFill>
                <a:srgbClr val="000000"/>
              </a:solidFill>
            </a:endParaRPr>
          </a:p>
          <a:p>
            <a:r>
              <a:rPr sz="2800" lang="en-US">
                <a:solidFill>
                  <a:srgbClr val="000000"/>
                </a:solidFill>
              </a:rPr>
              <a:t>Ventricular hypertrophy (VH) is thickening of the walls of a ventricle (lower chamber) of the heart</a:t>
            </a:r>
            <a:r>
              <a:rPr sz="2800" lang="en-US">
                <a:solidFill>
                  <a:srgbClr val="000000"/>
                </a:solidFill>
              </a:rPr>
              <a:t>.</a:t>
            </a:r>
            <a:endParaRPr sz="2800" lang="en-US">
              <a:solidFill>
                <a:srgbClr val="000000"/>
              </a:solidFill>
            </a:endParaRPr>
          </a:p>
        </p:txBody>
      </p:sp>
      <p:sp>
        <p:nvSpPr>
          <p:cNvPr id="1048590" name=""/>
          <p:cNvSpPr txBox="1"/>
          <p:nvPr/>
        </p:nvSpPr>
        <p:spPr>
          <a:xfrm>
            <a:off x="3148356" y="402080"/>
            <a:ext cx="4000000" cy="624840"/>
          </a:xfrm>
          <a:prstGeom prst="rect"/>
        </p:spPr>
        <p:txBody>
          <a:bodyPr rtlCol="0" wrap="square">
            <a:spAutoFit/>
          </a:bodyPr>
          <a:p>
            <a:r>
              <a:rPr sz="3600" lang="en-US">
                <a:solidFill>
                  <a:srgbClr val="0070C0"/>
                </a:solidFill>
              </a:rPr>
              <a:t>D</a:t>
            </a:r>
            <a:r>
              <a:rPr sz="3600" lang="en-US">
                <a:solidFill>
                  <a:srgbClr val="0070C0"/>
                </a:solidFill>
              </a:rPr>
              <a:t>E</a:t>
            </a:r>
            <a:r>
              <a:rPr sz="3600" lang="en-US">
                <a:solidFill>
                  <a:srgbClr val="0070C0"/>
                </a:solidFill>
              </a:rPr>
              <a:t>F</a:t>
            </a:r>
            <a:r>
              <a:rPr sz="3600" lang="en-US">
                <a:solidFill>
                  <a:srgbClr val="0070C0"/>
                </a:solidFill>
              </a:rPr>
              <a:t>I</a:t>
            </a:r>
            <a:r>
              <a:rPr sz="3600" lang="en-US">
                <a:solidFill>
                  <a:srgbClr val="0070C0"/>
                </a:solidFill>
              </a:rPr>
              <a:t>N</a:t>
            </a:r>
            <a:r>
              <a:rPr sz="3600" lang="en-US">
                <a:solidFill>
                  <a:srgbClr val="0070C0"/>
                </a:solidFill>
              </a:rPr>
              <a:t>ITION</a:t>
            </a:r>
            <a:r>
              <a:rPr sz="2800" lang="en-US">
                <a:solidFill>
                  <a:srgbClr val="000000"/>
                </a:solidFill>
              </a:rPr>
              <a:t> </a:t>
            </a:r>
            <a:endParaRPr sz="2800" lang="en-US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6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1" name=""/>
          <p:cNvSpPr txBox="1"/>
          <p:nvPr/>
        </p:nvSpPr>
        <p:spPr>
          <a:xfrm>
            <a:off x="162958" y="1003087"/>
            <a:ext cx="8818084" cy="4358640"/>
          </a:xfrm>
          <a:prstGeom prst="rect"/>
        </p:spPr>
        <p:txBody>
          <a:bodyPr rtlCol="0" wrap="square">
            <a:spAutoFit/>
          </a:bodyPr>
          <a:p>
            <a:r>
              <a:rPr sz="2400" lang="en-US">
                <a:solidFill>
                  <a:srgbClr val="000000"/>
                </a:solidFill>
              </a:rPr>
              <a:t>Left ventricular hypertrophy (LVH) is a condition in which there is an increase in left ventricular mass. </a:t>
            </a:r>
            <a:endParaRPr sz="2400" lang="en-US">
              <a:solidFill>
                <a:srgbClr val="000000"/>
              </a:solidFill>
            </a:endParaRPr>
          </a:p>
          <a:p>
            <a:endParaRPr sz="2400" lang="en-US">
              <a:solidFill>
                <a:srgbClr val="000000"/>
              </a:solidFill>
            </a:endParaRPr>
          </a:p>
          <a:p>
            <a:r>
              <a:rPr sz="2400" lang="en-US">
                <a:solidFill>
                  <a:srgbClr val="000000"/>
                </a:solidFill>
              </a:rPr>
              <a:t>The </a:t>
            </a:r>
            <a:r>
              <a:rPr sz="2400" lang="en-US">
                <a:solidFill>
                  <a:srgbClr val="000000"/>
                </a:solidFill>
              </a:rPr>
              <a:t>left ventricle hypertrophy occurs in response to pressure overload secondary to conditions such as aortic stenosis and hypertension. This results in increased R wave amplitude in the left-sided ECG leads (I, aVL and V4-6) and increased S wave depth in the right-sided leads (III, aVR, V1-3).</a:t>
            </a:r>
            <a:endParaRPr sz="2400" lang="en-US">
              <a:solidFill>
                <a:srgbClr val="000000"/>
              </a:solidFill>
            </a:endParaRPr>
          </a:p>
          <a:p>
            <a:endParaRPr sz="2400" lang="en-US">
              <a:solidFill>
                <a:srgbClr val="000000"/>
              </a:solidFill>
            </a:endParaRPr>
          </a:p>
          <a:p>
            <a:r>
              <a:rPr sz="2400" lang="en-US">
                <a:solidFill>
                  <a:srgbClr val="000000"/>
                </a:solidFill>
              </a:rPr>
              <a:t>The left ventricular wall thickening occurs in response to pressure overload, and chamber dilatation occurs in response to the volume overload. (Cuspidi C, et al., 2012).</a:t>
            </a:r>
            <a:endParaRPr sz="2400" lang="en-US">
              <a:solidFill>
                <a:srgbClr val="000000"/>
              </a:solidFill>
            </a:endParaRPr>
          </a:p>
        </p:txBody>
      </p:sp>
      <p:sp>
        <p:nvSpPr>
          <p:cNvPr id="1048592" name=""/>
          <p:cNvSpPr txBox="1"/>
          <p:nvPr/>
        </p:nvSpPr>
        <p:spPr>
          <a:xfrm>
            <a:off x="1536010" y="156530"/>
            <a:ext cx="7039493" cy="510540"/>
          </a:xfrm>
          <a:prstGeom prst="rect"/>
        </p:spPr>
        <p:txBody>
          <a:bodyPr rtlCol="0" wrap="square">
            <a:spAutoFit/>
          </a:bodyPr>
          <a:p>
            <a:r>
              <a:rPr b="1" sz="2800" lang="en-US">
                <a:solidFill>
                  <a:srgbClr val="0070C0"/>
                </a:solidFill>
              </a:rPr>
              <a:t>LEFT VENTRICULAR HYPERTROPHY</a:t>
            </a:r>
            <a:endParaRPr b="1" sz="2800" lang="en-US">
              <a:solidFill>
                <a:srgbClr val="0070C0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6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3" name=""/>
          <p:cNvSpPr txBox="1"/>
          <p:nvPr/>
        </p:nvSpPr>
        <p:spPr>
          <a:xfrm>
            <a:off x="305426" y="208225"/>
            <a:ext cx="8584009" cy="6377940"/>
          </a:xfrm>
          <a:prstGeom prst="rect"/>
        </p:spPr>
        <p:txBody>
          <a:bodyPr rtlCol="0" wrap="square">
            <a:spAutoFit/>
          </a:bodyPr>
          <a:p>
            <a:r>
              <a:rPr sz="2800" lang="en-US">
                <a:solidFill>
                  <a:srgbClr val="000000"/>
                </a:solidFill>
              </a:rPr>
              <a:t>The thickened LV wall leads to prolonged depolarisation (increased R wave peak time) and delayed repolarisation (ST and T-wave abnormalities) in the lateral leads.</a:t>
            </a:r>
            <a:endParaRPr sz="2800" lang="en-US">
              <a:solidFill>
                <a:srgbClr val="000000"/>
              </a:solidFill>
            </a:endParaRPr>
          </a:p>
          <a:p>
            <a:endParaRPr sz="2800" lang="en-US">
              <a:solidFill>
                <a:srgbClr val="000000"/>
              </a:solidFill>
            </a:endParaRPr>
          </a:p>
          <a:p>
            <a:r>
              <a:rPr b="1" sz="2800" lang="en-US">
                <a:solidFill>
                  <a:srgbClr val="008000"/>
                </a:solidFill>
              </a:rPr>
              <a:t>ECG Diagnostic criteria</a:t>
            </a:r>
            <a:endParaRPr b="1" sz="2800" lang="en-US">
              <a:solidFill>
                <a:srgbClr val="008000"/>
              </a:solidFill>
            </a:endParaRPr>
          </a:p>
          <a:p>
            <a:r>
              <a:rPr sz="2800" lang="en-US">
                <a:solidFill>
                  <a:srgbClr val="000000"/>
                </a:solidFill>
              </a:rPr>
              <a:t>There are numerous voltage criteria for diagnosing LVH, summarised below</a:t>
            </a:r>
            <a:r>
              <a:rPr sz="2800" lang="en-US">
                <a:solidFill>
                  <a:srgbClr val="000000"/>
                </a:solidFill>
              </a:rPr>
              <a:t>;</a:t>
            </a:r>
            <a:endParaRPr sz="2800" lang="en-US">
              <a:solidFill>
                <a:srgbClr val="000000"/>
              </a:solidFill>
            </a:endParaRPr>
          </a:p>
          <a:p>
            <a:endParaRPr sz="2800" lang="en-US">
              <a:solidFill>
                <a:srgbClr val="000000"/>
              </a:solidFill>
            </a:endParaRPr>
          </a:p>
          <a:p>
            <a:r>
              <a:rPr sz="2800" lang="en-US">
                <a:solidFill>
                  <a:srgbClr val="000000"/>
                </a:solidFill>
              </a:rPr>
              <a:t>The most commonly used are the Sokolow-Lyon criteria: S wave depth in V1 + tallest R wave height in V5 or V6 &gt; 35 mm — Confirmed LVH.</a:t>
            </a:r>
            <a:endParaRPr sz="2800" lang="en-US">
              <a:solidFill>
                <a:srgbClr val="000000"/>
              </a:solidFill>
            </a:endParaRPr>
          </a:p>
          <a:p>
            <a:endParaRPr sz="2800" lang="en-US">
              <a:solidFill>
                <a:srgbClr val="000000"/>
              </a:solidFill>
            </a:endParaRPr>
          </a:p>
          <a:p>
            <a:r>
              <a:rPr sz="2800" lang="en-US">
                <a:solidFill>
                  <a:srgbClr val="000000"/>
                </a:solidFill>
              </a:rPr>
              <a:t>There are additional criteria's for LVH such as Cornell voltage and Framingham criteria's etc.</a:t>
            </a:r>
            <a:endParaRPr sz="2800" lang="en-US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6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4" name=""/>
          <p:cNvSpPr txBox="1"/>
          <p:nvPr/>
        </p:nvSpPr>
        <p:spPr>
          <a:xfrm>
            <a:off x="175909" y="245551"/>
            <a:ext cx="8597905" cy="5539740"/>
          </a:xfrm>
          <a:prstGeom prst="rect"/>
        </p:spPr>
        <p:txBody>
          <a:bodyPr rtlCol="0" wrap="square">
            <a:spAutoFit/>
          </a:bodyPr>
          <a:p>
            <a:r>
              <a:rPr sz="2800" lang="en-US">
                <a:solidFill>
                  <a:srgbClr val="000000"/>
                </a:solidFill>
              </a:rPr>
              <a:t>However, the voltage criteria must be accompanied by non-voltage criteria to be considered diagnostic of LVH</a:t>
            </a:r>
            <a:endParaRPr sz="2800" lang="en-US">
              <a:solidFill>
                <a:srgbClr val="000000"/>
              </a:solidFill>
            </a:endParaRPr>
          </a:p>
          <a:p>
            <a:endParaRPr sz="2800" lang="en-US">
              <a:solidFill>
                <a:srgbClr val="000000"/>
              </a:solidFill>
            </a:endParaRPr>
          </a:p>
          <a:p>
            <a:r>
              <a:rPr b="1" sz="2800" lang="en-US">
                <a:solidFill>
                  <a:srgbClr val="008000"/>
                </a:solidFill>
              </a:rPr>
              <a:t> </a:t>
            </a:r>
            <a:r>
              <a:rPr b="1" sz="2800" lang="en-US">
                <a:solidFill>
                  <a:srgbClr val="008000"/>
                </a:solidFill>
              </a:rPr>
              <a:t>N</a:t>
            </a:r>
            <a:r>
              <a:rPr b="1" sz="2800" lang="en-US">
                <a:solidFill>
                  <a:srgbClr val="008000"/>
                </a:solidFill>
              </a:rPr>
              <a:t>on Voltage Criteria</a:t>
            </a:r>
            <a:endParaRPr b="1" sz="2800" lang="en-US">
              <a:solidFill>
                <a:srgbClr val="008000"/>
              </a:solidFill>
            </a:endParaRPr>
          </a:p>
          <a:p>
            <a:r>
              <a:rPr sz="2800" lang="en-US">
                <a:solidFill>
                  <a:srgbClr val="000000"/>
                </a:solidFill>
              </a:rPr>
              <a:t>• Increased R wave peak time &gt; 50 ms in leads V5 or V6.</a:t>
            </a:r>
            <a:endParaRPr sz="2800" lang="en-US">
              <a:solidFill>
                <a:srgbClr val="000000"/>
              </a:solidFill>
            </a:endParaRPr>
          </a:p>
          <a:p>
            <a:endParaRPr sz="2800" lang="en-US">
              <a:solidFill>
                <a:srgbClr val="000000"/>
              </a:solidFill>
            </a:endParaRPr>
          </a:p>
          <a:p>
            <a:r>
              <a:rPr sz="2800" lang="en-US">
                <a:solidFill>
                  <a:srgbClr val="000000"/>
                </a:solidFill>
              </a:rPr>
              <a:t>• ST segment depression and T wave inversion in the left-sided leads: AKA the </a:t>
            </a:r>
            <a:r>
              <a:rPr b="1" sz="2800" lang="en-US">
                <a:solidFill>
                  <a:srgbClr val="BF0000"/>
                </a:solidFill>
              </a:rPr>
              <a:t>left ventricular ‘strain’ pattern.</a:t>
            </a:r>
            <a:endParaRPr b="1" sz="2800" lang="en-US">
              <a:solidFill>
                <a:srgbClr val="BF0000"/>
              </a:solidFill>
            </a:endParaRPr>
          </a:p>
          <a:p>
            <a:endParaRPr b="1" sz="2800" lang="en-US">
              <a:solidFill>
                <a:srgbClr val="BF0000"/>
              </a:solidFill>
            </a:endParaRPr>
          </a:p>
          <a:p>
            <a:r>
              <a:rPr b="0" sz="2800" lang="en-US">
                <a:solidFill>
                  <a:srgbClr val="000000"/>
                </a:solidFill>
              </a:rPr>
              <a:t>Left sided leads </a:t>
            </a:r>
            <a:r>
              <a:rPr b="0" sz="2800" lang="en-US">
                <a:solidFill>
                  <a:srgbClr val="000000"/>
                </a:solidFill>
              </a:rPr>
              <a:t>a</a:t>
            </a:r>
            <a:r>
              <a:rPr b="0" sz="2800" lang="en-US">
                <a:solidFill>
                  <a:srgbClr val="000000"/>
                </a:solidFill>
              </a:rPr>
              <a:t>r</a:t>
            </a:r>
            <a:r>
              <a:rPr b="0" sz="2800" lang="en-US">
                <a:solidFill>
                  <a:srgbClr val="000000"/>
                </a:solidFill>
              </a:rPr>
              <a:t>e</a:t>
            </a:r>
            <a:r>
              <a:rPr b="0" sz="2800" lang="en-US">
                <a:solidFill>
                  <a:srgbClr val="000000"/>
                </a:solidFill>
              </a:rPr>
              <a:t> </a:t>
            </a:r>
            <a:r>
              <a:rPr b="0" sz="2800" lang="en-US">
                <a:solidFill>
                  <a:srgbClr val="000000"/>
                </a:solidFill>
              </a:rPr>
              <a:t>V5 &amp; V6.</a:t>
            </a:r>
            <a:endParaRPr b="0" sz="2800" lang="en-US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6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5" name=""/>
          <p:cNvSpPr txBox="1"/>
          <p:nvPr/>
        </p:nvSpPr>
        <p:spPr>
          <a:xfrm>
            <a:off x="253618" y="221149"/>
            <a:ext cx="8662665" cy="3863340"/>
          </a:xfrm>
          <a:prstGeom prst="rect"/>
        </p:spPr>
        <p:txBody>
          <a:bodyPr rtlCol="0" wrap="square">
            <a:spAutoFit/>
          </a:bodyPr>
          <a:p>
            <a:r>
              <a:rPr sz="2800" lang="en-US">
                <a:solidFill>
                  <a:srgbClr val="000000"/>
                </a:solidFill>
              </a:rPr>
              <a:t>Moreover, there are many as many voltage criteria to diagnose LVH but we will stick to this ones for now.</a:t>
            </a:r>
            <a:endParaRPr sz="2800" lang="en-US">
              <a:solidFill>
                <a:srgbClr val="000000"/>
              </a:solidFill>
            </a:endParaRPr>
          </a:p>
          <a:p>
            <a:endParaRPr sz="2800" lang="en-US">
              <a:solidFill>
                <a:srgbClr val="000000"/>
              </a:solidFill>
            </a:endParaRPr>
          </a:p>
          <a:p>
            <a:r>
              <a:rPr sz="2800" lang="en-US">
                <a:solidFill>
                  <a:srgbClr val="000000"/>
                </a:solidFill>
              </a:rPr>
              <a:t>Be</a:t>
            </a:r>
            <a:r>
              <a:rPr sz="2800" lang="en-US">
                <a:solidFill>
                  <a:srgbClr val="000000"/>
                </a:solidFill>
              </a:rPr>
              <a:t>ause</a:t>
            </a:r>
            <a:r>
              <a:rPr sz="2800" lang="en-US">
                <a:solidFill>
                  <a:srgbClr val="000000"/>
                </a:solidFill>
              </a:rPr>
              <a:t> there are limb leads criteria and precordial leads criteria as well. Most commonly used is precordial leads criteria </a:t>
            </a:r>
            <a:r>
              <a:rPr b="1" sz="2800" lang="en-US">
                <a:solidFill>
                  <a:srgbClr val="000000"/>
                </a:solidFill>
              </a:rPr>
              <a:t>(sokolow lyon criteria)</a:t>
            </a:r>
            <a:r>
              <a:rPr sz="2800" lang="en-US">
                <a:solidFill>
                  <a:srgbClr val="000000"/>
                </a:solidFill>
              </a:rPr>
              <a:t>.</a:t>
            </a:r>
            <a:endParaRPr sz="2800" lang="en-US">
              <a:solidFill>
                <a:srgbClr val="000000"/>
              </a:solidFill>
            </a:endParaRPr>
          </a:p>
          <a:p>
            <a:endParaRPr sz="2800" lang="en-US">
              <a:solidFill>
                <a:srgbClr val="000000"/>
              </a:solidFill>
            </a:endParaRPr>
          </a:p>
          <a:p>
            <a:r>
              <a:rPr sz="2800" lang="en-US">
                <a:solidFill>
                  <a:srgbClr val="000000"/>
                </a:solidFill>
              </a:rPr>
              <a:t>However, you can apply Cornell or Framingham criteria's</a:t>
            </a:r>
            <a:r>
              <a:rPr sz="2800" lang="en-US">
                <a:solidFill>
                  <a:srgbClr val="000000"/>
                </a:solidFill>
              </a:rPr>
              <a:t>.</a:t>
            </a:r>
            <a:endParaRPr sz="2800" lang="en-US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6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6" name=""/>
          <p:cNvSpPr txBox="1"/>
          <p:nvPr/>
        </p:nvSpPr>
        <p:spPr>
          <a:xfrm>
            <a:off x="200361" y="0"/>
            <a:ext cx="8743277" cy="1348740"/>
          </a:xfrm>
          <a:prstGeom prst="rect"/>
        </p:spPr>
        <p:txBody>
          <a:bodyPr rtlCol="0" wrap="square">
            <a:spAutoFit/>
          </a:bodyPr>
          <a:p>
            <a:r>
              <a:rPr b="1" sz="2800" lang="en-US">
                <a:solidFill>
                  <a:srgbClr val="0070C0"/>
                </a:solidFill>
              </a:rPr>
              <a:t>C</a:t>
            </a:r>
            <a:r>
              <a:rPr b="1" sz="2800" lang="en-US">
                <a:solidFill>
                  <a:srgbClr val="0070C0"/>
                </a:solidFill>
              </a:rPr>
              <a:t>a</a:t>
            </a:r>
            <a:r>
              <a:rPr b="1" sz="2800" lang="en-US">
                <a:solidFill>
                  <a:srgbClr val="0070C0"/>
                </a:solidFill>
              </a:rPr>
              <a:t>s</a:t>
            </a:r>
            <a:r>
              <a:rPr b="1" sz="2800" lang="en-US">
                <a:solidFill>
                  <a:srgbClr val="0070C0"/>
                </a:solidFill>
              </a:rPr>
              <a:t>e</a:t>
            </a:r>
            <a:r>
              <a:rPr b="1" sz="2800" lang="en-US">
                <a:solidFill>
                  <a:srgbClr val="0070C0"/>
                </a:solidFill>
              </a:rPr>
              <a:t> </a:t>
            </a:r>
            <a:r>
              <a:rPr b="1" sz="2800" lang="en-US">
                <a:solidFill>
                  <a:srgbClr val="0070C0"/>
                </a:solidFill>
              </a:rPr>
              <a:t>1</a:t>
            </a:r>
            <a:r>
              <a:rPr b="1" sz="2800" lang="en-US">
                <a:solidFill>
                  <a:srgbClr val="0070C0"/>
                </a:solidFill>
              </a:rPr>
              <a:t>.</a:t>
            </a:r>
            <a:r>
              <a:rPr b="1" sz="2800" lang="en-US">
                <a:solidFill>
                  <a:srgbClr val="0070C0"/>
                </a:solidFill>
              </a:rPr>
              <a:t> </a:t>
            </a:r>
            <a:r>
              <a:rPr b="1" sz="2800" lang="en-US">
                <a:solidFill>
                  <a:srgbClr val="0070C0"/>
                </a:solidFill>
              </a:rPr>
              <a:t>4</a:t>
            </a:r>
            <a:r>
              <a:rPr b="1" sz="2800" lang="en-US">
                <a:solidFill>
                  <a:srgbClr val="0070C0"/>
                </a:solidFill>
              </a:rPr>
              <a:t>7</a:t>
            </a:r>
            <a:r>
              <a:rPr b="1" sz="2800" lang="en-US">
                <a:solidFill>
                  <a:srgbClr val="0070C0"/>
                </a:solidFill>
              </a:rPr>
              <a:t>y</a:t>
            </a:r>
            <a:r>
              <a:rPr b="1" sz="2800" lang="en-US">
                <a:solidFill>
                  <a:srgbClr val="0070C0"/>
                </a:solidFill>
              </a:rPr>
              <a:t>o</a:t>
            </a:r>
            <a:r>
              <a:rPr b="1" sz="2800" lang="en-US">
                <a:solidFill>
                  <a:srgbClr val="0070C0"/>
                </a:solidFill>
              </a:rPr>
              <a:t> </a:t>
            </a:r>
            <a:r>
              <a:rPr b="1" sz="2800" lang="en-US">
                <a:solidFill>
                  <a:srgbClr val="0070C0"/>
                </a:solidFill>
              </a:rPr>
              <a:t>m</a:t>
            </a:r>
            <a:r>
              <a:rPr b="1" sz="2800" lang="en-US">
                <a:solidFill>
                  <a:srgbClr val="0070C0"/>
                </a:solidFill>
              </a:rPr>
              <a:t>a</a:t>
            </a:r>
            <a:r>
              <a:rPr b="1" sz="2800" lang="en-US">
                <a:solidFill>
                  <a:srgbClr val="0070C0"/>
                </a:solidFill>
              </a:rPr>
              <a:t>l</a:t>
            </a:r>
            <a:r>
              <a:rPr b="1" sz="2800" lang="en-US">
                <a:solidFill>
                  <a:srgbClr val="0070C0"/>
                </a:solidFill>
              </a:rPr>
              <a:t>e</a:t>
            </a:r>
            <a:r>
              <a:rPr b="1" sz="2800" lang="en-US">
                <a:solidFill>
                  <a:srgbClr val="0070C0"/>
                </a:solidFill>
              </a:rPr>
              <a:t> </a:t>
            </a:r>
            <a:r>
              <a:rPr b="1" sz="2800" lang="en-US">
                <a:solidFill>
                  <a:srgbClr val="0070C0"/>
                </a:solidFill>
              </a:rPr>
              <a:t>p</a:t>
            </a:r>
            <a:r>
              <a:rPr b="1" sz="2800" lang="en-US">
                <a:solidFill>
                  <a:srgbClr val="0070C0"/>
                </a:solidFill>
              </a:rPr>
              <a:t>r</a:t>
            </a:r>
            <a:r>
              <a:rPr b="1" sz="2800" lang="en-US">
                <a:solidFill>
                  <a:srgbClr val="0070C0"/>
                </a:solidFill>
              </a:rPr>
              <a:t>e</a:t>
            </a:r>
            <a:r>
              <a:rPr b="1" sz="2800" lang="en-US">
                <a:solidFill>
                  <a:srgbClr val="0070C0"/>
                </a:solidFill>
              </a:rPr>
              <a:t>s</a:t>
            </a:r>
            <a:r>
              <a:rPr b="1" sz="2800" lang="en-US">
                <a:solidFill>
                  <a:srgbClr val="0070C0"/>
                </a:solidFill>
              </a:rPr>
              <a:t>e</a:t>
            </a:r>
            <a:r>
              <a:rPr b="1" sz="2800" lang="en-US">
                <a:solidFill>
                  <a:srgbClr val="0070C0"/>
                </a:solidFill>
              </a:rPr>
              <a:t>nt</a:t>
            </a:r>
            <a:r>
              <a:rPr b="1" sz="2800" lang="en-US">
                <a:solidFill>
                  <a:srgbClr val="0070C0"/>
                </a:solidFill>
              </a:rPr>
              <a:t>e</a:t>
            </a:r>
            <a:r>
              <a:rPr b="1" sz="2800" lang="en-US">
                <a:solidFill>
                  <a:srgbClr val="0070C0"/>
                </a:solidFill>
              </a:rPr>
              <a:t>d</a:t>
            </a:r>
            <a:r>
              <a:rPr b="1" sz="2800" lang="en-US">
                <a:solidFill>
                  <a:srgbClr val="0070C0"/>
                </a:solidFill>
              </a:rPr>
              <a:t> </a:t>
            </a:r>
            <a:r>
              <a:rPr b="1" sz="2800" lang="en-US">
                <a:solidFill>
                  <a:srgbClr val="0070C0"/>
                </a:solidFill>
              </a:rPr>
              <a:t>w</a:t>
            </a:r>
            <a:r>
              <a:rPr b="1" sz="2800" lang="en-US">
                <a:solidFill>
                  <a:srgbClr val="0070C0"/>
                </a:solidFill>
              </a:rPr>
              <a:t>i</a:t>
            </a:r>
            <a:r>
              <a:rPr b="1" sz="2800" lang="en-US">
                <a:solidFill>
                  <a:srgbClr val="0070C0"/>
                </a:solidFill>
              </a:rPr>
              <a:t>t</a:t>
            </a:r>
            <a:r>
              <a:rPr b="1" sz="2800" lang="en-US">
                <a:solidFill>
                  <a:srgbClr val="0070C0"/>
                </a:solidFill>
              </a:rPr>
              <a:t>h</a:t>
            </a:r>
            <a:r>
              <a:rPr b="1" sz="2800" lang="en-US">
                <a:solidFill>
                  <a:srgbClr val="0070C0"/>
                </a:solidFill>
              </a:rPr>
              <a:t> </a:t>
            </a:r>
            <a:r>
              <a:rPr b="1" sz="2800" lang="en-US">
                <a:solidFill>
                  <a:srgbClr val="0070C0"/>
                </a:solidFill>
              </a:rPr>
              <a:t>B</a:t>
            </a:r>
            <a:r>
              <a:rPr b="1" sz="2800" lang="en-US">
                <a:solidFill>
                  <a:srgbClr val="0070C0"/>
                </a:solidFill>
              </a:rPr>
              <a:t>P</a:t>
            </a:r>
            <a:r>
              <a:rPr b="1" sz="2800" lang="en-US">
                <a:solidFill>
                  <a:srgbClr val="0070C0"/>
                </a:solidFill>
              </a:rPr>
              <a:t>:</a:t>
            </a:r>
            <a:r>
              <a:rPr b="1" sz="2800" lang="en-US">
                <a:solidFill>
                  <a:srgbClr val="0070C0"/>
                </a:solidFill>
              </a:rPr>
              <a:t>1</a:t>
            </a:r>
            <a:r>
              <a:rPr b="1" sz="2800" lang="en-US">
                <a:solidFill>
                  <a:srgbClr val="0070C0"/>
                </a:solidFill>
              </a:rPr>
              <a:t>9</a:t>
            </a:r>
            <a:r>
              <a:rPr b="1" sz="2800" lang="en-US">
                <a:solidFill>
                  <a:srgbClr val="0070C0"/>
                </a:solidFill>
              </a:rPr>
              <a:t>0</a:t>
            </a:r>
            <a:r>
              <a:rPr b="1" sz="2800" lang="en-US">
                <a:solidFill>
                  <a:srgbClr val="0070C0"/>
                </a:solidFill>
              </a:rPr>
              <a:t>/</a:t>
            </a:r>
            <a:r>
              <a:rPr b="1" sz="2800" lang="en-US">
                <a:solidFill>
                  <a:srgbClr val="0070C0"/>
                </a:solidFill>
              </a:rPr>
              <a:t>1</a:t>
            </a:r>
            <a:r>
              <a:rPr b="1" sz="2800" lang="en-US">
                <a:solidFill>
                  <a:srgbClr val="0070C0"/>
                </a:solidFill>
              </a:rPr>
              <a:t>4</a:t>
            </a:r>
            <a:r>
              <a:rPr b="1" sz="2800" lang="en-US">
                <a:solidFill>
                  <a:srgbClr val="0070C0"/>
                </a:solidFill>
              </a:rPr>
              <a:t>0</a:t>
            </a:r>
            <a:r>
              <a:rPr b="1" sz="2800" lang="en-US">
                <a:solidFill>
                  <a:srgbClr val="0070C0"/>
                </a:solidFill>
              </a:rPr>
              <a:t>m</a:t>
            </a:r>
            <a:r>
              <a:rPr b="1" sz="2800" lang="en-US">
                <a:solidFill>
                  <a:srgbClr val="0070C0"/>
                </a:solidFill>
              </a:rPr>
              <a:t>m</a:t>
            </a:r>
            <a:r>
              <a:rPr b="1" sz="2800" lang="en-US">
                <a:solidFill>
                  <a:srgbClr val="0070C0"/>
                </a:solidFill>
              </a:rPr>
              <a:t>H</a:t>
            </a:r>
            <a:r>
              <a:rPr b="1" sz="2800" lang="en-US">
                <a:solidFill>
                  <a:srgbClr val="0070C0"/>
                </a:solidFill>
              </a:rPr>
              <a:t>g</a:t>
            </a:r>
            <a:r>
              <a:rPr b="1" sz="2800" lang="en-US">
                <a:solidFill>
                  <a:srgbClr val="0070C0"/>
                </a:solidFill>
              </a:rPr>
              <a:t> </a:t>
            </a:r>
            <a:r>
              <a:rPr b="1" sz="2800" lang="en-US">
                <a:solidFill>
                  <a:srgbClr val="0070C0"/>
                </a:solidFill>
              </a:rPr>
              <a:t>a</a:t>
            </a:r>
            <a:r>
              <a:rPr b="1" sz="2800" lang="en-US">
                <a:solidFill>
                  <a:srgbClr val="0070C0"/>
                </a:solidFill>
              </a:rPr>
              <a:t>n</a:t>
            </a:r>
            <a:r>
              <a:rPr b="1" sz="2800" lang="en-US">
                <a:solidFill>
                  <a:srgbClr val="0070C0"/>
                </a:solidFill>
              </a:rPr>
              <a:t>d</a:t>
            </a:r>
            <a:r>
              <a:rPr b="1" sz="2800" lang="en-US">
                <a:solidFill>
                  <a:srgbClr val="0070C0"/>
                </a:solidFill>
              </a:rPr>
              <a:t> </a:t>
            </a:r>
            <a:r>
              <a:rPr b="1" sz="2800" lang="en-US">
                <a:solidFill>
                  <a:srgbClr val="0070C0"/>
                </a:solidFill>
              </a:rPr>
              <a:t>h</a:t>
            </a:r>
            <a:r>
              <a:rPr b="1" sz="2800" lang="en-US">
                <a:solidFill>
                  <a:srgbClr val="0070C0"/>
                </a:solidFill>
              </a:rPr>
              <a:t>i</a:t>
            </a:r>
            <a:r>
              <a:rPr b="1" sz="2800" lang="en-US">
                <a:solidFill>
                  <a:srgbClr val="0070C0"/>
                </a:solidFill>
              </a:rPr>
              <a:t>s</a:t>
            </a:r>
            <a:r>
              <a:rPr b="1" sz="2800" lang="en-US">
                <a:solidFill>
                  <a:srgbClr val="0070C0"/>
                </a:solidFill>
              </a:rPr>
              <a:t>t</a:t>
            </a:r>
            <a:r>
              <a:rPr b="1" sz="2800" lang="en-US">
                <a:solidFill>
                  <a:srgbClr val="0070C0"/>
                </a:solidFill>
              </a:rPr>
              <a:t>ory </a:t>
            </a:r>
            <a:r>
              <a:rPr b="1" sz="2800" lang="en-US">
                <a:solidFill>
                  <a:srgbClr val="0070C0"/>
                </a:solidFill>
              </a:rPr>
              <a:t>o</a:t>
            </a:r>
            <a:r>
              <a:rPr b="1" sz="2800" lang="en-US">
                <a:solidFill>
                  <a:srgbClr val="0070C0"/>
                </a:solidFill>
              </a:rPr>
              <a:t>f</a:t>
            </a:r>
            <a:r>
              <a:rPr b="1" sz="2800" lang="en-US">
                <a:solidFill>
                  <a:srgbClr val="0070C0"/>
                </a:solidFill>
              </a:rPr>
              <a:t> </a:t>
            </a:r>
            <a:r>
              <a:rPr b="1" sz="2800" lang="en-US">
                <a:solidFill>
                  <a:srgbClr val="0070C0"/>
                </a:solidFill>
              </a:rPr>
              <a:t>Hypertensi</a:t>
            </a:r>
            <a:r>
              <a:rPr b="1" sz="2800" lang="en-US">
                <a:solidFill>
                  <a:srgbClr val="0070C0"/>
                </a:solidFill>
              </a:rPr>
              <a:t>o</a:t>
            </a:r>
            <a:r>
              <a:rPr b="1" sz="2800" lang="en-US">
                <a:solidFill>
                  <a:srgbClr val="0070C0"/>
                </a:solidFill>
              </a:rPr>
              <a:t>n</a:t>
            </a:r>
            <a:r>
              <a:rPr b="1" sz="2800" lang="en-US">
                <a:solidFill>
                  <a:srgbClr val="0070C0"/>
                </a:solidFill>
              </a:rPr>
              <a:t> </a:t>
            </a:r>
            <a:r>
              <a:rPr b="1" sz="2800" lang="en-US">
                <a:solidFill>
                  <a:srgbClr val="0070C0"/>
                </a:solidFill>
              </a:rPr>
              <a:t>f</a:t>
            </a:r>
            <a:r>
              <a:rPr b="1" sz="2800" lang="en-US">
                <a:solidFill>
                  <a:srgbClr val="0070C0"/>
                </a:solidFill>
              </a:rPr>
              <a:t>o</a:t>
            </a:r>
            <a:r>
              <a:rPr b="1" sz="2800" lang="en-US">
                <a:solidFill>
                  <a:srgbClr val="0070C0"/>
                </a:solidFill>
              </a:rPr>
              <a:t>r</a:t>
            </a:r>
            <a:r>
              <a:rPr b="1" sz="2800" lang="en-US">
                <a:solidFill>
                  <a:srgbClr val="0070C0"/>
                </a:solidFill>
              </a:rPr>
              <a:t> </a:t>
            </a:r>
            <a:r>
              <a:rPr b="1" sz="2800" lang="en-US">
                <a:solidFill>
                  <a:srgbClr val="0070C0"/>
                </a:solidFill>
              </a:rPr>
              <a:t>5</a:t>
            </a:r>
            <a:r>
              <a:rPr b="1" sz="2800" lang="en-US">
                <a:solidFill>
                  <a:srgbClr val="0070C0"/>
                </a:solidFill>
              </a:rPr>
              <a:t>y</a:t>
            </a:r>
            <a:r>
              <a:rPr b="1" sz="2800" lang="en-US">
                <a:solidFill>
                  <a:srgbClr val="0070C0"/>
                </a:solidFill>
              </a:rPr>
              <a:t>r</a:t>
            </a:r>
            <a:r>
              <a:rPr b="1" sz="2800" lang="en-US">
                <a:solidFill>
                  <a:srgbClr val="0070C0"/>
                </a:solidFill>
              </a:rPr>
              <a:t>s</a:t>
            </a:r>
            <a:r>
              <a:rPr b="1" sz="2800" lang="en-US">
                <a:solidFill>
                  <a:srgbClr val="0070C0"/>
                </a:solidFill>
              </a:rPr>
              <a:t>.</a:t>
            </a:r>
            <a:r>
              <a:rPr b="1" sz="2800" lang="en-US">
                <a:solidFill>
                  <a:srgbClr val="0070C0"/>
                </a:solidFill>
              </a:rPr>
              <a:t> </a:t>
            </a:r>
            <a:r>
              <a:rPr b="1" sz="2800" lang="en-US">
                <a:solidFill>
                  <a:srgbClr val="0070C0"/>
                </a:solidFill>
              </a:rPr>
              <a:t>W</a:t>
            </a:r>
            <a:r>
              <a:rPr b="1" sz="2800" lang="en-US">
                <a:solidFill>
                  <a:srgbClr val="0070C0"/>
                </a:solidFill>
              </a:rPr>
              <a:t>h</a:t>
            </a:r>
            <a:r>
              <a:rPr b="1" sz="2800" lang="en-US">
                <a:solidFill>
                  <a:srgbClr val="0070C0"/>
                </a:solidFill>
              </a:rPr>
              <a:t>a</a:t>
            </a:r>
            <a:r>
              <a:rPr b="1" sz="2800" lang="en-US">
                <a:solidFill>
                  <a:srgbClr val="0070C0"/>
                </a:solidFill>
              </a:rPr>
              <a:t>t's </a:t>
            </a:r>
            <a:r>
              <a:rPr b="1" sz="2800" lang="en-US">
                <a:solidFill>
                  <a:srgbClr val="0070C0"/>
                </a:solidFill>
              </a:rPr>
              <a:t>t</a:t>
            </a:r>
            <a:r>
              <a:rPr b="1" sz="2800" lang="en-US">
                <a:solidFill>
                  <a:srgbClr val="0070C0"/>
                </a:solidFill>
              </a:rPr>
              <a:t>he </a:t>
            </a:r>
            <a:r>
              <a:rPr b="1" sz="2800" lang="en-US">
                <a:solidFill>
                  <a:srgbClr val="0070C0"/>
                </a:solidFill>
              </a:rPr>
              <a:t>E</a:t>
            </a:r>
            <a:r>
              <a:rPr b="1" sz="2800" lang="en-US">
                <a:solidFill>
                  <a:srgbClr val="0070C0"/>
                </a:solidFill>
              </a:rPr>
              <a:t>C</a:t>
            </a:r>
            <a:r>
              <a:rPr b="1" sz="2800" lang="en-US">
                <a:solidFill>
                  <a:srgbClr val="0070C0"/>
                </a:solidFill>
              </a:rPr>
              <a:t>G</a:t>
            </a:r>
            <a:r>
              <a:rPr b="1" sz="2800" lang="en-US">
                <a:solidFill>
                  <a:srgbClr val="0070C0"/>
                </a:solidFill>
              </a:rPr>
              <a:t> </a:t>
            </a:r>
            <a:r>
              <a:rPr b="1" sz="2800" lang="en-US">
                <a:solidFill>
                  <a:srgbClr val="0070C0"/>
                </a:solidFill>
              </a:rPr>
              <a:t>f</a:t>
            </a:r>
            <a:r>
              <a:rPr b="1" sz="2800" lang="en-US">
                <a:solidFill>
                  <a:srgbClr val="0070C0"/>
                </a:solidFill>
              </a:rPr>
              <a:t>i</a:t>
            </a:r>
            <a:r>
              <a:rPr b="1" sz="2800" lang="en-US">
                <a:solidFill>
                  <a:srgbClr val="0070C0"/>
                </a:solidFill>
              </a:rPr>
              <a:t>n</a:t>
            </a:r>
            <a:r>
              <a:rPr b="1" sz="2800" lang="en-US">
                <a:solidFill>
                  <a:srgbClr val="0070C0"/>
                </a:solidFill>
              </a:rPr>
              <a:t>d</a:t>
            </a:r>
            <a:r>
              <a:rPr b="1" sz="2800" lang="en-US">
                <a:solidFill>
                  <a:srgbClr val="0070C0"/>
                </a:solidFill>
              </a:rPr>
              <a:t>ings </a:t>
            </a:r>
            <a:r>
              <a:rPr b="1" sz="2800" lang="en-US">
                <a:solidFill>
                  <a:srgbClr val="0070C0"/>
                </a:solidFill>
              </a:rPr>
              <a:t>?</a:t>
            </a:r>
            <a:endParaRPr sz="2800" lang="en-US">
              <a:solidFill>
                <a:srgbClr val="000000"/>
              </a:solidFill>
            </a:endParaRPr>
          </a:p>
        </p:txBody>
      </p:sp>
      <p:pic>
        <p:nvPicPr>
          <p:cNvPr id="2097152" name=""/>
          <p:cNvPicPr>
            <a:picLocks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 rot="0">
            <a:off x="-342833" y="1202939"/>
            <a:ext cx="9144000" cy="3479482"/>
          </a:xfrm>
          <a:prstGeom prst="rect"/>
        </p:spPr>
      </p:pic>
      <p:sp>
        <p:nvSpPr>
          <p:cNvPr id="1048597" name=""/>
          <p:cNvSpPr txBox="1"/>
          <p:nvPr/>
        </p:nvSpPr>
        <p:spPr>
          <a:xfrm>
            <a:off x="59416" y="5010416"/>
            <a:ext cx="8741751" cy="1348740"/>
          </a:xfrm>
          <a:prstGeom prst="rect"/>
        </p:spPr>
        <p:txBody>
          <a:bodyPr rtlCol="0" wrap="square">
            <a:spAutoFit/>
          </a:bodyPr>
          <a:p>
            <a:r>
              <a:rPr sz="2800" lang="en-US">
                <a:solidFill>
                  <a:srgbClr val="000000"/>
                </a:solidFill>
              </a:rPr>
              <a:t>For sokolow Lyon criteria, here, we can use deep S wave in V2 and tall R wave in V5 value greater than 35 mm is considered LV</a:t>
            </a:r>
            <a:r>
              <a:rPr sz="2800" lang="en-US">
                <a:solidFill>
                  <a:srgbClr val="000000"/>
                </a:solidFill>
              </a:rPr>
              <a:t>H</a:t>
            </a:r>
            <a:r>
              <a:rPr sz="2400" lang="en-US">
                <a:solidFill>
                  <a:srgbClr val="000000"/>
                </a:solidFill>
              </a:rPr>
              <a:t>.</a:t>
            </a:r>
            <a:endParaRPr sz="2800" lang="en-US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6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8" name=""/>
          <p:cNvSpPr txBox="1"/>
          <p:nvPr/>
        </p:nvSpPr>
        <p:spPr>
          <a:xfrm>
            <a:off x="1276816" y="259920"/>
            <a:ext cx="8640369" cy="510540"/>
          </a:xfrm>
          <a:prstGeom prst="rect"/>
        </p:spPr>
        <p:txBody>
          <a:bodyPr rtlCol="0" wrap="square">
            <a:spAutoFit/>
          </a:bodyPr>
          <a:p>
            <a:r>
              <a:rPr b="1" sz="2800" lang="en-US">
                <a:solidFill>
                  <a:srgbClr val="0070C0"/>
                </a:solidFill>
              </a:rPr>
              <a:t>L</a:t>
            </a:r>
            <a:r>
              <a:rPr b="1" sz="2800" lang="en-US">
                <a:solidFill>
                  <a:srgbClr val="0070C0"/>
                </a:solidFill>
              </a:rPr>
              <a:t>E</a:t>
            </a:r>
            <a:r>
              <a:rPr b="1" sz="2800" lang="en-US">
                <a:solidFill>
                  <a:srgbClr val="0070C0"/>
                </a:solidFill>
              </a:rPr>
              <a:t>F</a:t>
            </a:r>
            <a:r>
              <a:rPr b="1" sz="2800" lang="en-US">
                <a:solidFill>
                  <a:srgbClr val="0070C0"/>
                </a:solidFill>
              </a:rPr>
              <a:t>T</a:t>
            </a:r>
            <a:r>
              <a:rPr b="1" sz="2800" lang="en-US">
                <a:solidFill>
                  <a:srgbClr val="0070C0"/>
                </a:solidFill>
              </a:rPr>
              <a:t> </a:t>
            </a:r>
            <a:r>
              <a:rPr b="1" sz="2800" lang="en-US">
                <a:solidFill>
                  <a:srgbClr val="0070C0"/>
                </a:solidFill>
              </a:rPr>
              <a:t>V</a:t>
            </a:r>
            <a:r>
              <a:rPr b="1" sz="2800" lang="en-US">
                <a:solidFill>
                  <a:srgbClr val="0070C0"/>
                </a:solidFill>
              </a:rPr>
              <a:t>ENTRICULAR </a:t>
            </a:r>
            <a:r>
              <a:rPr b="1" sz="2800" lang="en-US">
                <a:solidFill>
                  <a:srgbClr val="0070C0"/>
                </a:solidFill>
              </a:rPr>
              <a:t>S</a:t>
            </a:r>
            <a:r>
              <a:rPr b="1" sz="2800" lang="en-US">
                <a:solidFill>
                  <a:srgbClr val="0070C0"/>
                </a:solidFill>
              </a:rPr>
              <a:t>T</a:t>
            </a:r>
            <a:r>
              <a:rPr b="1" sz="2800" lang="en-US">
                <a:solidFill>
                  <a:srgbClr val="0070C0"/>
                </a:solidFill>
              </a:rPr>
              <a:t>R</a:t>
            </a:r>
            <a:r>
              <a:rPr b="1" sz="2800" lang="en-US">
                <a:solidFill>
                  <a:srgbClr val="0070C0"/>
                </a:solidFill>
              </a:rPr>
              <a:t>A</a:t>
            </a:r>
            <a:r>
              <a:rPr b="1" sz="2800" lang="en-US">
                <a:solidFill>
                  <a:srgbClr val="0070C0"/>
                </a:solidFill>
              </a:rPr>
              <a:t>I</a:t>
            </a:r>
            <a:r>
              <a:rPr b="1" sz="2800" lang="en-US">
                <a:solidFill>
                  <a:srgbClr val="0070C0"/>
                </a:solidFill>
              </a:rPr>
              <a:t>N </a:t>
            </a:r>
            <a:r>
              <a:rPr b="1" sz="2800" lang="en-US">
                <a:solidFill>
                  <a:srgbClr val="0070C0"/>
                </a:solidFill>
              </a:rPr>
              <a:t>PATTERN </a:t>
            </a:r>
            <a:endParaRPr b="1" sz="2800" lang="en-US">
              <a:solidFill>
                <a:srgbClr val="0070C0"/>
              </a:solidFill>
            </a:endParaRPr>
          </a:p>
        </p:txBody>
      </p:sp>
      <p:pic>
        <p:nvPicPr>
          <p:cNvPr id="2097153" name=""/>
          <p:cNvPicPr>
            <a:picLocks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 rot="0">
            <a:off x="64755" y="1105109"/>
            <a:ext cx="8872013" cy="3934307"/>
          </a:xfrm>
          <a:prstGeom prst="rect"/>
        </p:spPr>
      </p:pic>
      <p:sp>
        <p:nvSpPr>
          <p:cNvPr id="1048599" name=""/>
          <p:cNvSpPr txBox="1"/>
          <p:nvPr/>
        </p:nvSpPr>
        <p:spPr>
          <a:xfrm>
            <a:off x="64755" y="5039416"/>
            <a:ext cx="8763006" cy="1348741"/>
          </a:xfrm>
          <a:prstGeom prst="rect"/>
        </p:spPr>
        <p:txBody>
          <a:bodyPr rtlCol="0" wrap="square">
            <a:spAutoFit/>
          </a:bodyPr>
          <a:p>
            <a:r>
              <a:rPr sz="2800" lang="en-US">
                <a:solidFill>
                  <a:srgbClr val="000000"/>
                </a:solidFill>
              </a:rPr>
              <a:t>This is what we called </a:t>
            </a:r>
            <a:r>
              <a:rPr sz="2800" lang="en-US">
                <a:solidFill>
                  <a:srgbClr val="000000"/>
                </a:solidFill>
              </a:rPr>
              <a:t>L</a:t>
            </a:r>
            <a:r>
              <a:rPr sz="2800" lang="en-US">
                <a:solidFill>
                  <a:srgbClr val="000000"/>
                </a:solidFill>
              </a:rPr>
              <a:t>V</a:t>
            </a:r>
            <a:r>
              <a:rPr sz="2800" lang="en-US">
                <a:solidFill>
                  <a:srgbClr val="000000"/>
                </a:solidFill>
              </a:rPr>
              <a:t> </a:t>
            </a:r>
            <a:r>
              <a:rPr sz="2800" lang="en-US">
                <a:solidFill>
                  <a:srgbClr val="000000"/>
                </a:solidFill>
              </a:rPr>
              <a:t>Strain pattern (also known as the non voltage ECG criteria for LVH), which means ST depression and T wave inversion.</a:t>
            </a:r>
            <a:endParaRPr sz="2800" lang="en-US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6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0" name=""/>
          <p:cNvSpPr txBox="1"/>
          <p:nvPr/>
        </p:nvSpPr>
        <p:spPr>
          <a:xfrm>
            <a:off x="297892" y="490269"/>
            <a:ext cx="8475016" cy="1348740"/>
          </a:xfrm>
          <a:prstGeom prst="rect"/>
        </p:spPr>
        <p:txBody>
          <a:bodyPr rtlCol="0" wrap="square">
            <a:spAutoFit/>
          </a:bodyPr>
          <a:lstStyle>
            <a:defPPr>
              <a:defRPr lang="zh-CN"/>
            </a:defPPr>
            <a:lvl1pPr algn="l" defTabSz="914400" eaLnBrk="1" hangingPunct="1" latinLnBrk="0" marL="0" rtl="0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algn="l" defTabSz="914400" eaLnBrk="1" hangingPunct="1" latinLnBrk="0" marL="457200" rtl="0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2pPr>
            <a:lvl3pPr algn="l" defTabSz="914400" eaLnBrk="1" hangingPunct="1" latinLnBrk="0" marL="914400" rtl="0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3pPr>
            <a:lvl4pPr algn="l" defTabSz="914400" eaLnBrk="1" hangingPunct="1" latinLnBrk="0" marL="1371600" rtl="0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4pPr>
            <a:lvl5pPr algn="l" defTabSz="914400" eaLnBrk="1" hangingPunct="1" latinLnBrk="0" marL="1828800" rtl="0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5pPr>
            <a:lvl6pPr algn="l" defTabSz="914400" eaLnBrk="1" hangingPunct="1" latinLnBrk="0" marL="2286000" rtl="0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6pPr>
            <a:lvl7pPr algn="l" defTabSz="914400" eaLnBrk="1" hangingPunct="1" latinLnBrk="0" marL="2743200" rtl="0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7pPr>
            <a:lvl8pPr algn="l" defTabSz="914400" eaLnBrk="1" hangingPunct="1" latinLnBrk="0" marL="3200400" rtl="0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8pPr>
            <a:lvl9pPr algn="l" defTabSz="914400" eaLnBrk="1" hangingPunct="1" latinLnBrk="0" marL="3657600" rtl="0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b="1" sz="2800" lang="en-US">
                <a:solidFill>
                  <a:srgbClr val="000000"/>
                </a:solidFill>
                <a:latin typeface="Arial"/>
              </a:rPr>
              <a:t>N</a:t>
            </a:r>
            <a:r>
              <a:rPr b="1" sz="2800" lang="en-US">
                <a:solidFill>
                  <a:srgbClr val="000000"/>
                </a:solidFill>
                <a:latin typeface="Arial"/>
              </a:rPr>
              <a:t>O</a:t>
            </a:r>
            <a:r>
              <a:rPr b="1" sz="2800" lang="en-US">
                <a:solidFill>
                  <a:srgbClr val="000000"/>
                </a:solidFill>
                <a:latin typeface="Arial"/>
              </a:rPr>
              <a:t>T</a:t>
            </a:r>
            <a:r>
              <a:rPr b="1" sz="2800" lang="en-US">
                <a:solidFill>
                  <a:srgbClr val="000000"/>
                </a:solidFill>
                <a:latin typeface="Arial"/>
              </a:rPr>
              <a:t>E</a:t>
            </a:r>
            <a:r>
              <a:rPr sz="2800" lang="en-US">
                <a:solidFill>
                  <a:srgbClr val="000000"/>
                </a:solidFill>
                <a:latin typeface="Arial"/>
              </a:rPr>
              <a:t>,</a:t>
            </a:r>
            <a:r>
              <a:rPr sz="2800" lang="en-US">
                <a:solidFill>
                  <a:srgbClr val="000000"/>
                </a:solidFill>
                <a:latin typeface="Arial"/>
              </a:rPr>
              <a:t> </a:t>
            </a:r>
            <a:r>
              <a:rPr sz="2800" lang="en-US">
                <a:solidFill>
                  <a:srgbClr val="000000"/>
                </a:solidFill>
                <a:latin typeface="Arial"/>
              </a:rPr>
              <a:t>You have to see </a:t>
            </a:r>
            <a:r>
              <a:rPr sz="2800" lang="en-US">
                <a:solidFill>
                  <a:srgbClr val="000000"/>
                </a:solidFill>
                <a:latin typeface="Arial"/>
              </a:rPr>
              <a:t>L</a:t>
            </a:r>
            <a:r>
              <a:rPr sz="2800" lang="en-US">
                <a:solidFill>
                  <a:srgbClr val="000000"/>
                </a:solidFill>
                <a:latin typeface="Arial"/>
              </a:rPr>
              <a:t>V</a:t>
            </a:r>
            <a:r>
              <a:rPr sz="2800" lang="en-US">
                <a:solidFill>
                  <a:srgbClr val="000000"/>
                </a:solidFill>
                <a:latin typeface="Arial"/>
              </a:rPr>
              <a:t> </a:t>
            </a:r>
            <a:r>
              <a:rPr sz="2800" lang="en-US">
                <a:solidFill>
                  <a:srgbClr val="000000"/>
                </a:solidFill>
                <a:latin typeface="Arial"/>
              </a:rPr>
              <a:t>s</a:t>
            </a:r>
            <a:r>
              <a:rPr sz="2800" lang="en-US">
                <a:solidFill>
                  <a:srgbClr val="000000"/>
                </a:solidFill>
                <a:latin typeface="Arial"/>
              </a:rPr>
              <a:t>t</a:t>
            </a:r>
            <a:r>
              <a:rPr sz="2800" lang="en-US">
                <a:solidFill>
                  <a:srgbClr val="000000"/>
                </a:solidFill>
                <a:latin typeface="Arial"/>
              </a:rPr>
              <a:t>r</a:t>
            </a:r>
            <a:r>
              <a:rPr sz="2800" lang="en-US">
                <a:solidFill>
                  <a:srgbClr val="000000"/>
                </a:solidFill>
                <a:latin typeface="Arial"/>
              </a:rPr>
              <a:t>a</a:t>
            </a:r>
            <a:r>
              <a:rPr sz="2800" lang="en-US">
                <a:solidFill>
                  <a:srgbClr val="000000"/>
                </a:solidFill>
                <a:latin typeface="Arial"/>
              </a:rPr>
              <a:t>i</a:t>
            </a:r>
            <a:r>
              <a:rPr sz="2800" lang="en-US">
                <a:solidFill>
                  <a:srgbClr val="000000"/>
                </a:solidFill>
                <a:latin typeface="Arial"/>
              </a:rPr>
              <a:t>n</a:t>
            </a:r>
            <a:r>
              <a:rPr sz="2800" lang="en-US">
                <a:solidFill>
                  <a:srgbClr val="000000"/>
                </a:solidFill>
                <a:latin typeface="Arial"/>
              </a:rPr>
              <a:t> pattern in lateral wall leads I, aVL, V5-6 for it to be considered LVH. No strain pattern no LVH just a barely high voltage.</a:t>
            </a:r>
            <a:endParaRPr sz="2800" lang="en-US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7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54" name=""/>
          <p:cNvPicPr>
            <a:picLocks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 rot="0">
            <a:off x="-116566" y="0"/>
            <a:ext cx="9260566" cy="6909712"/>
          </a:xfrm>
          <a:prstGeom prst="rect"/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7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1" name=""/>
          <p:cNvSpPr txBox="1"/>
          <p:nvPr/>
        </p:nvSpPr>
        <p:spPr>
          <a:xfrm>
            <a:off x="7533" y="402080"/>
            <a:ext cx="8740375" cy="3025141"/>
          </a:xfrm>
          <a:prstGeom prst="rect"/>
        </p:spPr>
        <p:txBody>
          <a:bodyPr rtlCol="0" wrap="square">
            <a:spAutoFit/>
          </a:bodyPr>
          <a:p>
            <a:r>
              <a:rPr sz="2800" lang="en-US">
                <a:solidFill>
                  <a:srgbClr val="000000"/>
                </a:solidFill>
              </a:rPr>
              <a:t>Additional ECG changes seen in LVH</a:t>
            </a:r>
            <a:endParaRPr sz="2800" lang="en-US">
              <a:solidFill>
                <a:srgbClr val="000000"/>
              </a:solidFill>
            </a:endParaRPr>
          </a:p>
          <a:p>
            <a:r>
              <a:rPr sz="2800" lang="en-US">
                <a:solidFill>
                  <a:srgbClr val="000000"/>
                </a:solidFill>
              </a:rPr>
              <a:t>1. Left atrial enlargement</a:t>
            </a:r>
            <a:endParaRPr sz="2800" lang="en-US">
              <a:solidFill>
                <a:srgbClr val="000000"/>
              </a:solidFill>
            </a:endParaRPr>
          </a:p>
          <a:p>
            <a:r>
              <a:rPr sz="2800" lang="en-US">
                <a:solidFill>
                  <a:srgbClr val="000000"/>
                </a:solidFill>
              </a:rPr>
              <a:t>2. Left axis deviation</a:t>
            </a:r>
            <a:endParaRPr sz="2800" lang="en-US">
              <a:solidFill>
                <a:srgbClr val="000000"/>
              </a:solidFill>
            </a:endParaRPr>
          </a:p>
          <a:p>
            <a:r>
              <a:rPr sz="2800" lang="en-US">
                <a:solidFill>
                  <a:srgbClr val="000000"/>
                </a:solidFill>
              </a:rPr>
              <a:t>3. ST elevation in the right precordial leads V1-3 (“discordant” to the deep S waves)</a:t>
            </a:r>
            <a:endParaRPr sz="2800" lang="en-US">
              <a:solidFill>
                <a:srgbClr val="000000"/>
              </a:solidFill>
            </a:endParaRPr>
          </a:p>
          <a:p>
            <a:r>
              <a:rPr sz="2800" lang="en-US">
                <a:solidFill>
                  <a:srgbClr val="000000"/>
                </a:solidFill>
              </a:rPr>
              <a:t>4. Prominent U waves (proportional to increased QRS amplitude)</a:t>
            </a:r>
            <a:endParaRPr sz="2800" lang="en-US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7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2" name=""/>
          <p:cNvSpPr txBox="1"/>
          <p:nvPr/>
        </p:nvSpPr>
        <p:spPr>
          <a:xfrm>
            <a:off x="464305" y="285766"/>
            <a:ext cx="8899877" cy="510540"/>
          </a:xfrm>
          <a:prstGeom prst="rect"/>
        </p:spPr>
        <p:txBody>
          <a:bodyPr rtlCol="0" wrap="square">
            <a:spAutoFit/>
          </a:bodyPr>
          <a:p>
            <a:r>
              <a:rPr b="1" sz="2800" lang="en-US">
                <a:solidFill>
                  <a:srgbClr val="0070C0"/>
                </a:solidFill>
              </a:rPr>
              <a:t>CAUSES OF L</a:t>
            </a:r>
            <a:r>
              <a:rPr b="1" sz="2800" lang="en-US">
                <a:solidFill>
                  <a:srgbClr val="0070C0"/>
                </a:solidFill>
              </a:rPr>
              <a:t>V</a:t>
            </a:r>
            <a:r>
              <a:rPr b="1" sz="2800" lang="en-US">
                <a:solidFill>
                  <a:srgbClr val="0070C0"/>
                </a:solidFill>
              </a:rPr>
              <a:t>H</a:t>
            </a:r>
            <a:endParaRPr b="1" sz="2800" lang="en-US">
              <a:solidFill>
                <a:srgbClr val="0070C0"/>
              </a:solidFill>
            </a:endParaRPr>
          </a:p>
        </p:txBody>
      </p:sp>
      <p:sp>
        <p:nvSpPr>
          <p:cNvPr id="1048603" name=""/>
          <p:cNvSpPr txBox="1"/>
          <p:nvPr/>
        </p:nvSpPr>
        <p:spPr>
          <a:xfrm>
            <a:off x="279525" y="1022418"/>
            <a:ext cx="8667176" cy="4282440"/>
          </a:xfrm>
          <a:prstGeom prst="rect"/>
        </p:spPr>
        <p:txBody>
          <a:bodyPr rtlCol="0" wrap="square">
            <a:spAutoFit/>
          </a:bodyPr>
          <a:p>
            <a:r>
              <a:rPr sz="2800" lang="en-US">
                <a:solidFill>
                  <a:srgbClr val="000000"/>
                </a:solidFill>
              </a:rPr>
              <a:t>The </a:t>
            </a:r>
            <a:r>
              <a:rPr sz="2800" lang="en-US">
                <a:solidFill>
                  <a:srgbClr val="000000"/>
                </a:solidFill>
              </a:rPr>
              <a:t>m</a:t>
            </a:r>
            <a:r>
              <a:rPr sz="2800" lang="en-US">
                <a:solidFill>
                  <a:srgbClr val="000000"/>
                </a:solidFill>
              </a:rPr>
              <a:t>o</a:t>
            </a:r>
            <a:r>
              <a:rPr sz="2800" lang="en-US">
                <a:solidFill>
                  <a:srgbClr val="000000"/>
                </a:solidFill>
              </a:rPr>
              <a:t>s</a:t>
            </a:r>
            <a:r>
              <a:rPr sz="2800" lang="en-US">
                <a:solidFill>
                  <a:srgbClr val="000000"/>
                </a:solidFill>
              </a:rPr>
              <a:t>t</a:t>
            </a:r>
            <a:r>
              <a:rPr sz="2800" lang="en-US">
                <a:solidFill>
                  <a:srgbClr val="000000"/>
                </a:solidFill>
              </a:rPr>
              <a:t> </a:t>
            </a:r>
            <a:r>
              <a:rPr sz="2800" lang="en-US">
                <a:solidFill>
                  <a:srgbClr val="000000"/>
                </a:solidFill>
              </a:rPr>
              <a:t>c</a:t>
            </a:r>
            <a:r>
              <a:rPr sz="2800" lang="en-US">
                <a:solidFill>
                  <a:srgbClr val="000000"/>
                </a:solidFill>
              </a:rPr>
              <a:t>o</a:t>
            </a:r>
            <a:r>
              <a:rPr sz="2800" lang="en-US">
                <a:solidFill>
                  <a:srgbClr val="000000"/>
                </a:solidFill>
              </a:rPr>
              <a:t>m</a:t>
            </a:r>
            <a:r>
              <a:rPr sz="2800" lang="en-US">
                <a:solidFill>
                  <a:srgbClr val="000000"/>
                </a:solidFill>
              </a:rPr>
              <a:t>mon </a:t>
            </a:r>
            <a:r>
              <a:rPr sz="2800" lang="en-US">
                <a:solidFill>
                  <a:srgbClr val="000000"/>
                </a:solidFill>
              </a:rPr>
              <a:t>c</a:t>
            </a:r>
            <a:r>
              <a:rPr sz="2800" lang="en-US">
                <a:solidFill>
                  <a:srgbClr val="000000"/>
                </a:solidFill>
              </a:rPr>
              <a:t>a</a:t>
            </a:r>
            <a:r>
              <a:rPr sz="2800" lang="en-US">
                <a:solidFill>
                  <a:srgbClr val="000000"/>
                </a:solidFill>
              </a:rPr>
              <a:t>u</a:t>
            </a:r>
            <a:r>
              <a:rPr sz="2800" lang="en-US">
                <a:solidFill>
                  <a:srgbClr val="000000"/>
                </a:solidFill>
              </a:rPr>
              <a:t>s</a:t>
            </a:r>
            <a:r>
              <a:rPr sz="2800" lang="en-US">
                <a:solidFill>
                  <a:srgbClr val="000000"/>
                </a:solidFill>
              </a:rPr>
              <a:t>e</a:t>
            </a:r>
            <a:r>
              <a:rPr sz="2800" lang="en-US">
                <a:solidFill>
                  <a:srgbClr val="000000"/>
                </a:solidFill>
              </a:rPr>
              <a:t> </a:t>
            </a:r>
            <a:r>
              <a:rPr sz="2800" lang="en-US">
                <a:solidFill>
                  <a:srgbClr val="000000"/>
                </a:solidFill>
              </a:rPr>
              <a:t>of </a:t>
            </a:r>
            <a:r>
              <a:rPr sz="2800" lang="en-US">
                <a:solidFill>
                  <a:srgbClr val="000000"/>
                </a:solidFill>
              </a:rPr>
              <a:t>l</a:t>
            </a:r>
            <a:r>
              <a:rPr sz="2800" lang="en-US">
                <a:solidFill>
                  <a:srgbClr val="000000"/>
                </a:solidFill>
              </a:rPr>
              <a:t>e</a:t>
            </a:r>
            <a:r>
              <a:rPr sz="2800" lang="en-US">
                <a:solidFill>
                  <a:srgbClr val="000000"/>
                </a:solidFill>
              </a:rPr>
              <a:t>f</a:t>
            </a:r>
            <a:r>
              <a:rPr sz="2800" lang="en-US">
                <a:solidFill>
                  <a:srgbClr val="000000"/>
                </a:solidFill>
              </a:rPr>
              <a:t>t</a:t>
            </a:r>
            <a:r>
              <a:rPr sz="2800" lang="en-US">
                <a:solidFill>
                  <a:srgbClr val="000000"/>
                </a:solidFill>
              </a:rPr>
              <a:t> </a:t>
            </a:r>
            <a:r>
              <a:rPr sz="2800" lang="en-US">
                <a:solidFill>
                  <a:srgbClr val="000000"/>
                </a:solidFill>
              </a:rPr>
              <a:t>Ventricular </a:t>
            </a:r>
            <a:r>
              <a:rPr sz="2800" lang="en-US">
                <a:solidFill>
                  <a:srgbClr val="000000"/>
                </a:solidFill>
              </a:rPr>
              <a:t>Hypertrophy </a:t>
            </a:r>
            <a:r>
              <a:rPr sz="2800" lang="en-US">
                <a:solidFill>
                  <a:srgbClr val="000000"/>
                </a:solidFill>
              </a:rPr>
              <a:t>i</a:t>
            </a:r>
            <a:r>
              <a:rPr sz="2800" lang="en-US">
                <a:solidFill>
                  <a:srgbClr val="000000"/>
                </a:solidFill>
              </a:rPr>
              <a:t>s</a:t>
            </a:r>
            <a:r>
              <a:rPr sz="2800" lang="en-US">
                <a:solidFill>
                  <a:srgbClr val="000000"/>
                </a:solidFill>
              </a:rPr>
              <a:t> </a:t>
            </a:r>
            <a:r>
              <a:rPr sz="2800" lang="en-US">
                <a:solidFill>
                  <a:srgbClr val="000000"/>
                </a:solidFill>
              </a:rPr>
              <a:t>Hypertensio</a:t>
            </a:r>
            <a:r>
              <a:rPr sz="2800" lang="en-US">
                <a:solidFill>
                  <a:srgbClr val="000000"/>
                </a:solidFill>
              </a:rPr>
              <a:t>n</a:t>
            </a:r>
            <a:r>
              <a:rPr sz="2800" lang="en-US">
                <a:solidFill>
                  <a:srgbClr val="000000"/>
                </a:solidFill>
              </a:rPr>
              <a:t>,</a:t>
            </a:r>
            <a:r>
              <a:rPr sz="2800" lang="en-US">
                <a:solidFill>
                  <a:srgbClr val="000000"/>
                </a:solidFill>
              </a:rPr>
              <a:t> </a:t>
            </a:r>
            <a:r>
              <a:rPr sz="2800" lang="en-US">
                <a:solidFill>
                  <a:srgbClr val="000000"/>
                </a:solidFill>
              </a:rPr>
              <a:t>a</a:t>
            </a:r>
            <a:r>
              <a:rPr sz="2800" lang="en-US">
                <a:solidFill>
                  <a:srgbClr val="000000"/>
                </a:solidFill>
              </a:rPr>
              <a:t>m</a:t>
            </a:r>
            <a:r>
              <a:rPr sz="2800" lang="en-US">
                <a:solidFill>
                  <a:srgbClr val="000000"/>
                </a:solidFill>
              </a:rPr>
              <a:t>o</a:t>
            </a:r>
            <a:r>
              <a:rPr sz="2800" lang="en-US">
                <a:solidFill>
                  <a:srgbClr val="000000"/>
                </a:solidFill>
              </a:rPr>
              <a:t>n</a:t>
            </a:r>
            <a:r>
              <a:rPr sz="2800" lang="en-US">
                <a:solidFill>
                  <a:srgbClr val="000000"/>
                </a:solidFill>
              </a:rPr>
              <a:t>g</a:t>
            </a:r>
            <a:r>
              <a:rPr sz="2800" lang="en-US">
                <a:solidFill>
                  <a:srgbClr val="000000"/>
                </a:solidFill>
              </a:rPr>
              <a:t> </a:t>
            </a:r>
            <a:r>
              <a:rPr sz="2800" lang="en-US">
                <a:solidFill>
                  <a:srgbClr val="000000"/>
                </a:solidFill>
              </a:rPr>
              <a:t>o</a:t>
            </a:r>
            <a:r>
              <a:rPr sz="2800" lang="en-US">
                <a:solidFill>
                  <a:srgbClr val="000000"/>
                </a:solidFill>
              </a:rPr>
              <a:t>t</a:t>
            </a:r>
            <a:r>
              <a:rPr sz="2800" lang="en-US">
                <a:solidFill>
                  <a:srgbClr val="000000"/>
                </a:solidFill>
              </a:rPr>
              <a:t>h</a:t>
            </a:r>
            <a:r>
              <a:rPr sz="2800" lang="en-US">
                <a:solidFill>
                  <a:srgbClr val="000000"/>
                </a:solidFill>
              </a:rPr>
              <a:t>e</a:t>
            </a:r>
            <a:r>
              <a:rPr sz="2800" lang="en-US">
                <a:solidFill>
                  <a:srgbClr val="000000"/>
                </a:solidFill>
              </a:rPr>
              <a:t>r</a:t>
            </a:r>
            <a:r>
              <a:rPr sz="2800" lang="en-US">
                <a:solidFill>
                  <a:srgbClr val="000000"/>
                </a:solidFill>
              </a:rPr>
              <a:t> </a:t>
            </a:r>
            <a:r>
              <a:rPr sz="2800" lang="en-US">
                <a:solidFill>
                  <a:srgbClr val="000000"/>
                </a:solidFill>
              </a:rPr>
              <a:t>c</a:t>
            </a:r>
            <a:r>
              <a:rPr sz="2800" lang="en-US">
                <a:solidFill>
                  <a:srgbClr val="000000"/>
                </a:solidFill>
              </a:rPr>
              <a:t>a</a:t>
            </a:r>
            <a:r>
              <a:rPr sz="2800" lang="en-US">
                <a:solidFill>
                  <a:srgbClr val="000000"/>
                </a:solidFill>
              </a:rPr>
              <a:t>u</a:t>
            </a:r>
            <a:r>
              <a:rPr sz="2800" lang="en-US">
                <a:solidFill>
                  <a:srgbClr val="000000"/>
                </a:solidFill>
              </a:rPr>
              <a:t>s</a:t>
            </a:r>
            <a:r>
              <a:rPr sz="2800" lang="en-US">
                <a:solidFill>
                  <a:srgbClr val="000000"/>
                </a:solidFill>
              </a:rPr>
              <a:t>e</a:t>
            </a:r>
            <a:r>
              <a:rPr sz="2800" lang="en-US">
                <a:solidFill>
                  <a:srgbClr val="000000"/>
                </a:solidFill>
              </a:rPr>
              <a:t>s</a:t>
            </a:r>
            <a:r>
              <a:rPr sz="2800" lang="en-US">
                <a:solidFill>
                  <a:srgbClr val="000000"/>
                </a:solidFill>
              </a:rPr>
              <a:t> </a:t>
            </a:r>
            <a:r>
              <a:rPr sz="2800" lang="en-US">
                <a:solidFill>
                  <a:srgbClr val="000000"/>
                </a:solidFill>
              </a:rPr>
              <a:t>i</a:t>
            </a:r>
            <a:r>
              <a:rPr sz="2800" lang="en-US">
                <a:solidFill>
                  <a:srgbClr val="000000"/>
                </a:solidFill>
              </a:rPr>
              <a:t>ncluding</a:t>
            </a:r>
            <a:r>
              <a:rPr sz="2800" lang="en-US">
                <a:solidFill>
                  <a:srgbClr val="000000"/>
                </a:solidFill>
              </a:rPr>
              <a:t>;</a:t>
            </a:r>
            <a:endParaRPr sz="2800" lang="en-US">
              <a:solidFill>
                <a:srgbClr val="000000"/>
              </a:solidFill>
            </a:endParaRPr>
          </a:p>
          <a:p>
            <a:endParaRPr sz="2800" lang="en-US">
              <a:solidFill>
                <a:srgbClr val="000000"/>
              </a:solidFill>
            </a:endParaRPr>
          </a:p>
          <a:p>
            <a:r>
              <a:rPr sz="2800" lang="en-US">
                <a:solidFill>
                  <a:srgbClr val="000000"/>
                </a:solidFill>
              </a:rPr>
              <a:t>1. Hypertension (most common cause)</a:t>
            </a:r>
            <a:endParaRPr sz="2800" lang="en-US">
              <a:solidFill>
                <a:srgbClr val="000000"/>
              </a:solidFill>
            </a:endParaRPr>
          </a:p>
          <a:p>
            <a:r>
              <a:rPr sz="2800" lang="en-US">
                <a:solidFill>
                  <a:srgbClr val="000000"/>
                </a:solidFill>
              </a:rPr>
              <a:t>2. Aortic stenosis</a:t>
            </a:r>
            <a:endParaRPr sz="2800" lang="en-US">
              <a:solidFill>
                <a:srgbClr val="000000"/>
              </a:solidFill>
            </a:endParaRPr>
          </a:p>
          <a:p>
            <a:r>
              <a:rPr sz="2800" lang="en-US">
                <a:solidFill>
                  <a:srgbClr val="000000"/>
                </a:solidFill>
              </a:rPr>
              <a:t>3. Aortic regurgitation</a:t>
            </a:r>
            <a:endParaRPr sz="2800" lang="en-US">
              <a:solidFill>
                <a:srgbClr val="000000"/>
              </a:solidFill>
            </a:endParaRPr>
          </a:p>
          <a:p>
            <a:r>
              <a:rPr sz="2800" lang="en-US">
                <a:solidFill>
                  <a:srgbClr val="000000"/>
                </a:solidFill>
              </a:rPr>
              <a:t>4. Mitral regurgitation</a:t>
            </a:r>
            <a:endParaRPr sz="2800" lang="en-US">
              <a:solidFill>
                <a:srgbClr val="000000"/>
              </a:solidFill>
            </a:endParaRPr>
          </a:p>
          <a:p>
            <a:r>
              <a:rPr sz="2800" lang="en-US">
                <a:solidFill>
                  <a:srgbClr val="000000"/>
                </a:solidFill>
              </a:rPr>
              <a:t>5. Coarctation of the aorta</a:t>
            </a:r>
            <a:endParaRPr sz="2800" lang="en-US">
              <a:solidFill>
                <a:srgbClr val="000000"/>
              </a:solidFill>
            </a:endParaRPr>
          </a:p>
          <a:p>
            <a:r>
              <a:rPr sz="2800" lang="en-US">
                <a:solidFill>
                  <a:srgbClr val="000000"/>
                </a:solidFill>
              </a:rPr>
              <a:t>6. Hypertrophic cardiomyopathy</a:t>
            </a:r>
            <a:endParaRPr sz="2800" lang="en-US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7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55" name=""/>
          <p:cNvPicPr>
            <a:picLocks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 rot="0">
            <a:off x="0" y="985762"/>
            <a:ext cx="9144000" cy="5656721"/>
          </a:xfrm>
          <a:prstGeom prst="rect"/>
        </p:spPr>
      </p:pic>
      <p:sp>
        <p:nvSpPr>
          <p:cNvPr id="1048604" name=""/>
          <p:cNvSpPr txBox="1"/>
          <p:nvPr/>
        </p:nvSpPr>
        <p:spPr>
          <a:xfrm>
            <a:off x="0" y="143605"/>
            <a:ext cx="7471094" cy="624840"/>
          </a:xfrm>
          <a:prstGeom prst="rect"/>
        </p:spPr>
        <p:txBody>
          <a:bodyPr rtlCol="0" wrap="square">
            <a:spAutoFit/>
          </a:bodyPr>
          <a:p>
            <a:r>
              <a:rPr b="1" sz="3600" lang="en-US">
                <a:solidFill>
                  <a:srgbClr val="0070C0"/>
                </a:solidFill>
              </a:rPr>
              <a:t>L</a:t>
            </a:r>
            <a:r>
              <a:rPr b="1" sz="3600" lang="en-US">
                <a:solidFill>
                  <a:srgbClr val="0070C0"/>
                </a:solidFill>
              </a:rPr>
              <a:t>V</a:t>
            </a:r>
            <a:r>
              <a:rPr b="1" sz="3600" lang="en-US">
                <a:solidFill>
                  <a:srgbClr val="0070C0"/>
                </a:solidFill>
              </a:rPr>
              <a:t>H</a:t>
            </a:r>
            <a:r>
              <a:rPr b="1" sz="3600" lang="en-US">
                <a:solidFill>
                  <a:srgbClr val="0070C0"/>
                </a:solidFill>
              </a:rPr>
              <a:t> </a:t>
            </a:r>
            <a:r>
              <a:rPr b="1" sz="3600" lang="en-US">
                <a:solidFill>
                  <a:srgbClr val="0070C0"/>
                </a:solidFill>
              </a:rPr>
              <a:t>f</a:t>
            </a:r>
            <a:r>
              <a:rPr b="1" sz="3600" lang="en-US">
                <a:solidFill>
                  <a:srgbClr val="0070C0"/>
                </a:solidFill>
              </a:rPr>
              <a:t>r</a:t>
            </a:r>
            <a:r>
              <a:rPr b="1" sz="3600" lang="en-US">
                <a:solidFill>
                  <a:srgbClr val="0070C0"/>
                </a:solidFill>
              </a:rPr>
              <a:t>o</a:t>
            </a:r>
            <a:r>
              <a:rPr b="1" sz="3600" lang="en-US">
                <a:solidFill>
                  <a:srgbClr val="0070C0"/>
                </a:solidFill>
              </a:rPr>
              <a:t>m</a:t>
            </a:r>
            <a:r>
              <a:rPr b="1" sz="3600" lang="en-US">
                <a:solidFill>
                  <a:srgbClr val="0070C0"/>
                </a:solidFill>
              </a:rPr>
              <a:t> </a:t>
            </a:r>
            <a:r>
              <a:rPr b="1" sz="3600" lang="en-US">
                <a:solidFill>
                  <a:srgbClr val="0070C0"/>
                </a:solidFill>
              </a:rPr>
              <a:t>1</a:t>
            </a:r>
            <a:r>
              <a:rPr b="1" sz="3600" lang="en-US">
                <a:solidFill>
                  <a:srgbClr val="0070C0"/>
                </a:solidFill>
              </a:rPr>
              <a:t>2</a:t>
            </a:r>
            <a:r>
              <a:rPr b="1" sz="3600" lang="en-US">
                <a:solidFill>
                  <a:srgbClr val="0070C0"/>
                </a:solidFill>
              </a:rPr>
              <a:t> </a:t>
            </a:r>
            <a:r>
              <a:rPr b="1" sz="3600" lang="en-US">
                <a:solidFill>
                  <a:srgbClr val="0070C0"/>
                </a:solidFill>
              </a:rPr>
              <a:t>l</a:t>
            </a:r>
            <a:r>
              <a:rPr b="1" sz="3600" lang="en-US">
                <a:solidFill>
                  <a:srgbClr val="0070C0"/>
                </a:solidFill>
              </a:rPr>
              <a:t>e</a:t>
            </a:r>
            <a:r>
              <a:rPr b="1" sz="3600" lang="en-US">
                <a:solidFill>
                  <a:srgbClr val="0070C0"/>
                </a:solidFill>
              </a:rPr>
              <a:t>a</a:t>
            </a:r>
            <a:r>
              <a:rPr b="1" sz="3600" lang="en-US">
                <a:solidFill>
                  <a:srgbClr val="0070C0"/>
                </a:solidFill>
              </a:rPr>
              <a:t>d</a:t>
            </a:r>
            <a:r>
              <a:rPr b="1" sz="3600" lang="en-US">
                <a:solidFill>
                  <a:srgbClr val="0070C0"/>
                </a:solidFill>
              </a:rPr>
              <a:t>s</a:t>
            </a:r>
            <a:r>
              <a:rPr b="1" sz="3600" lang="en-US">
                <a:solidFill>
                  <a:srgbClr val="0070C0"/>
                </a:solidFill>
              </a:rPr>
              <a:t> </a:t>
            </a:r>
            <a:r>
              <a:rPr b="1" sz="3600" lang="en-US">
                <a:solidFill>
                  <a:srgbClr val="0070C0"/>
                </a:solidFill>
              </a:rPr>
              <a:t>v</a:t>
            </a:r>
            <a:r>
              <a:rPr b="1" sz="3600" lang="en-US">
                <a:solidFill>
                  <a:srgbClr val="0070C0"/>
                </a:solidFill>
              </a:rPr>
              <a:t>i</a:t>
            </a:r>
            <a:r>
              <a:rPr b="1" sz="3600" lang="en-US">
                <a:solidFill>
                  <a:srgbClr val="0070C0"/>
                </a:solidFill>
              </a:rPr>
              <a:t>e</a:t>
            </a:r>
            <a:r>
              <a:rPr b="1" sz="3600" lang="en-US">
                <a:solidFill>
                  <a:srgbClr val="0070C0"/>
                </a:solidFill>
              </a:rPr>
              <a:t>w</a:t>
            </a:r>
            <a:r>
              <a:rPr b="1" sz="3600" lang="en-US">
                <a:solidFill>
                  <a:srgbClr val="0070C0"/>
                </a:solidFill>
              </a:rPr>
              <a:t>s</a:t>
            </a:r>
            <a:r>
              <a:rPr sz="2800" lang="en-US">
                <a:solidFill>
                  <a:srgbClr val="000000"/>
                </a:solidFill>
              </a:rPr>
              <a:t> </a:t>
            </a:r>
            <a:endParaRPr sz="2800" lang="en-US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7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5" name=""/>
          <p:cNvSpPr txBox="1"/>
          <p:nvPr/>
        </p:nvSpPr>
        <p:spPr>
          <a:xfrm>
            <a:off x="150004" y="130685"/>
            <a:ext cx="8882845" cy="6377940"/>
          </a:xfrm>
          <a:prstGeom prst="rect"/>
        </p:spPr>
        <p:txBody>
          <a:bodyPr rtlCol="0" wrap="square">
            <a:spAutoFit/>
          </a:bodyPr>
          <a:p>
            <a:r>
              <a:rPr sz="2800" lang="en-US">
                <a:solidFill>
                  <a:srgbClr val="000000"/>
                </a:solidFill>
              </a:rPr>
              <a:t>Using a sokolow Lyon criteria </a:t>
            </a:r>
            <a:endParaRPr sz="2800" lang="en-US">
              <a:solidFill>
                <a:srgbClr val="000000"/>
              </a:solidFill>
            </a:endParaRPr>
          </a:p>
          <a:p>
            <a:r>
              <a:rPr sz="2800" lang="en-US">
                <a:solidFill>
                  <a:srgbClr val="000000"/>
                </a:solidFill>
              </a:rPr>
              <a:t>• Here, we have count numbers of small boxes in deep S wave about 19 in V1 and tall R wave in V6 about 23 = 19 + 23 = 42mm</a:t>
            </a:r>
            <a:endParaRPr sz="2800" lang="en-US">
              <a:solidFill>
                <a:srgbClr val="000000"/>
              </a:solidFill>
            </a:endParaRPr>
          </a:p>
          <a:p>
            <a:endParaRPr sz="2800" lang="en-US">
              <a:solidFill>
                <a:srgbClr val="000000"/>
              </a:solidFill>
            </a:endParaRPr>
          </a:p>
          <a:p>
            <a:r>
              <a:rPr sz="2800" lang="en-US">
                <a:solidFill>
                  <a:srgbClr val="000000"/>
                </a:solidFill>
              </a:rPr>
              <a:t>• ST elevation through V1-V3 due to LVH</a:t>
            </a:r>
            <a:endParaRPr sz="2800" lang="en-US">
              <a:solidFill>
                <a:srgbClr val="000000"/>
              </a:solidFill>
            </a:endParaRPr>
          </a:p>
          <a:p>
            <a:endParaRPr sz="2800" lang="en-US">
              <a:solidFill>
                <a:srgbClr val="000000"/>
              </a:solidFill>
            </a:endParaRPr>
          </a:p>
          <a:p>
            <a:r>
              <a:rPr sz="2800" lang="en-US">
                <a:solidFill>
                  <a:srgbClr val="000000"/>
                </a:solidFill>
              </a:rPr>
              <a:t>• Poor R wave progression (Loss of R wave amplitude less than 3mm in V3)</a:t>
            </a:r>
            <a:endParaRPr sz="2800" lang="en-US">
              <a:solidFill>
                <a:srgbClr val="000000"/>
              </a:solidFill>
            </a:endParaRPr>
          </a:p>
          <a:p>
            <a:endParaRPr sz="2800" lang="en-US">
              <a:solidFill>
                <a:srgbClr val="000000"/>
              </a:solidFill>
            </a:endParaRPr>
          </a:p>
          <a:p>
            <a:r>
              <a:rPr sz="2800" lang="en-US">
                <a:solidFill>
                  <a:srgbClr val="000000"/>
                </a:solidFill>
              </a:rPr>
              <a:t>• Non voltage criteria (ST depression and T wave inversion in lateral wall leads (I, aVL, V5 &amp; V6)</a:t>
            </a:r>
            <a:endParaRPr sz="2800" lang="en-US">
              <a:solidFill>
                <a:srgbClr val="000000"/>
              </a:solidFill>
            </a:endParaRPr>
          </a:p>
          <a:p>
            <a:endParaRPr sz="2800" lang="en-US">
              <a:solidFill>
                <a:srgbClr val="000000"/>
              </a:solidFill>
            </a:endParaRPr>
          </a:p>
          <a:p>
            <a:r>
              <a:rPr sz="2800" lang="en-US">
                <a:solidFill>
                  <a:srgbClr val="000000"/>
                </a:solidFill>
              </a:rPr>
              <a:t>• Left axis deviation (positive QRS in lead 1 i.e upright QRS, negative deflection QRS in lead II)</a:t>
            </a:r>
            <a:endParaRPr sz="2800" lang="en-US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7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6" name=""/>
          <p:cNvSpPr txBox="1"/>
          <p:nvPr/>
        </p:nvSpPr>
        <p:spPr>
          <a:xfrm>
            <a:off x="706933" y="402078"/>
            <a:ext cx="8061037" cy="624840"/>
          </a:xfrm>
          <a:prstGeom prst="rect"/>
        </p:spPr>
        <p:txBody>
          <a:bodyPr rtlCol="0" wrap="square">
            <a:spAutoFit/>
          </a:bodyPr>
          <a:p>
            <a:r>
              <a:rPr b="1" sz="3600" lang="en-US">
                <a:solidFill>
                  <a:srgbClr val="0070C0"/>
                </a:solidFill>
              </a:rPr>
              <a:t>D</a:t>
            </a:r>
            <a:r>
              <a:rPr b="1" sz="3600" lang="en-US">
                <a:solidFill>
                  <a:srgbClr val="0070C0"/>
                </a:solidFill>
              </a:rPr>
              <a:t>i</a:t>
            </a:r>
            <a:r>
              <a:rPr b="1" sz="3600" lang="en-US">
                <a:solidFill>
                  <a:srgbClr val="0070C0"/>
                </a:solidFill>
              </a:rPr>
              <a:t>f</a:t>
            </a:r>
            <a:r>
              <a:rPr b="1" sz="3600" lang="en-US">
                <a:solidFill>
                  <a:srgbClr val="0070C0"/>
                </a:solidFill>
              </a:rPr>
              <a:t>f</a:t>
            </a:r>
            <a:r>
              <a:rPr b="1" sz="3600" lang="en-US">
                <a:solidFill>
                  <a:srgbClr val="0070C0"/>
                </a:solidFill>
              </a:rPr>
              <a:t>e</a:t>
            </a:r>
            <a:r>
              <a:rPr b="1" sz="3600" lang="en-US">
                <a:solidFill>
                  <a:srgbClr val="0070C0"/>
                </a:solidFill>
              </a:rPr>
              <a:t>rent </a:t>
            </a:r>
            <a:r>
              <a:rPr b="1" sz="3600" lang="en-US">
                <a:solidFill>
                  <a:srgbClr val="0070C0"/>
                </a:solidFill>
              </a:rPr>
              <a:t>E</a:t>
            </a:r>
            <a:r>
              <a:rPr b="1" sz="3600" lang="en-US">
                <a:solidFill>
                  <a:srgbClr val="0070C0"/>
                </a:solidFill>
              </a:rPr>
              <a:t>C</a:t>
            </a:r>
            <a:r>
              <a:rPr b="1" sz="3600" lang="en-US">
                <a:solidFill>
                  <a:srgbClr val="0070C0"/>
                </a:solidFill>
              </a:rPr>
              <a:t>G</a:t>
            </a:r>
            <a:r>
              <a:rPr b="1" sz="3600" lang="en-US">
                <a:solidFill>
                  <a:srgbClr val="0070C0"/>
                </a:solidFill>
              </a:rPr>
              <a:t> </a:t>
            </a:r>
            <a:r>
              <a:rPr b="1" sz="3600" lang="en-US">
                <a:solidFill>
                  <a:srgbClr val="0070C0"/>
                </a:solidFill>
              </a:rPr>
              <a:t>V</a:t>
            </a:r>
            <a:r>
              <a:rPr b="1" sz="3600" lang="en-US">
                <a:solidFill>
                  <a:srgbClr val="0070C0"/>
                </a:solidFill>
              </a:rPr>
              <a:t>o</a:t>
            </a:r>
            <a:r>
              <a:rPr b="1" sz="3600" lang="en-US">
                <a:solidFill>
                  <a:srgbClr val="0070C0"/>
                </a:solidFill>
              </a:rPr>
              <a:t>l</a:t>
            </a:r>
            <a:r>
              <a:rPr b="1" sz="3600" lang="en-US">
                <a:solidFill>
                  <a:srgbClr val="0070C0"/>
                </a:solidFill>
              </a:rPr>
              <a:t>t</a:t>
            </a:r>
            <a:r>
              <a:rPr b="1" sz="3600" lang="en-US">
                <a:solidFill>
                  <a:srgbClr val="0070C0"/>
                </a:solidFill>
              </a:rPr>
              <a:t>age </a:t>
            </a:r>
            <a:r>
              <a:rPr b="1" sz="3600" lang="en-US">
                <a:solidFill>
                  <a:srgbClr val="0070C0"/>
                </a:solidFill>
              </a:rPr>
              <a:t>C</a:t>
            </a:r>
            <a:r>
              <a:rPr b="1" sz="3600" lang="en-US">
                <a:solidFill>
                  <a:srgbClr val="0070C0"/>
                </a:solidFill>
              </a:rPr>
              <a:t>r</a:t>
            </a:r>
            <a:r>
              <a:rPr b="1" sz="3600" lang="en-US">
                <a:solidFill>
                  <a:srgbClr val="0070C0"/>
                </a:solidFill>
              </a:rPr>
              <a:t>i</a:t>
            </a:r>
            <a:r>
              <a:rPr b="1" sz="3600" lang="en-US">
                <a:solidFill>
                  <a:srgbClr val="0070C0"/>
                </a:solidFill>
              </a:rPr>
              <a:t>t</a:t>
            </a:r>
            <a:r>
              <a:rPr b="1" sz="3600" lang="en-US">
                <a:solidFill>
                  <a:srgbClr val="0070C0"/>
                </a:solidFill>
              </a:rPr>
              <a:t>e</a:t>
            </a:r>
            <a:r>
              <a:rPr b="1" sz="3600" lang="en-US">
                <a:solidFill>
                  <a:srgbClr val="0070C0"/>
                </a:solidFill>
              </a:rPr>
              <a:t>r</a:t>
            </a:r>
            <a:r>
              <a:rPr b="1" sz="3600" lang="en-US">
                <a:solidFill>
                  <a:srgbClr val="0070C0"/>
                </a:solidFill>
              </a:rPr>
              <a:t>i</a:t>
            </a:r>
            <a:r>
              <a:rPr b="1" sz="3600" lang="en-US">
                <a:solidFill>
                  <a:srgbClr val="0070C0"/>
                </a:solidFill>
              </a:rPr>
              <a:t>a </a:t>
            </a:r>
            <a:r>
              <a:rPr b="1" sz="3600" lang="en-US">
                <a:solidFill>
                  <a:srgbClr val="0070C0"/>
                </a:solidFill>
              </a:rPr>
              <a:t>f</a:t>
            </a:r>
            <a:r>
              <a:rPr b="1" sz="3600" lang="en-US">
                <a:solidFill>
                  <a:srgbClr val="0070C0"/>
                </a:solidFill>
              </a:rPr>
              <a:t>o</a:t>
            </a:r>
            <a:r>
              <a:rPr b="1" sz="3600" lang="en-US">
                <a:solidFill>
                  <a:srgbClr val="0070C0"/>
                </a:solidFill>
              </a:rPr>
              <a:t>r</a:t>
            </a:r>
            <a:r>
              <a:rPr b="1" sz="3600" lang="en-US">
                <a:solidFill>
                  <a:srgbClr val="0070C0"/>
                </a:solidFill>
              </a:rPr>
              <a:t> </a:t>
            </a:r>
            <a:r>
              <a:rPr b="1" sz="3600" lang="en-US">
                <a:solidFill>
                  <a:srgbClr val="0070C0"/>
                </a:solidFill>
              </a:rPr>
              <a:t>L</a:t>
            </a:r>
            <a:r>
              <a:rPr b="1" sz="3600" lang="en-US">
                <a:solidFill>
                  <a:srgbClr val="0070C0"/>
                </a:solidFill>
              </a:rPr>
              <a:t>V</a:t>
            </a:r>
            <a:r>
              <a:rPr b="1" sz="3600" lang="en-US">
                <a:solidFill>
                  <a:srgbClr val="0070C0"/>
                </a:solidFill>
              </a:rPr>
              <a:t>H</a:t>
            </a:r>
            <a:endParaRPr b="1" sz="3600" lang="en-US">
              <a:solidFill>
                <a:srgbClr val="0070C0"/>
              </a:solidFill>
            </a:endParaRPr>
          </a:p>
        </p:txBody>
      </p:sp>
      <p:pic>
        <p:nvPicPr>
          <p:cNvPr id="2097156" name=""/>
          <p:cNvPicPr>
            <a:picLocks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 rot="0">
            <a:off x="155421" y="1164121"/>
            <a:ext cx="8366890" cy="5654121"/>
          </a:xfrm>
          <a:prstGeom prst="rect"/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7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7" name=""/>
          <p:cNvSpPr txBox="1"/>
          <p:nvPr/>
        </p:nvSpPr>
        <p:spPr>
          <a:xfrm>
            <a:off x="1381575" y="298690"/>
            <a:ext cx="8028024" cy="510540"/>
          </a:xfrm>
          <a:prstGeom prst="rect"/>
        </p:spPr>
        <p:txBody>
          <a:bodyPr rtlCol="0" wrap="square">
            <a:spAutoFit/>
          </a:bodyPr>
          <a:p>
            <a:r>
              <a:rPr b="1" sz="2800" lang="en-US">
                <a:solidFill>
                  <a:srgbClr val="0070C0"/>
                </a:solidFill>
              </a:rPr>
              <a:t>R</a:t>
            </a:r>
            <a:r>
              <a:rPr b="1" sz="2800" lang="en-US">
                <a:solidFill>
                  <a:srgbClr val="0070C0"/>
                </a:solidFill>
              </a:rPr>
              <a:t>I</a:t>
            </a:r>
            <a:r>
              <a:rPr b="1" sz="2800" lang="en-US">
                <a:solidFill>
                  <a:srgbClr val="0070C0"/>
                </a:solidFill>
              </a:rPr>
              <a:t>G</a:t>
            </a:r>
            <a:r>
              <a:rPr b="1" sz="2800" lang="en-US">
                <a:solidFill>
                  <a:srgbClr val="0070C0"/>
                </a:solidFill>
              </a:rPr>
              <a:t>H</a:t>
            </a:r>
            <a:r>
              <a:rPr b="1" sz="2800" lang="en-US">
                <a:solidFill>
                  <a:srgbClr val="0070C0"/>
                </a:solidFill>
              </a:rPr>
              <a:t>T </a:t>
            </a:r>
            <a:r>
              <a:rPr b="1" sz="2800" lang="en-US">
                <a:solidFill>
                  <a:srgbClr val="0070C0"/>
                </a:solidFill>
              </a:rPr>
              <a:t>V</a:t>
            </a:r>
            <a:r>
              <a:rPr b="1" sz="2800" lang="en-US">
                <a:solidFill>
                  <a:srgbClr val="0070C0"/>
                </a:solidFill>
              </a:rPr>
              <a:t>E</a:t>
            </a:r>
            <a:r>
              <a:rPr b="1" sz="2800" lang="en-US">
                <a:solidFill>
                  <a:srgbClr val="0070C0"/>
                </a:solidFill>
              </a:rPr>
              <a:t>N</a:t>
            </a:r>
            <a:r>
              <a:rPr b="1" sz="2800" lang="en-US">
                <a:solidFill>
                  <a:srgbClr val="0070C0"/>
                </a:solidFill>
              </a:rPr>
              <a:t>T</a:t>
            </a:r>
            <a:r>
              <a:rPr b="1" sz="2800" lang="en-US">
                <a:solidFill>
                  <a:srgbClr val="0070C0"/>
                </a:solidFill>
              </a:rPr>
              <a:t>R</a:t>
            </a:r>
            <a:r>
              <a:rPr b="1" sz="2800" lang="en-US">
                <a:solidFill>
                  <a:srgbClr val="0070C0"/>
                </a:solidFill>
              </a:rPr>
              <a:t>I</a:t>
            </a:r>
            <a:r>
              <a:rPr b="1" sz="2800" lang="en-US">
                <a:solidFill>
                  <a:srgbClr val="0070C0"/>
                </a:solidFill>
              </a:rPr>
              <a:t>CULAR </a:t>
            </a:r>
            <a:r>
              <a:rPr b="1" sz="2800" lang="en-US">
                <a:solidFill>
                  <a:srgbClr val="0070C0"/>
                </a:solidFill>
              </a:rPr>
              <a:t>HYPERTROPHY </a:t>
            </a:r>
            <a:endParaRPr b="1" sz="2800" lang="en-US">
              <a:solidFill>
                <a:srgbClr val="0070C0"/>
              </a:solidFill>
            </a:endParaRPr>
          </a:p>
        </p:txBody>
      </p:sp>
      <p:sp>
        <p:nvSpPr>
          <p:cNvPr id="1048608" name=""/>
          <p:cNvSpPr txBox="1"/>
          <p:nvPr/>
        </p:nvSpPr>
        <p:spPr>
          <a:xfrm>
            <a:off x="0" y="1019151"/>
            <a:ext cx="8921700" cy="4282439"/>
          </a:xfrm>
          <a:prstGeom prst="rect"/>
        </p:spPr>
        <p:txBody>
          <a:bodyPr rtlCol="0" wrap="square">
            <a:spAutoFit/>
          </a:bodyPr>
          <a:p>
            <a:r>
              <a:rPr sz="2800" lang="en-US">
                <a:solidFill>
                  <a:srgbClr val="000000"/>
                </a:solidFill>
              </a:rPr>
              <a:t>The right ventriclar hypertrophy</a:t>
            </a:r>
            <a:r>
              <a:rPr sz="2800" lang="en-US">
                <a:solidFill>
                  <a:srgbClr val="000000"/>
                </a:solidFill>
              </a:rPr>
              <a:t> </a:t>
            </a:r>
            <a:r>
              <a:rPr sz="2800" lang="en-US">
                <a:solidFill>
                  <a:srgbClr val="000000"/>
                </a:solidFill>
              </a:rPr>
              <a:t>(</a:t>
            </a:r>
            <a:r>
              <a:rPr sz="2800" lang="en-US">
                <a:solidFill>
                  <a:srgbClr val="000000"/>
                </a:solidFill>
              </a:rPr>
              <a:t>R</a:t>
            </a:r>
            <a:r>
              <a:rPr sz="2800" lang="en-US">
                <a:solidFill>
                  <a:srgbClr val="000000"/>
                </a:solidFill>
              </a:rPr>
              <a:t>V</a:t>
            </a:r>
            <a:r>
              <a:rPr sz="2800" lang="en-US">
                <a:solidFill>
                  <a:srgbClr val="000000"/>
                </a:solidFill>
              </a:rPr>
              <a:t>H</a:t>
            </a:r>
            <a:r>
              <a:rPr sz="2800" lang="en-US">
                <a:solidFill>
                  <a:srgbClr val="000000"/>
                </a:solidFill>
              </a:rPr>
              <a:t>)</a:t>
            </a:r>
            <a:r>
              <a:rPr sz="2800" lang="en-US">
                <a:solidFill>
                  <a:srgbClr val="000000"/>
                </a:solidFill>
              </a:rPr>
              <a:t> occurs in response to pressure overload secondary to conditions such as pulmonary Hypertension/embolism, mitral stenosis and Congenital heart disease (e.g. Tetralogy of Fallot, pulmonary stenosis). </a:t>
            </a:r>
            <a:endParaRPr sz="2800" lang="en-US">
              <a:solidFill>
                <a:srgbClr val="000000"/>
              </a:solidFill>
            </a:endParaRPr>
          </a:p>
          <a:p>
            <a:endParaRPr sz="2800" lang="en-US">
              <a:solidFill>
                <a:srgbClr val="000000"/>
              </a:solidFill>
            </a:endParaRPr>
          </a:p>
          <a:p>
            <a:endParaRPr sz="2800" lang="en-US">
              <a:solidFill>
                <a:srgbClr val="000000"/>
              </a:solidFill>
            </a:endParaRPr>
          </a:p>
          <a:p>
            <a:r>
              <a:rPr sz="2800" lang="en-US">
                <a:solidFill>
                  <a:srgbClr val="000000"/>
                </a:solidFill>
              </a:rPr>
              <a:t>This results in increased R wave amplitude in the right-sided precordial leads (V1-V3) and increased S wave depth in the left-sided leads (V5-6).</a:t>
            </a:r>
            <a:endParaRPr sz="2800" lang="en-US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7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9" name=""/>
          <p:cNvSpPr txBox="1"/>
          <p:nvPr/>
        </p:nvSpPr>
        <p:spPr>
          <a:xfrm>
            <a:off x="162957" y="240029"/>
            <a:ext cx="8854571" cy="4282441"/>
          </a:xfrm>
          <a:prstGeom prst="rect"/>
        </p:spPr>
        <p:txBody>
          <a:bodyPr rtlCol="0" wrap="square">
            <a:spAutoFit/>
          </a:bodyPr>
          <a:p>
            <a:pPr algn="ctr"/>
            <a:r>
              <a:rPr b="1" sz="2800" lang="en-US">
                <a:solidFill>
                  <a:srgbClr val="0070C0"/>
                </a:solidFill>
              </a:rPr>
              <a:t>Right Ventricular Hypertrophy (RVH)</a:t>
            </a:r>
            <a:endParaRPr b="1" sz="2800" lang="en-US">
              <a:solidFill>
                <a:srgbClr val="008000"/>
              </a:solidFill>
            </a:endParaRPr>
          </a:p>
          <a:p>
            <a:endParaRPr sz="2800" lang="en-US">
              <a:solidFill>
                <a:srgbClr val="008000"/>
              </a:solidFill>
            </a:endParaRPr>
          </a:p>
          <a:p>
            <a:r>
              <a:rPr b="1" sz="2800" lang="en-US">
                <a:solidFill>
                  <a:srgbClr val="008000"/>
                </a:solidFill>
              </a:rPr>
              <a:t>Diagnostic criteria</a:t>
            </a:r>
            <a:endParaRPr b="1" sz="2800" lang="en-US">
              <a:solidFill>
                <a:srgbClr val="008000"/>
              </a:solidFill>
            </a:endParaRPr>
          </a:p>
          <a:p>
            <a:r>
              <a:rPr sz="2800" lang="en-US">
                <a:solidFill>
                  <a:srgbClr val="000000"/>
                </a:solidFill>
              </a:rPr>
              <a:t>1. Right axis deviation (lead I will be negative while lead II positive)</a:t>
            </a:r>
            <a:endParaRPr sz="2800" lang="en-US">
              <a:solidFill>
                <a:srgbClr val="000000"/>
              </a:solidFill>
            </a:endParaRPr>
          </a:p>
          <a:p>
            <a:r>
              <a:rPr sz="2800" lang="en-US">
                <a:solidFill>
                  <a:srgbClr val="000000"/>
                </a:solidFill>
              </a:rPr>
              <a:t>2. Dominant R wave in V1 (&gt; 7mm tall or R/S ratio &gt; 1).</a:t>
            </a:r>
            <a:endParaRPr sz="2800" lang="en-US">
              <a:solidFill>
                <a:srgbClr val="000000"/>
              </a:solidFill>
            </a:endParaRPr>
          </a:p>
          <a:p>
            <a:r>
              <a:rPr sz="2800" lang="en-US">
                <a:solidFill>
                  <a:srgbClr val="000000"/>
                </a:solidFill>
              </a:rPr>
              <a:t>3. Dominant S wave in V5 or V6 (&gt; 7mm deep or R/S ratio &lt; 1).</a:t>
            </a:r>
            <a:endParaRPr sz="2800" lang="en-US">
              <a:solidFill>
                <a:srgbClr val="000000"/>
              </a:solidFill>
            </a:endParaRPr>
          </a:p>
          <a:p>
            <a:r>
              <a:rPr sz="2800" lang="en-US">
                <a:solidFill>
                  <a:srgbClr val="000000"/>
                </a:solidFill>
              </a:rPr>
              <a:t>4. QRS duration &lt; 120ms (i.e. changes not due to RBBB).</a:t>
            </a:r>
            <a:endParaRPr sz="2800" lang="en-US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7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0" name=""/>
          <p:cNvSpPr txBox="1"/>
          <p:nvPr/>
        </p:nvSpPr>
        <p:spPr>
          <a:xfrm>
            <a:off x="253619" y="1435978"/>
            <a:ext cx="8636760" cy="3444240"/>
          </a:xfrm>
          <a:prstGeom prst="rect"/>
        </p:spPr>
        <p:txBody>
          <a:bodyPr rtlCol="0" wrap="square">
            <a:spAutoFit/>
          </a:bodyPr>
          <a:p>
            <a:r>
              <a:rPr b="1" sz="2800" lang="en-US">
                <a:solidFill>
                  <a:srgbClr val="008000"/>
                </a:solidFill>
              </a:rPr>
              <a:t>Supporting criteria</a:t>
            </a:r>
            <a:endParaRPr b="1" sz="2800" lang="en-US">
              <a:solidFill>
                <a:srgbClr val="008000"/>
              </a:solidFill>
            </a:endParaRPr>
          </a:p>
          <a:p>
            <a:r>
              <a:rPr sz="2800" lang="en-US">
                <a:solidFill>
                  <a:srgbClr val="000000"/>
                </a:solidFill>
              </a:rPr>
              <a:t>1. Right atrial enlargement (P pulmonale).</a:t>
            </a:r>
            <a:endParaRPr sz="2800" lang="en-US">
              <a:solidFill>
                <a:srgbClr val="000000"/>
              </a:solidFill>
            </a:endParaRPr>
          </a:p>
          <a:p>
            <a:r>
              <a:rPr sz="2800" lang="en-US">
                <a:solidFill>
                  <a:srgbClr val="000000"/>
                </a:solidFill>
              </a:rPr>
              <a:t>2. Right ventricular strain pattern = ST depression / T wave inversion in the right precordial (V1-4) and inferior (II, III, aVF) leads</a:t>
            </a:r>
            <a:r>
              <a:rPr sz="2800" lang="en-US">
                <a:solidFill>
                  <a:srgbClr val="000000"/>
                </a:solidFill>
              </a:rPr>
              <a:t>.</a:t>
            </a:r>
            <a:endParaRPr sz="2800" lang="en-US">
              <a:solidFill>
                <a:srgbClr val="000000"/>
              </a:solidFill>
            </a:endParaRPr>
          </a:p>
          <a:p>
            <a:r>
              <a:rPr sz="2800" lang="en-US">
                <a:solidFill>
                  <a:srgbClr val="000000"/>
                </a:solidFill>
              </a:rPr>
              <a:t>3. Deep S waves in the lateral leads (I, aVL, V5-V6).</a:t>
            </a:r>
            <a:endParaRPr sz="2800" lang="en-US">
              <a:solidFill>
                <a:srgbClr val="000000"/>
              </a:solidFill>
            </a:endParaRPr>
          </a:p>
          <a:p>
            <a:r>
              <a:rPr sz="2800" lang="en-US">
                <a:solidFill>
                  <a:srgbClr val="000000"/>
                </a:solidFill>
              </a:rPr>
              <a:t>4. Complete or incomplete RBBB may cause RVH also.</a:t>
            </a:r>
            <a:endParaRPr sz="2800" lang="en-US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7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1" name=""/>
          <p:cNvSpPr txBox="1"/>
          <p:nvPr/>
        </p:nvSpPr>
        <p:spPr>
          <a:xfrm>
            <a:off x="130576" y="324567"/>
            <a:ext cx="8759803" cy="4345939"/>
          </a:xfrm>
          <a:prstGeom prst="rect"/>
        </p:spPr>
        <p:txBody>
          <a:bodyPr rtlCol="0" wrap="square">
            <a:spAutoFit/>
          </a:bodyPr>
          <a:p>
            <a:r>
              <a:rPr b="1" sz="3200" lang="en-US">
                <a:solidFill>
                  <a:srgbClr val="0070C0"/>
                </a:solidFill>
              </a:rPr>
              <a:t>Causes of RVH</a:t>
            </a:r>
            <a:endParaRPr b="1" sz="2800" lang="en-US">
              <a:solidFill>
                <a:srgbClr val="0070C0"/>
              </a:solidFill>
            </a:endParaRPr>
          </a:p>
          <a:p>
            <a:r>
              <a:rPr b="0" sz="2800" lang="en-US">
                <a:solidFill>
                  <a:srgbClr val="000000"/>
                </a:solidFill>
              </a:rPr>
              <a:t>T</a:t>
            </a:r>
            <a:r>
              <a:rPr b="0" sz="2800" lang="en-US">
                <a:solidFill>
                  <a:srgbClr val="000000"/>
                </a:solidFill>
              </a:rPr>
              <a:t>h</a:t>
            </a:r>
            <a:r>
              <a:rPr b="0" sz="2800" lang="en-US">
                <a:solidFill>
                  <a:srgbClr val="000000"/>
                </a:solidFill>
              </a:rPr>
              <a:t>e</a:t>
            </a:r>
            <a:r>
              <a:rPr b="0" sz="2800" lang="en-US">
                <a:solidFill>
                  <a:srgbClr val="000000"/>
                </a:solidFill>
              </a:rPr>
              <a:t>r</a:t>
            </a:r>
            <a:r>
              <a:rPr b="0" sz="2800" lang="en-US">
                <a:solidFill>
                  <a:srgbClr val="000000"/>
                </a:solidFill>
              </a:rPr>
              <a:t>e</a:t>
            </a:r>
            <a:r>
              <a:rPr b="0" sz="2800" lang="en-US">
                <a:solidFill>
                  <a:srgbClr val="000000"/>
                </a:solidFill>
              </a:rPr>
              <a:t> </a:t>
            </a:r>
            <a:r>
              <a:rPr b="0" sz="2800" lang="en-US">
                <a:solidFill>
                  <a:srgbClr val="000000"/>
                </a:solidFill>
              </a:rPr>
              <a:t>a</a:t>
            </a:r>
            <a:r>
              <a:rPr b="0" sz="2800" lang="en-US">
                <a:solidFill>
                  <a:srgbClr val="000000"/>
                </a:solidFill>
              </a:rPr>
              <a:t>r</a:t>
            </a:r>
            <a:r>
              <a:rPr b="0" sz="2800" lang="en-US">
                <a:solidFill>
                  <a:srgbClr val="000000"/>
                </a:solidFill>
              </a:rPr>
              <a:t>e</a:t>
            </a:r>
            <a:r>
              <a:rPr b="0" sz="2800" lang="en-US">
                <a:solidFill>
                  <a:srgbClr val="000000"/>
                </a:solidFill>
              </a:rPr>
              <a:t> </a:t>
            </a:r>
            <a:r>
              <a:rPr b="0" sz="2800" lang="en-US">
                <a:solidFill>
                  <a:srgbClr val="000000"/>
                </a:solidFill>
              </a:rPr>
              <a:t>v</a:t>
            </a:r>
            <a:r>
              <a:rPr b="0" sz="2800" lang="en-US">
                <a:solidFill>
                  <a:srgbClr val="000000"/>
                </a:solidFill>
              </a:rPr>
              <a:t>a</a:t>
            </a:r>
            <a:r>
              <a:rPr b="0" sz="2800" lang="en-US">
                <a:solidFill>
                  <a:srgbClr val="000000"/>
                </a:solidFill>
              </a:rPr>
              <a:t>r</a:t>
            </a:r>
            <a:r>
              <a:rPr b="0" sz="2800" lang="en-US">
                <a:solidFill>
                  <a:srgbClr val="000000"/>
                </a:solidFill>
              </a:rPr>
              <a:t>ious </a:t>
            </a:r>
            <a:r>
              <a:rPr b="0" sz="2800" lang="en-US">
                <a:solidFill>
                  <a:srgbClr val="000000"/>
                </a:solidFill>
              </a:rPr>
              <a:t>c</a:t>
            </a:r>
            <a:r>
              <a:rPr b="0" sz="2800" lang="en-US">
                <a:solidFill>
                  <a:srgbClr val="000000"/>
                </a:solidFill>
              </a:rPr>
              <a:t>a</a:t>
            </a:r>
            <a:r>
              <a:rPr b="0" sz="2800" lang="en-US">
                <a:solidFill>
                  <a:srgbClr val="000000"/>
                </a:solidFill>
              </a:rPr>
              <a:t>u</a:t>
            </a:r>
            <a:r>
              <a:rPr b="0" sz="2800" lang="en-US">
                <a:solidFill>
                  <a:srgbClr val="000000"/>
                </a:solidFill>
              </a:rPr>
              <a:t>s</a:t>
            </a:r>
            <a:r>
              <a:rPr b="0" sz="2800" lang="en-US">
                <a:solidFill>
                  <a:srgbClr val="000000"/>
                </a:solidFill>
              </a:rPr>
              <a:t>e</a:t>
            </a:r>
            <a:r>
              <a:rPr b="0" sz="2800" lang="en-US">
                <a:solidFill>
                  <a:srgbClr val="000000"/>
                </a:solidFill>
              </a:rPr>
              <a:t>s</a:t>
            </a:r>
            <a:r>
              <a:rPr b="0" sz="2800" lang="en-US">
                <a:solidFill>
                  <a:srgbClr val="000000"/>
                </a:solidFill>
              </a:rPr>
              <a:t> </a:t>
            </a:r>
            <a:r>
              <a:rPr b="0" sz="2800" lang="en-US">
                <a:solidFill>
                  <a:srgbClr val="000000"/>
                </a:solidFill>
              </a:rPr>
              <a:t>o</a:t>
            </a:r>
            <a:r>
              <a:rPr b="0" sz="2800" lang="en-US">
                <a:solidFill>
                  <a:srgbClr val="000000"/>
                </a:solidFill>
              </a:rPr>
              <a:t>f</a:t>
            </a:r>
            <a:r>
              <a:rPr b="0" sz="2800" lang="en-US">
                <a:solidFill>
                  <a:srgbClr val="000000"/>
                </a:solidFill>
              </a:rPr>
              <a:t> </a:t>
            </a:r>
            <a:r>
              <a:rPr b="0" sz="2800" lang="en-US">
                <a:solidFill>
                  <a:srgbClr val="000000"/>
                </a:solidFill>
              </a:rPr>
              <a:t>RVH </a:t>
            </a:r>
            <a:r>
              <a:rPr b="0" sz="2800" lang="en-US">
                <a:solidFill>
                  <a:srgbClr val="000000"/>
                </a:solidFill>
              </a:rPr>
              <a:t>t</a:t>
            </a:r>
            <a:r>
              <a:rPr b="0" sz="2800" lang="en-US">
                <a:solidFill>
                  <a:srgbClr val="000000"/>
                </a:solidFill>
              </a:rPr>
              <a:t>h</a:t>
            </a:r>
            <a:r>
              <a:rPr b="0" sz="2800" lang="en-US">
                <a:solidFill>
                  <a:srgbClr val="000000"/>
                </a:solidFill>
              </a:rPr>
              <a:t>e</a:t>
            </a:r>
            <a:r>
              <a:rPr b="0" sz="2800" lang="en-US">
                <a:solidFill>
                  <a:srgbClr val="000000"/>
                </a:solidFill>
              </a:rPr>
              <a:t>s</a:t>
            </a:r>
            <a:r>
              <a:rPr b="0" sz="2800" lang="en-US">
                <a:solidFill>
                  <a:srgbClr val="000000"/>
                </a:solidFill>
              </a:rPr>
              <a:t>e</a:t>
            </a:r>
            <a:r>
              <a:rPr b="0" sz="2800" lang="en-US">
                <a:solidFill>
                  <a:srgbClr val="000000"/>
                </a:solidFill>
              </a:rPr>
              <a:t> </a:t>
            </a:r>
            <a:r>
              <a:rPr b="0" sz="2800" lang="en-US">
                <a:solidFill>
                  <a:srgbClr val="000000"/>
                </a:solidFill>
              </a:rPr>
              <a:t>i</a:t>
            </a:r>
            <a:r>
              <a:rPr b="0" sz="2800" lang="en-US">
                <a:solidFill>
                  <a:srgbClr val="000000"/>
                </a:solidFill>
              </a:rPr>
              <a:t>n</a:t>
            </a:r>
            <a:r>
              <a:rPr b="0" sz="2800" lang="en-US">
                <a:solidFill>
                  <a:srgbClr val="000000"/>
                </a:solidFill>
              </a:rPr>
              <a:t>cluding</a:t>
            </a:r>
            <a:r>
              <a:rPr b="0" sz="2800" lang="en-US">
                <a:solidFill>
                  <a:srgbClr val="000000"/>
                </a:solidFill>
              </a:rPr>
              <a:t>;</a:t>
            </a:r>
            <a:endParaRPr b="1" sz="2800" lang="en-US">
              <a:solidFill>
                <a:srgbClr val="000000"/>
              </a:solidFill>
            </a:endParaRPr>
          </a:p>
          <a:p>
            <a:endParaRPr b="1" sz="2800" lang="en-US">
              <a:solidFill>
                <a:srgbClr val="0070C0"/>
              </a:solidFill>
            </a:endParaRPr>
          </a:p>
          <a:p>
            <a:r>
              <a:rPr sz="2800" lang="en-US">
                <a:solidFill>
                  <a:srgbClr val="000000"/>
                </a:solidFill>
              </a:rPr>
              <a:t>1. Pulmonary hypertension</a:t>
            </a:r>
            <a:endParaRPr sz="2800" lang="en-US">
              <a:solidFill>
                <a:srgbClr val="000000"/>
              </a:solidFill>
            </a:endParaRPr>
          </a:p>
          <a:p>
            <a:r>
              <a:rPr sz="2800" lang="en-US">
                <a:solidFill>
                  <a:srgbClr val="000000"/>
                </a:solidFill>
              </a:rPr>
              <a:t>2. Mitral stenosis</a:t>
            </a:r>
            <a:endParaRPr sz="2800" lang="en-US">
              <a:solidFill>
                <a:srgbClr val="000000"/>
              </a:solidFill>
            </a:endParaRPr>
          </a:p>
          <a:p>
            <a:r>
              <a:rPr sz="2800" lang="en-US">
                <a:solidFill>
                  <a:srgbClr val="000000"/>
                </a:solidFill>
              </a:rPr>
              <a:t>3. Pulmonary embolism</a:t>
            </a:r>
            <a:endParaRPr sz="2800" lang="en-US">
              <a:solidFill>
                <a:srgbClr val="000000"/>
              </a:solidFill>
            </a:endParaRPr>
          </a:p>
          <a:p>
            <a:r>
              <a:rPr sz="2800" lang="en-US">
                <a:solidFill>
                  <a:srgbClr val="000000"/>
                </a:solidFill>
              </a:rPr>
              <a:t>4. Chronic lung disease (cor pulmonale)</a:t>
            </a:r>
            <a:endParaRPr sz="2800" lang="en-US">
              <a:solidFill>
                <a:srgbClr val="000000"/>
              </a:solidFill>
            </a:endParaRPr>
          </a:p>
          <a:p>
            <a:r>
              <a:rPr sz="2800" lang="en-US">
                <a:solidFill>
                  <a:srgbClr val="000000"/>
                </a:solidFill>
              </a:rPr>
              <a:t>5. Congenital heart disease (e.g. Tetralogy of Fallot, pulmonary stenosis)</a:t>
            </a:r>
            <a:endParaRPr sz="2800" lang="en-US">
              <a:solidFill>
                <a:srgbClr val="000000"/>
              </a:solidFill>
            </a:endParaRPr>
          </a:p>
          <a:p>
            <a:r>
              <a:rPr sz="2800" lang="en-US">
                <a:solidFill>
                  <a:srgbClr val="000000"/>
                </a:solidFill>
              </a:rPr>
              <a:t>6. Arrhythmogenic right ventricular cardiomyopathy</a:t>
            </a:r>
            <a:endParaRPr sz="2800" lang="en-US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8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2" name=""/>
          <p:cNvSpPr txBox="1"/>
          <p:nvPr/>
        </p:nvSpPr>
        <p:spPr>
          <a:xfrm>
            <a:off x="214763" y="143608"/>
            <a:ext cx="4000000" cy="574039"/>
          </a:xfrm>
          <a:prstGeom prst="rect"/>
        </p:spPr>
        <p:txBody>
          <a:bodyPr rtlCol="0" wrap="square">
            <a:spAutoFit/>
          </a:bodyPr>
          <a:p>
            <a:r>
              <a:rPr b="1" sz="3200" lang="en-US">
                <a:solidFill>
                  <a:srgbClr val="0070C0"/>
                </a:solidFill>
              </a:rPr>
              <a:t>E</a:t>
            </a:r>
            <a:r>
              <a:rPr b="1" sz="3200" lang="en-US">
                <a:solidFill>
                  <a:srgbClr val="0070C0"/>
                </a:solidFill>
              </a:rPr>
              <a:t>x</a:t>
            </a:r>
            <a:r>
              <a:rPr b="1" sz="3200" lang="en-US">
                <a:solidFill>
                  <a:srgbClr val="0070C0"/>
                </a:solidFill>
              </a:rPr>
              <a:t>a</a:t>
            </a:r>
            <a:r>
              <a:rPr b="1" sz="3200" lang="en-US">
                <a:solidFill>
                  <a:srgbClr val="0070C0"/>
                </a:solidFill>
              </a:rPr>
              <a:t>m</a:t>
            </a:r>
            <a:r>
              <a:rPr b="1" sz="3200" lang="en-US">
                <a:solidFill>
                  <a:srgbClr val="0070C0"/>
                </a:solidFill>
              </a:rPr>
              <a:t>ple </a:t>
            </a:r>
            <a:r>
              <a:rPr b="1" sz="3200" lang="en-US">
                <a:solidFill>
                  <a:srgbClr val="0070C0"/>
                </a:solidFill>
              </a:rPr>
              <a:t>1</a:t>
            </a:r>
            <a:r>
              <a:rPr b="1" sz="3200" lang="en-US">
                <a:solidFill>
                  <a:srgbClr val="0070C0"/>
                </a:solidFill>
              </a:rPr>
              <a:t>.</a:t>
            </a:r>
            <a:r>
              <a:rPr b="1" sz="3200" lang="en-US">
                <a:solidFill>
                  <a:srgbClr val="0070C0"/>
                </a:solidFill>
              </a:rPr>
              <a:t> </a:t>
            </a:r>
            <a:r>
              <a:rPr b="1" sz="3200" lang="en-US">
                <a:solidFill>
                  <a:srgbClr val="0070C0"/>
                </a:solidFill>
              </a:rPr>
              <a:t>R</a:t>
            </a:r>
            <a:r>
              <a:rPr b="1" sz="3200" lang="en-US">
                <a:solidFill>
                  <a:srgbClr val="0070C0"/>
                </a:solidFill>
              </a:rPr>
              <a:t>V</a:t>
            </a:r>
            <a:r>
              <a:rPr b="1" sz="3200" lang="en-US">
                <a:solidFill>
                  <a:srgbClr val="0070C0"/>
                </a:solidFill>
              </a:rPr>
              <a:t>H</a:t>
            </a:r>
            <a:endParaRPr b="1" sz="2800" lang="en-US">
              <a:solidFill>
                <a:srgbClr val="0070C0"/>
              </a:solidFill>
            </a:endParaRPr>
          </a:p>
        </p:txBody>
      </p:sp>
      <p:pic>
        <p:nvPicPr>
          <p:cNvPr id="2097157" name=""/>
          <p:cNvPicPr>
            <a:picLocks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 rot="0">
            <a:off x="0" y="717647"/>
            <a:ext cx="9066289" cy="5176015"/>
          </a:xfrm>
          <a:prstGeom prst="rect"/>
        </p:spPr>
      </p:pic>
      <p:sp>
        <p:nvSpPr>
          <p:cNvPr id="1048613" name=""/>
          <p:cNvSpPr txBox="1"/>
          <p:nvPr/>
        </p:nvSpPr>
        <p:spPr>
          <a:xfrm>
            <a:off x="0" y="6069448"/>
            <a:ext cx="8118685" cy="510541"/>
          </a:xfrm>
          <a:prstGeom prst="rect"/>
        </p:spPr>
        <p:txBody>
          <a:bodyPr rtlCol="0" wrap="square">
            <a:spAutoFit/>
          </a:bodyPr>
          <a:p>
            <a:r>
              <a:rPr sz="2800" lang="en-US">
                <a:solidFill>
                  <a:srgbClr val="000000"/>
                </a:solidFill>
              </a:rPr>
              <a:t>Typical appearance of RVH</a:t>
            </a:r>
            <a:r>
              <a:rPr sz="2800" lang="en-US">
                <a:solidFill>
                  <a:srgbClr val="000000"/>
                </a:solidFill>
              </a:rPr>
              <a:t> </a:t>
            </a:r>
            <a:r>
              <a:rPr sz="2800" lang="en-US">
                <a:solidFill>
                  <a:srgbClr val="000000"/>
                </a:solidFill>
              </a:rPr>
              <a:t>w</a:t>
            </a:r>
            <a:r>
              <a:rPr sz="2800" lang="en-US">
                <a:solidFill>
                  <a:srgbClr val="000000"/>
                </a:solidFill>
              </a:rPr>
              <a:t>i</a:t>
            </a:r>
            <a:r>
              <a:rPr sz="2800" lang="en-US">
                <a:solidFill>
                  <a:srgbClr val="000000"/>
                </a:solidFill>
              </a:rPr>
              <a:t>t</a:t>
            </a:r>
            <a:r>
              <a:rPr sz="2800" lang="en-US">
                <a:solidFill>
                  <a:srgbClr val="000000"/>
                </a:solidFill>
              </a:rPr>
              <a:t>h</a:t>
            </a:r>
            <a:r>
              <a:rPr sz="2800" lang="en-US">
                <a:solidFill>
                  <a:srgbClr val="000000"/>
                </a:solidFill>
              </a:rPr>
              <a:t> </a:t>
            </a:r>
            <a:r>
              <a:rPr sz="2800" lang="en-US">
                <a:solidFill>
                  <a:srgbClr val="000000"/>
                </a:solidFill>
              </a:rPr>
              <a:t>RV </a:t>
            </a:r>
            <a:r>
              <a:rPr sz="2800" lang="en-US">
                <a:solidFill>
                  <a:srgbClr val="000000"/>
                </a:solidFill>
              </a:rPr>
              <a:t>strain </a:t>
            </a:r>
            <a:r>
              <a:rPr sz="2800" lang="en-US">
                <a:solidFill>
                  <a:srgbClr val="000000"/>
                </a:solidFill>
              </a:rPr>
              <a:t>pattern </a:t>
            </a:r>
            <a:endParaRPr sz="2800" lang="en-US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8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4" name=""/>
          <p:cNvSpPr txBox="1"/>
          <p:nvPr/>
        </p:nvSpPr>
        <p:spPr>
          <a:xfrm>
            <a:off x="156851" y="659129"/>
            <a:ext cx="8920629" cy="4701541"/>
          </a:xfrm>
          <a:prstGeom prst="rect"/>
        </p:spPr>
        <p:txBody>
          <a:bodyPr rtlCol="0" wrap="square">
            <a:spAutoFit/>
          </a:bodyPr>
          <a:p>
            <a:r>
              <a:rPr sz="2800" lang="en-US">
                <a:solidFill>
                  <a:srgbClr val="000000"/>
                </a:solidFill>
              </a:rPr>
              <a:t>S</a:t>
            </a:r>
            <a:r>
              <a:rPr sz="2800" lang="en-US">
                <a:solidFill>
                  <a:srgbClr val="000000"/>
                </a:solidFill>
              </a:rPr>
              <a:t>t</a:t>
            </a:r>
            <a:r>
              <a:rPr sz="2800" lang="en-US">
                <a:solidFill>
                  <a:srgbClr val="000000"/>
                </a:solidFill>
              </a:rPr>
              <a:t>e</a:t>
            </a:r>
            <a:r>
              <a:rPr sz="2800" lang="en-US">
                <a:solidFill>
                  <a:srgbClr val="000000"/>
                </a:solidFill>
              </a:rPr>
              <a:t>p</a:t>
            </a:r>
            <a:r>
              <a:rPr sz="2800" lang="en-US">
                <a:solidFill>
                  <a:srgbClr val="000000"/>
                </a:solidFill>
              </a:rPr>
              <a:t> </a:t>
            </a:r>
            <a:r>
              <a:rPr sz="2800" lang="en-US">
                <a:solidFill>
                  <a:srgbClr val="000000"/>
                </a:solidFill>
              </a:rPr>
              <a:t>b</a:t>
            </a:r>
            <a:r>
              <a:rPr sz="2800" lang="en-US">
                <a:solidFill>
                  <a:srgbClr val="000000"/>
                </a:solidFill>
              </a:rPr>
              <a:t>y</a:t>
            </a:r>
            <a:r>
              <a:rPr sz="2800" lang="en-US">
                <a:solidFill>
                  <a:srgbClr val="000000"/>
                </a:solidFill>
              </a:rPr>
              <a:t> </a:t>
            </a:r>
            <a:r>
              <a:rPr sz="2800" lang="en-US">
                <a:solidFill>
                  <a:srgbClr val="000000"/>
                </a:solidFill>
              </a:rPr>
              <a:t>S</a:t>
            </a:r>
            <a:r>
              <a:rPr sz="2800" lang="en-US">
                <a:solidFill>
                  <a:srgbClr val="000000"/>
                </a:solidFill>
              </a:rPr>
              <a:t>t</a:t>
            </a:r>
            <a:r>
              <a:rPr sz="2800" lang="en-US">
                <a:solidFill>
                  <a:srgbClr val="000000"/>
                </a:solidFill>
              </a:rPr>
              <a:t>e</a:t>
            </a:r>
            <a:r>
              <a:rPr sz="2800" lang="en-US">
                <a:solidFill>
                  <a:srgbClr val="000000"/>
                </a:solidFill>
              </a:rPr>
              <a:t>p</a:t>
            </a:r>
            <a:r>
              <a:rPr sz="2800" lang="en-US">
                <a:solidFill>
                  <a:srgbClr val="000000"/>
                </a:solidFill>
              </a:rPr>
              <a:t> </a:t>
            </a:r>
            <a:r>
              <a:rPr sz="2800" lang="en-US">
                <a:solidFill>
                  <a:srgbClr val="000000"/>
                </a:solidFill>
              </a:rPr>
              <a:t>i</a:t>
            </a:r>
            <a:r>
              <a:rPr sz="2800" lang="en-US">
                <a:solidFill>
                  <a:srgbClr val="000000"/>
                </a:solidFill>
              </a:rPr>
              <a:t>n</a:t>
            </a:r>
            <a:r>
              <a:rPr sz="2800" lang="en-US">
                <a:solidFill>
                  <a:srgbClr val="000000"/>
                </a:solidFill>
              </a:rPr>
              <a:t>t</a:t>
            </a:r>
            <a:r>
              <a:rPr sz="2800" lang="en-US">
                <a:solidFill>
                  <a:srgbClr val="000000"/>
                </a:solidFill>
              </a:rPr>
              <a:t>e</a:t>
            </a:r>
            <a:r>
              <a:rPr sz="2800" lang="en-US">
                <a:solidFill>
                  <a:srgbClr val="000000"/>
                </a:solidFill>
              </a:rPr>
              <a:t>r</a:t>
            </a:r>
            <a:r>
              <a:rPr sz="2800" lang="en-US">
                <a:solidFill>
                  <a:srgbClr val="000000"/>
                </a:solidFill>
              </a:rPr>
              <a:t>p</a:t>
            </a:r>
            <a:r>
              <a:rPr sz="2800" lang="en-US">
                <a:solidFill>
                  <a:srgbClr val="000000"/>
                </a:solidFill>
              </a:rPr>
              <a:t>r</a:t>
            </a:r>
            <a:r>
              <a:rPr sz="2800" lang="en-US">
                <a:solidFill>
                  <a:srgbClr val="000000"/>
                </a:solidFill>
              </a:rPr>
              <a:t>etation </a:t>
            </a:r>
            <a:r>
              <a:rPr sz="2800" lang="en-US">
                <a:solidFill>
                  <a:srgbClr val="000000"/>
                </a:solidFill>
              </a:rPr>
              <a:t>o</a:t>
            </a:r>
            <a:r>
              <a:rPr sz="2800" lang="en-US">
                <a:solidFill>
                  <a:srgbClr val="000000"/>
                </a:solidFill>
              </a:rPr>
              <a:t>f</a:t>
            </a:r>
            <a:r>
              <a:rPr sz="2800" lang="en-US">
                <a:solidFill>
                  <a:srgbClr val="000000"/>
                </a:solidFill>
              </a:rPr>
              <a:t> </a:t>
            </a:r>
            <a:r>
              <a:rPr sz="2800" lang="en-US">
                <a:solidFill>
                  <a:srgbClr val="000000"/>
                </a:solidFill>
              </a:rPr>
              <a:t>the </a:t>
            </a:r>
            <a:r>
              <a:rPr sz="2800" lang="en-US">
                <a:solidFill>
                  <a:srgbClr val="000000"/>
                </a:solidFill>
              </a:rPr>
              <a:t>r</a:t>
            </a:r>
            <a:r>
              <a:rPr sz="2800" lang="en-US">
                <a:solidFill>
                  <a:srgbClr val="000000"/>
                </a:solidFill>
              </a:rPr>
              <a:t>h</a:t>
            </a:r>
            <a:r>
              <a:rPr sz="2800" lang="en-US">
                <a:solidFill>
                  <a:srgbClr val="000000"/>
                </a:solidFill>
              </a:rPr>
              <a:t>y</a:t>
            </a:r>
            <a:r>
              <a:rPr sz="2800" lang="en-US">
                <a:solidFill>
                  <a:srgbClr val="000000"/>
                </a:solidFill>
              </a:rPr>
              <a:t>thm </a:t>
            </a:r>
            <a:endParaRPr sz="2800" lang="en-US">
              <a:solidFill>
                <a:srgbClr val="000000"/>
              </a:solidFill>
            </a:endParaRPr>
          </a:p>
          <a:p>
            <a:endParaRPr sz="2800" lang="en-US">
              <a:solidFill>
                <a:srgbClr val="000000"/>
              </a:solidFill>
            </a:endParaRPr>
          </a:p>
          <a:p>
            <a:r>
              <a:rPr sz="2800" lang="en-US">
                <a:solidFill>
                  <a:srgbClr val="000000"/>
                </a:solidFill>
              </a:rPr>
              <a:t>1. Right axis deviation (lead I is negative while lead II is positive).</a:t>
            </a:r>
            <a:endParaRPr sz="2800" lang="en-US">
              <a:solidFill>
                <a:srgbClr val="000000"/>
              </a:solidFill>
            </a:endParaRPr>
          </a:p>
          <a:p>
            <a:endParaRPr sz="2800" lang="en-US">
              <a:solidFill>
                <a:srgbClr val="000000"/>
              </a:solidFill>
            </a:endParaRPr>
          </a:p>
          <a:p>
            <a:r>
              <a:rPr sz="2800" lang="en-US">
                <a:solidFill>
                  <a:srgbClr val="000000"/>
                </a:solidFill>
              </a:rPr>
              <a:t>2. Dominant R wave in V1 (&gt; 7 mm tall)</a:t>
            </a:r>
            <a:endParaRPr sz="2800" lang="en-US">
              <a:solidFill>
                <a:srgbClr val="000000"/>
              </a:solidFill>
            </a:endParaRPr>
          </a:p>
          <a:p>
            <a:endParaRPr sz="2800" lang="en-US">
              <a:solidFill>
                <a:srgbClr val="000000"/>
              </a:solidFill>
            </a:endParaRPr>
          </a:p>
          <a:p>
            <a:r>
              <a:rPr sz="2800" lang="en-US">
                <a:solidFill>
                  <a:srgbClr val="000000"/>
                </a:solidFill>
              </a:rPr>
              <a:t>3. Dominant S wave in V6 (&gt; 7 mm deep)</a:t>
            </a:r>
            <a:endParaRPr sz="2800" lang="en-US">
              <a:solidFill>
                <a:srgbClr val="000000"/>
              </a:solidFill>
            </a:endParaRPr>
          </a:p>
          <a:p>
            <a:endParaRPr sz="2800" lang="en-US">
              <a:solidFill>
                <a:srgbClr val="000000"/>
              </a:solidFill>
            </a:endParaRPr>
          </a:p>
          <a:p>
            <a:r>
              <a:rPr sz="2800" lang="en-US">
                <a:solidFill>
                  <a:srgbClr val="000000"/>
                </a:solidFill>
              </a:rPr>
              <a:t>4. Right ventricular strain pattern with ST depression and T wave inversion from V1-4.</a:t>
            </a:r>
            <a:endParaRPr sz="2800" lang="en-US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8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5" name=""/>
          <p:cNvSpPr txBox="1"/>
          <p:nvPr/>
        </p:nvSpPr>
        <p:spPr>
          <a:xfrm>
            <a:off x="165100" y="0"/>
            <a:ext cx="4000000" cy="574039"/>
          </a:xfrm>
          <a:prstGeom prst="rect"/>
        </p:spPr>
        <p:txBody>
          <a:bodyPr rtlCol="0" wrap="square">
            <a:spAutoFit/>
          </a:bodyPr>
          <a:p>
            <a:r>
              <a:rPr b="1" sz="3200" lang="en-US">
                <a:solidFill>
                  <a:srgbClr val="0070C0"/>
                </a:solidFill>
              </a:rPr>
              <a:t>E</a:t>
            </a:r>
            <a:r>
              <a:rPr b="1" sz="3200" lang="en-US">
                <a:solidFill>
                  <a:srgbClr val="0070C0"/>
                </a:solidFill>
              </a:rPr>
              <a:t>x</a:t>
            </a:r>
            <a:r>
              <a:rPr b="1" sz="3200" lang="en-US">
                <a:solidFill>
                  <a:srgbClr val="0070C0"/>
                </a:solidFill>
              </a:rPr>
              <a:t>a</a:t>
            </a:r>
            <a:r>
              <a:rPr b="1" sz="3200" lang="en-US">
                <a:solidFill>
                  <a:srgbClr val="0070C0"/>
                </a:solidFill>
              </a:rPr>
              <a:t>m</a:t>
            </a:r>
            <a:r>
              <a:rPr b="1" sz="3200" lang="en-US">
                <a:solidFill>
                  <a:srgbClr val="0070C0"/>
                </a:solidFill>
              </a:rPr>
              <a:t>p</a:t>
            </a:r>
            <a:r>
              <a:rPr b="1" sz="3200" lang="en-US">
                <a:solidFill>
                  <a:srgbClr val="0070C0"/>
                </a:solidFill>
              </a:rPr>
              <a:t>le </a:t>
            </a:r>
            <a:r>
              <a:rPr b="1" sz="3200" lang="en-US">
                <a:solidFill>
                  <a:srgbClr val="0070C0"/>
                </a:solidFill>
              </a:rPr>
              <a:t>2</a:t>
            </a:r>
            <a:r>
              <a:rPr b="1" sz="3200" lang="en-US">
                <a:solidFill>
                  <a:srgbClr val="0070C0"/>
                </a:solidFill>
              </a:rPr>
              <a:t>.</a:t>
            </a:r>
            <a:r>
              <a:rPr b="1" sz="3200" lang="en-US">
                <a:solidFill>
                  <a:srgbClr val="0070C0"/>
                </a:solidFill>
              </a:rPr>
              <a:t> </a:t>
            </a:r>
            <a:r>
              <a:rPr b="1" sz="3200" lang="en-US">
                <a:solidFill>
                  <a:srgbClr val="0070C0"/>
                </a:solidFill>
              </a:rPr>
              <a:t>R</a:t>
            </a:r>
            <a:r>
              <a:rPr b="1" sz="3200" lang="en-US">
                <a:solidFill>
                  <a:srgbClr val="0070C0"/>
                </a:solidFill>
              </a:rPr>
              <a:t>V</a:t>
            </a:r>
            <a:r>
              <a:rPr b="1" sz="3200" lang="en-US">
                <a:solidFill>
                  <a:srgbClr val="0070C0"/>
                </a:solidFill>
              </a:rPr>
              <a:t>H</a:t>
            </a:r>
            <a:endParaRPr b="1" sz="2800" lang="en-US">
              <a:solidFill>
                <a:srgbClr val="0070C0"/>
              </a:solidFill>
            </a:endParaRPr>
          </a:p>
        </p:txBody>
      </p:sp>
      <p:pic>
        <p:nvPicPr>
          <p:cNvPr id="2097158" name=""/>
          <p:cNvPicPr>
            <a:picLocks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 rot="0">
            <a:off x="0" y="739513"/>
            <a:ext cx="9144000" cy="4993742"/>
          </a:xfrm>
          <a:prstGeom prst="rect"/>
        </p:spPr>
      </p:pic>
      <p:sp>
        <p:nvSpPr>
          <p:cNvPr id="1048616" name=""/>
          <p:cNvSpPr txBox="1"/>
          <p:nvPr/>
        </p:nvSpPr>
        <p:spPr>
          <a:xfrm>
            <a:off x="165101" y="5898505"/>
            <a:ext cx="8100644" cy="574040"/>
          </a:xfrm>
          <a:prstGeom prst="rect"/>
        </p:spPr>
        <p:txBody>
          <a:bodyPr rtlCol="0" wrap="square">
            <a:spAutoFit/>
          </a:bodyPr>
          <a:p>
            <a:r>
              <a:rPr sz="3200" lang="en-US">
                <a:solidFill>
                  <a:srgbClr val="000000"/>
                </a:solidFill>
              </a:rPr>
              <a:t>R</a:t>
            </a:r>
            <a:r>
              <a:rPr sz="3200" lang="en-US">
                <a:solidFill>
                  <a:srgbClr val="000000"/>
                </a:solidFill>
              </a:rPr>
              <a:t>V</a:t>
            </a:r>
            <a:r>
              <a:rPr sz="3200" lang="en-US">
                <a:solidFill>
                  <a:srgbClr val="000000"/>
                </a:solidFill>
              </a:rPr>
              <a:t>H</a:t>
            </a:r>
            <a:r>
              <a:rPr sz="3200" lang="en-US">
                <a:solidFill>
                  <a:srgbClr val="000000"/>
                </a:solidFill>
              </a:rPr>
              <a:t> </a:t>
            </a:r>
            <a:r>
              <a:rPr sz="3200" lang="en-US">
                <a:solidFill>
                  <a:srgbClr val="000000"/>
                </a:solidFill>
              </a:rPr>
              <a:t>w</a:t>
            </a:r>
            <a:r>
              <a:rPr sz="3200" lang="en-US">
                <a:solidFill>
                  <a:srgbClr val="000000"/>
                </a:solidFill>
              </a:rPr>
              <a:t>i</a:t>
            </a:r>
            <a:r>
              <a:rPr sz="3200" lang="en-US">
                <a:solidFill>
                  <a:srgbClr val="000000"/>
                </a:solidFill>
              </a:rPr>
              <a:t>t</a:t>
            </a:r>
            <a:r>
              <a:rPr sz="3200" lang="en-US">
                <a:solidFill>
                  <a:srgbClr val="000000"/>
                </a:solidFill>
              </a:rPr>
              <a:t>h</a:t>
            </a:r>
            <a:r>
              <a:rPr sz="3200" lang="en-US">
                <a:solidFill>
                  <a:srgbClr val="000000"/>
                </a:solidFill>
              </a:rPr>
              <a:t> </a:t>
            </a:r>
            <a:r>
              <a:rPr sz="3200" lang="en-US">
                <a:solidFill>
                  <a:srgbClr val="000000"/>
                </a:solidFill>
              </a:rPr>
              <a:t>RV </a:t>
            </a:r>
            <a:r>
              <a:rPr sz="3200" lang="en-US">
                <a:solidFill>
                  <a:srgbClr val="000000"/>
                </a:solidFill>
              </a:rPr>
              <a:t>strain </a:t>
            </a:r>
            <a:r>
              <a:rPr sz="3200" lang="en-US">
                <a:solidFill>
                  <a:srgbClr val="000000"/>
                </a:solidFill>
              </a:rPr>
              <a:t>pattern </a:t>
            </a:r>
            <a:endParaRPr sz="2800" lang="en-US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8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7" name=""/>
          <p:cNvSpPr txBox="1"/>
          <p:nvPr/>
        </p:nvSpPr>
        <p:spPr>
          <a:xfrm>
            <a:off x="148575" y="237202"/>
            <a:ext cx="9408095" cy="5539740"/>
          </a:xfrm>
          <a:prstGeom prst="rect"/>
        </p:spPr>
        <p:txBody>
          <a:bodyPr rtlCol="0" wrap="square">
            <a:spAutoFit/>
          </a:bodyPr>
          <a:p>
            <a:r>
              <a:rPr sz="2800" lang="en-US">
                <a:solidFill>
                  <a:srgbClr val="000000"/>
                </a:solidFill>
              </a:rPr>
              <a:t>S</a:t>
            </a:r>
            <a:r>
              <a:rPr sz="2800" lang="en-US">
                <a:solidFill>
                  <a:srgbClr val="000000"/>
                </a:solidFill>
              </a:rPr>
              <a:t>t</a:t>
            </a:r>
            <a:r>
              <a:rPr sz="2800" lang="en-US">
                <a:solidFill>
                  <a:srgbClr val="000000"/>
                </a:solidFill>
              </a:rPr>
              <a:t>e</a:t>
            </a:r>
            <a:r>
              <a:rPr sz="2800" lang="en-US">
                <a:solidFill>
                  <a:srgbClr val="000000"/>
                </a:solidFill>
              </a:rPr>
              <a:t>p</a:t>
            </a:r>
            <a:r>
              <a:rPr sz="2800" lang="en-US">
                <a:solidFill>
                  <a:srgbClr val="000000"/>
                </a:solidFill>
              </a:rPr>
              <a:t>s</a:t>
            </a:r>
            <a:r>
              <a:rPr sz="2800" lang="en-US">
                <a:solidFill>
                  <a:srgbClr val="000000"/>
                </a:solidFill>
              </a:rPr>
              <a:t> </a:t>
            </a:r>
            <a:r>
              <a:rPr sz="2800" lang="en-US">
                <a:solidFill>
                  <a:srgbClr val="000000"/>
                </a:solidFill>
              </a:rPr>
              <a:t>i</a:t>
            </a:r>
            <a:r>
              <a:rPr sz="2800" lang="en-US">
                <a:solidFill>
                  <a:srgbClr val="000000"/>
                </a:solidFill>
              </a:rPr>
              <a:t>n</a:t>
            </a:r>
            <a:r>
              <a:rPr sz="2800" lang="en-US">
                <a:solidFill>
                  <a:srgbClr val="000000"/>
                </a:solidFill>
              </a:rPr>
              <a:t>t</a:t>
            </a:r>
            <a:r>
              <a:rPr sz="2800" lang="en-US">
                <a:solidFill>
                  <a:srgbClr val="000000"/>
                </a:solidFill>
              </a:rPr>
              <a:t>e</a:t>
            </a:r>
            <a:r>
              <a:rPr sz="2800" lang="en-US">
                <a:solidFill>
                  <a:srgbClr val="000000"/>
                </a:solidFill>
              </a:rPr>
              <a:t>r</a:t>
            </a:r>
            <a:r>
              <a:rPr sz="2800" lang="en-US">
                <a:solidFill>
                  <a:srgbClr val="000000"/>
                </a:solidFill>
              </a:rPr>
              <a:t>p</a:t>
            </a:r>
            <a:r>
              <a:rPr sz="2800" lang="en-US">
                <a:solidFill>
                  <a:srgbClr val="000000"/>
                </a:solidFill>
              </a:rPr>
              <a:t>r</a:t>
            </a:r>
            <a:r>
              <a:rPr sz="2800" lang="en-US">
                <a:solidFill>
                  <a:srgbClr val="000000"/>
                </a:solidFill>
              </a:rPr>
              <a:t>e</a:t>
            </a:r>
            <a:r>
              <a:rPr sz="2800" lang="en-US">
                <a:solidFill>
                  <a:srgbClr val="000000"/>
                </a:solidFill>
              </a:rPr>
              <a:t>tation </a:t>
            </a:r>
            <a:r>
              <a:rPr sz="2800" lang="en-US">
                <a:solidFill>
                  <a:srgbClr val="000000"/>
                </a:solidFill>
              </a:rPr>
              <a:t>of </a:t>
            </a:r>
            <a:r>
              <a:rPr sz="2800" lang="en-US">
                <a:solidFill>
                  <a:srgbClr val="000000"/>
                </a:solidFill>
              </a:rPr>
              <a:t>the </a:t>
            </a:r>
            <a:r>
              <a:rPr sz="2800" lang="en-US">
                <a:solidFill>
                  <a:srgbClr val="000000"/>
                </a:solidFill>
              </a:rPr>
              <a:t>R</a:t>
            </a:r>
            <a:r>
              <a:rPr sz="2800" lang="en-US">
                <a:solidFill>
                  <a:srgbClr val="000000"/>
                </a:solidFill>
              </a:rPr>
              <a:t>h</a:t>
            </a:r>
            <a:r>
              <a:rPr sz="2800" lang="en-US">
                <a:solidFill>
                  <a:srgbClr val="000000"/>
                </a:solidFill>
              </a:rPr>
              <a:t>y</a:t>
            </a:r>
            <a:r>
              <a:rPr sz="2800" lang="en-US">
                <a:solidFill>
                  <a:srgbClr val="000000"/>
                </a:solidFill>
              </a:rPr>
              <a:t>thm </a:t>
            </a:r>
            <a:endParaRPr sz="2800" lang="en-US">
              <a:solidFill>
                <a:srgbClr val="000000"/>
              </a:solidFill>
            </a:endParaRPr>
          </a:p>
          <a:p>
            <a:endParaRPr sz="2800" lang="en-US">
              <a:solidFill>
                <a:srgbClr val="000000"/>
              </a:solidFill>
            </a:endParaRPr>
          </a:p>
          <a:p>
            <a:r>
              <a:rPr sz="2800" lang="en-US">
                <a:solidFill>
                  <a:srgbClr val="000000"/>
                </a:solidFill>
              </a:rPr>
              <a:t>1. Right axis deviation</a:t>
            </a:r>
            <a:endParaRPr sz="2800" lang="en-US">
              <a:solidFill>
                <a:srgbClr val="000000"/>
              </a:solidFill>
            </a:endParaRPr>
          </a:p>
          <a:p>
            <a:endParaRPr sz="2800" lang="en-US">
              <a:solidFill>
                <a:srgbClr val="000000"/>
              </a:solidFill>
            </a:endParaRPr>
          </a:p>
          <a:p>
            <a:r>
              <a:rPr sz="2800" lang="en-US">
                <a:solidFill>
                  <a:srgbClr val="000000"/>
                </a:solidFill>
              </a:rPr>
              <a:t>2. P pulmonale (P wave amplitude in lead II &gt; 2.5 mm)</a:t>
            </a:r>
            <a:endParaRPr sz="2800" lang="en-US">
              <a:solidFill>
                <a:srgbClr val="000000"/>
              </a:solidFill>
            </a:endParaRPr>
          </a:p>
          <a:p>
            <a:endParaRPr sz="2800" lang="en-US">
              <a:solidFill>
                <a:srgbClr val="000000"/>
              </a:solidFill>
            </a:endParaRPr>
          </a:p>
          <a:p>
            <a:r>
              <a:rPr sz="2800" lang="en-US">
                <a:solidFill>
                  <a:srgbClr val="000000"/>
                </a:solidFill>
              </a:rPr>
              <a:t>3. Incomplete RBBB (becos V1 is less than 3mm in duration and sR complex in V1 other than rSR' prime pattern)</a:t>
            </a:r>
            <a:endParaRPr sz="2800" lang="en-US">
              <a:solidFill>
                <a:srgbClr val="000000"/>
              </a:solidFill>
            </a:endParaRPr>
          </a:p>
          <a:p>
            <a:endParaRPr sz="2800" lang="en-US">
              <a:solidFill>
                <a:srgbClr val="000000"/>
              </a:solidFill>
            </a:endParaRPr>
          </a:p>
          <a:p>
            <a:r>
              <a:rPr sz="2800" lang="en-US">
                <a:solidFill>
                  <a:srgbClr val="000000"/>
                </a:solidFill>
              </a:rPr>
              <a:t>4. Right ventricular strain pattern with T wave inversion and ST depression in the right precordial (V1-3) and inferior (II, III, aVF) leads.</a:t>
            </a:r>
            <a:endParaRPr sz="2800" lang="en-US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8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8" name=""/>
          <p:cNvSpPr>
            <a:spLocks noGrp="1"/>
          </p:cNvSpPr>
          <p:nvPr>
            <p:ph type="ctrTitle"/>
          </p:nvPr>
        </p:nvSpPr>
        <p:spPr>
          <a:xfrm>
            <a:off x="685800" y="-533706"/>
            <a:ext cx="7772400" cy="1483267"/>
          </a:xfrm>
        </p:spPr>
        <p:txBody>
          <a:bodyPr>
            <a:normAutofit/>
          </a:bodyPr>
          <a:p>
            <a:r>
              <a:rPr b="1" sz="4800" lang="en-US">
                <a:solidFill>
                  <a:srgbClr val="002060"/>
                </a:solidFill>
              </a:rPr>
              <a:t>S</a:t>
            </a:r>
            <a:r>
              <a:rPr b="1" sz="4800" lang="en-US">
                <a:solidFill>
                  <a:srgbClr val="002060"/>
                </a:solidFill>
              </a:rPr>
              <a:t>i</a:t>
            </a:r>
            <a:r>
              <a:rPr b="1" sz="4800" lang="en-US">
                <a:solidFill>
                  <a:srgbClr val="002060"/>
                </a:solidFill>
              </a:rPr>
              <a:t>m</a:t>
            </a:r>
            <a:r>
              <a:rPr b="1" sz="4800" lang="en-US">
                <a:solidFill>
                  <a:srgbClr val="002060"/>
                </a:solidFill>
              </a:rPr>
              <a:t>p</a:t>
            </a:r>
            <a:r>
              <a:rPr b="1" sz="4800" lang="en-US">
                <a:solidFill>
                  <a:srgbClr val="002060"/>
                </a:solidFill>
              </a:rPr>
              <a:t>l</a:t>
            </a:r>
            <a:r>
              <a:rPr b="1" sz="4800" lang="en-US">
                <a:solidFill>
                  <a:srgbClr val="002060"/>
                </a:solidFill>
              </a:rPr>
              <a:t>e</a:t>
            </a:r>
            <a:r>
              <a:rPr b="1" sz="4800" lang="en-US">
                <a:solidFill>
                  <a:srgbClr val="002060"/>
                </a:solidFill>
              </a:rPr>
              <a:t> </a:t>
            </a:r>
            <a:r>
              <a:rPr b="1" sz="4800" lang="en-US">
                <a:solidFill>
                  <a:srgbClr val="002060"/>
                </a:solidFill>
              </a:rPr>
              <a:t>R</a:t>
            </a:r>
            <a:r>
              <a:rPr b="1" sz="4800" lang="en-US">
                <a:solidFill>
                  <a:srgbClr val="002060"/>
                </a:solidFill>
              </a:rPr>
              <a:t>V</a:t>
            </a:r>
            <a:r>
              <a:rPr b="1" sz="4800" lang="en-US">
                <a:solidFill>
                  <a:srgbClr val="002060"/>
                </a:solidFill>
              </a:rPr>
              <a:t>H</a:t>
            </a:r>
            <a:r>
              <a:rPr b="1" sz="4800" lang="en-US">
                <a:solidFill>
                  <a:srgbClr val="002060"/>
                </a:solidFill>
              </a:rPr>
              <a:t> </a:t>
            </a:r>
            <a:r>
              <a:rPr b="1" sz="4800" lang="en-US">
                <a:solidFill>
                  <a:srgbClr val="002060"/>
                </a:solidFill>
              </a:rPr>
              <a:t>v</a:t>
            </a:r>
            <a:r>
              <a:rPr b="1" sz="4800" lang="en-US">
                <a:solidFill>
                  <a:srgbClr val="002060"/>
                </a:solidFill>
              </a:rPr>
              <a:t>o</a:t>
            </a:r>
            <a:r>
              <a:rPr b="1" sz="4800" lang="en-US">
                <a:solidFill>
                  <a:srgbClr val="002060"/>
                </a:solidFill>
              </a:rPr>
              <a:t>l</a:t>
            </a:r>
            <a:r>
              <a:rPr b="1" sz="4800" lang="en-US">
                <a:solidFill>
                  <a:srgbClr val="002060"/>
                </a:solidFill>
              </a:rPr>
              <a:t>t</a:t>
            </a:r>
            <a:r>
              <a:rPr b="1" sz="4800" lang="en-US">
                <a:solidFill>
                  <a:srgbClr val="002060"/>
                </a:solidFill>
              </a:rPr>
              <a:t>a</a:t>
            </a:r>
            <a:r>
              <a:rPr b="1" sz="4800" lang="en-US">
                <a:solidFill>
                  <a:srgbClr val="002060"/>
                </a:solidFill>
              </a:rPr>
              <a:t>g</a:t>
            </a:r>
            <a:r>
              <a:rPr b="1" sz="4800" lang="en-US">
                <a:solidFill>
                  <a:srgbClr val="002060"/>
                </a:solidFill>
              </a:rPr>
              <a:t>e</a:t>
            </a:r>
            <a:r>
              <a:rPr b="1" sz="4800" lang="en-US">
                <a:solidFill>
                  <a:srgbClr val="002060"/>
                </a:solidFill>
              </a:rPr>
              <a:t> </a:t>
            </a:r>
            <a:r>
              <a:rPr b="1" sz="4800" lang="en-US">
                <a:solidFill>
                  <a:srgbClr val="002060"/>
                </a:solidFill>
              </a:rPr>
              <a:t>Criteria </a:t>
            </a:r>
            <a:endParaRPr b="1" lang="en-US">
              <a:solidFill>
                <a:srgbClr val="002060"/>
              </a:solidFill>
            </a:endParaRPr>
          </a:p>
        </p:txBody>
      </p:sp>
      <p:pic>
        <p:nvPicPr>
          <p:cNvPr id="2097159" name=""/>
          <p:cNvPicPr>
            <a:picLocks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 rot="0">
            <a:off x="0" y="949561"/>
            <a:ext cx="9144000" cy="5865699"/>
          </a:xfrm>
          <a:prstGeom prst="rect"/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8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9" name=""/>
          <p:cNvSpPr txBox="1"/>
          <p:nvPr/>
        </p:nvSpPr>
        <p:spPr>
          <a:xfrm>
            <a:off x="2144589" y="0"/>
            <a:ext cx="5771655" cy="510540"/>
          </a:xfrm>
          <a:prstGeom prst="rect"/>
        </p:spPr>
        <p:txBody>
          <a:bodyPr rtlCol="0" wrap="square">
            <a:spAutoFit/>
          </a:bodyPr>
          <a:p>
            <a:r>
              <a:rPr b="1" sz="2800" lang="en-US">
                <a:solidFill>
                  <a:srgbClr val="0070C0"/>
                </a:solidFill>
              </a:rPr>
              <a:t>C</a:t>
            </a:r>
            <a:r>
              <a:rPr b="1" sz="2800" lang="en-US">
                <a:solidFill>
                  <a:srgbClr val="0070C0"/>
                </a:solidFill>
              </a:rPr>
              <a:t>H</a:t>
            </a:r>
            <a:r>
              <a:rPr b="1" sz="2800" lang="en-US">
                <a:solidFill>
                  <a:srgbClr val="0070C0"/>
                </a:solidFill>
              </a:rPr>
              <a:t>A</a:t>
            </a:r>
            <a:r>
              <a:rPr b="1" sz="2800" lang="en-US">
                <a:solidFill>
                  <a:srgbClr val="0070C0"/>
                </a:solidFill>
              </a:rPr>
              <a:t>M</a:t>
            </a:r>
            <a:r>
              <a:rPr b="1" sz="2800" lang="en-US">
                <a:solidFill>
                  <a:srgbClr val="0070C0"/>
                </a:solidFill>
              </a:rPr>
              <a:t>B</a:t>
            </a:r>
            <a:r>
              <a:rPr b="1" sz="2800" lang="en-US">
                <a:solidFill>
                  <a:srgbClr val="0070C0"/>
                </a:solidFill>
              </a:rPr>
              <a:t>E</a:t>
            </a:r>
            <a:r>
              <a:rPr b="1" sz="2800" lang="en-US">
                <a:solidFill>
                  <a:srgbClr val="0070C0"/>
                </a:solidFill>
              </a:rPr>
              <a:t>R</a:t>
            </a:r>
            <a:r>
              <a:rPr b="1" sz="2800" lang="en-US">
                <a:solidFill>
                  <a:srgbClr val="0070C0"/>
                </a:solidFill>
              </a:rPr>
              <a:t>S</a:t>
            </a:r>
            <a:r>
              <a:rPr b="1" sz="2800" lang="en-US">
                <a:solidFill>
                  <a:srgbClr val="0070C0"/>
                </a:solidFill>
              </a:rPr>
              <a:t> </a:t>
            </a:r>
            <a:r>
              <a:rPr b="1" sz="2800" lang="en-US">
                <a:solidFill>
                  <a:srgbClr val="0070C0"/>
                </a:solidFill>
              </a:rPr>
              <a:t>E</a:t>
            </a:r>
            <a:r>
              <a:rPr b="1" sz="2800" lang="en-US">
                <a:solidFill>
                  <a:srgbClr val="0070C0"/>
                </a:solidFill>
              </a:rPr>
              <a:t>N</a:t>
            </a:r>
            <a:r>
              <a:rPr b="1" sz="2800" lang="en-US">
                <a:solidFill>
                  <a:srgbClr val="0070C0"/>
                </a:solidFill>
              </a:rPr>
              <a:t>L</a:t>
            </a:r>
            <a:r>
              <a:rPr b="1" sz="2800" lang="en-US">
                <a:solidFill>
                  <a:srgbClr val="0070C0"/>
                </a:solidFill>
              </a:rPr>
              <a:t>A</a:t>
            </a:r>
            <a:r>
              <a:rPr b="1" sz="2800" lang="en-US">
                <a:solidFill>
                  <a:srgbClr val="0070C0"/>
                </a:solidFill>
              </a:rPr>
              <a:t>R</a:t>
            </a:r>
            <a:r>
              <a:rPr b="1" sz="2800" lang="en-US">
                <a:solidFill>
                  <a:srgbClr val="0070C0"/>
                </a:solidFill>
              </a:rPr>
              <a:t>G</a:t>
            </a:r>
            <a:r>
              <a:rPr b="1" sz="2800" lang="en-US">
                <a:solidFill>
                  <a:srgbClr val="0070C0"/>
                </a:solidFill>
              </a:rPr>
              <a:t>EMENT </a:t>
            </a:r>
            <a:endParaRPr b="1" sz="2800" lang="en-US">
              <a:solidFill>
                <a:srgbClr val="0070C0"/>
              </a:solidFill>
            </a:endParaRPr>
          </a:p>
        </p:txBody>
      </p:sp>
      <p:sp>
        <p:nvSpPr>
          <p:cNvPr id="1048620" name=""/>
          <p:cNvSpPr txBox="1"/>
          <p:nvPr/>
        </p:nvSpPr>
        <p:spPr>
          <a:xfrm>
            <a:off x="512656" y="510540"/>
            <a:ext cx="8419395" cy="5958840"/>
          </a:xfrm>
          <a:prstGeom prst="rect"/>
        </p:spPr>
        <p:txBody>
          <a:bodyPr rtlCol="0" wrap="square">
            <a:spAutoFit/>
          </a:bodyPr>
          <a:p>
            <a:r>
              <a:rPr b="1" sz="2800" lang="en-US">
                <a:solidFill>
                  <a:srgbClr val="000000"/>
                </a:solidFill>
              </a:rPr>
              <a:t>ECG Criteria for Left Atrial Enlargement</a:t>
            </a:r>
            <a:endParaRPr b="1" sz="2800" lang="en-US">
              <a:solidFill>
                <a:srgbClr val="000000"/>
              </a:solidFill>
            </a:endParaRPr>
          </a:p>
          <a:p>
            <a:r>
              <a:rPr sz="2800" lang="en-US">
                <a:solidFill>
                  <a:srgbClr val="000000"/>
                </a:solidFill>
              </a:rPr>
              <a:t>•</a:t>
            </a:r>
            <a:r>
              <a:rPr sz="2800" lang="en-US">
                <a:solidFill>
                  <a:srgbClr val="000000"/>
                </a:solidFill>
              </a:rPr>
              <a:t> </a:t>
            </a:r>
            <a:r>
              <a:rPr sz="2800" lang="en-US">
                <a:solidFill>
                  <a:srgbClr val="000000"/>
                </a:solidFill>
              </a:rPr>
              <a:t>LAE produces a broad, bifid P wave in lead II (P mitrale) and enlarges the terminal negative portion of the P wave in V1.</a:t>
            </a:r>
            <a:endParaRPr sz="2800" lang="en-US">
              <a:solidFill>
                <a:srgbClr val="000000"/>
              </a:solidFill>
            </a:endParaRPr>
          </a:p>
          <a:p>
            <a:endParaRPr sz="2800" lang="en-US">
              <a:solidFill>
                <a:srgbClr val="000000"/>
              </a:solidFill>
            </a:endParaRPr>
          </a:p>
          <a:p>
            <a:r>
              <a:rPr b="1" sz="2800" lang="en-US" u="sng">
                <a:solidFill>
                  <a:srgbClr val="000000"/>
                </a:solidFill>
              </a:rPr>
              <a:t>In lead II</a:t>
            </a:r>
            <a:endParaRPr b="1" sz="2800" lang="en-US" u="sng">
              <a:solidFill>
                <a:srgbClr val="000000"/>
              </a:solidFill>
            </a:endParaRPr>
          </a:p>
          <a:p>
            <a:r>
              <a:rPr sz="2800" lang="en-US">
                <a:solidFill>
                  <a:srgbClr val="000000"/>
                </a:solidFill>
              </a:rPr>
              <a:t>Bifid P wave with &gt; 40 ms between the two peaks</a:t>
            </a:r>
            <a:endParaRPr sz="2800" lang="en-US">
              <a:solidFill>
                <a:srgbClr val="000000"/>
              </a:solidFill>
            </a:endParaRPr>
          </a:p>
          <a:p>
            <a:r>
              <a:rPr sz="2800" lang="en-US">
                <a:solidFill>
                  <a:srgbClr val="000000"/>
                </a:solidFill>
              </a:rPr>
              <a:t>Total P wave duration &gt; 110 ms</a:t>
            </a:r>
            <a:endParaRPr sz="2800" lang="en-US">
              <a:solidFill>
                <a:srgbClr val="000000"/>
              </a:solidFill>
            </a:endParaRPr>
          </a:p>
          <a:p>
            <a:endParaRPr sz="2800" lang="en-US">
              <a:solidFill>
                <a:srgbClr val="000000"/>
              </a:solidFill>
            </a:endParaRPr>
          </a:p>
          <a:p>
            <a:r>
              <a:rPr b="1" sz="2800" lang="en-US" u="sng">
                <a:solidFill>
                  <a:srgbClr val="000000"/>
                </a:solidFill>
              </a:rPr>
              <a:t>In V1</a:t>
            </a:r>
            <a:endParaRPr b="1" sz="2800" lang="en-US" u="sng">
              <a:solidFill>
                <a:srgbClr val="000000"/>
              </a:solidFill>
            </a:endParaRPr>
          </a:p>
          <a:p>
            <a:r>
              <a:rPr sz="2800" lang="en-US">
                <a:solidFill>
                  <a:srgbClr val="000000"/>
                </a:solidFill>
              </a:rPr>
              <a:t>Biphasic P wave with terminal negative portion &gt; 40 ms duration</a:t>
            </a:r>
            <a:endParaRPr sz="2800" lang="en-US">
              <a:solidFill>
                <a:srgbClr val="000000"/>
              </a:solidFill>
            </a:endParaRPr>
          </a:p>
          <a:p>
            <a:r>
              <a:rPr sz="2800" lang="en-US">
                <a:solidFill>
                  <a:srgbClr val="000000"/>
                </a:solidFill>
              </a:rPr>
              <a:t>Biphasic P wave with terminal negative portion &gt; 1mm deep</a:t>
            </a:r>
            <a:endParaRPr sz="2800" lang="en-US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8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1" name=""/>
          <p:cNvSpPr txBox="1"/>
          <p:nvPr/>
        </p:nvSpPr>
        <p:spPr>
          <a:xfrm>
            <a:off x="131636" y="180933"/>
            <a:ext cx="8668228" cy="574040"/>
          </a:xfrm>
          <a:prstGeom prst="rect"/>
        </p:spPr>
        <p:txBody>
          <a:bodyPr rtlCol="0" wrap="square">
            <a:spAutoFit/>
          </a:bodyPr>
          <a:p>
            <a:r>
              <a:rPr b="1" sz="3200" lang="en-US">
                <a:solidFill>
                  <a:srgbClr val="0070C0"/>
                </a:solidFill>
              </a:rPr>
              <a:t>E</a:t>
            </a:r>
            <a:r>
              <a:rPr b="1" sz="3200" lang="en-US">
                <a:solidFill>
                  <a:srgbClr val="0070C0"/>
                </a:solidFill>
              </a:rPr>
              <a:t>x</a:t>
            </a:r>
            <a:r>
              <a:rPr b="1" sz="3200" lang="en-US">
                <a:solidFill>
                  <a:srgbClr val="0070C0"/>
                </a:solidFill>
              </a:rPr>
              <a:t>a</a:t>
            </a:r>
            <a:r>
              <a:rPr b="1" sz="3200" lang="en-US">
                <a:solidFill>
                  <a:srgbClr val="0070C0"/>
                </a:solidFill>
              </a:rPr>
              <a:t>m</a:t>
            </a:r>
            <a:r>
              <a:rPr b="1" sz="3200" lang="en-US">
                <a:solidFill>
                  <a:srgbClr val="0070C0"/>
                </a:solidFill>
              </a:rPr>
              <a:t>ple </a:t>
            </a:r>
            <a:r>
              <a:rPr b="1" sz="3200" lang="en-US">
                <a:solidFill>
                  <a:srgbClr val="0070C0"/>
                </a:solidFill>
              </a:rPr>
              <a:t>1</a:t>
            </a:r>
            <a:r>
              <a:rPr b="1" sz="3200" lang="en-US">
                <a:solidFill>
                  <a:srgbClr val="0070C0"/>
                </a:solidFill>
              </a:rPr>
              <a:t>.</a:t>
            </a:r>
            <a:r>
              <a:rPr b="1" sz="3200" lang="en-US">
                <a:solidFill>
                  <a:srgbClr val="0070C0"/>
                </a:solidFill>
              </a:rPr>
              <a:t> </a:t>
            </a:r>
            <a:r>
              <a:rPr b="1" sz="3200" lang="en-US">
                <a:solidFill>
                  <a:srgbClr val="0070C0"/>
                </a:solidFill>
              </a:rPr>
              <a:t>L</a:t>
            </a:r>
            <a:r>
              <a:rPr b="1" sz="3200" lang="en-US">
                <a:solidFill>
                  <a:srgbClr val="0070C0"/>
                </a:solidFill>
              </a:rPr>
              <a:t>e</a:t>
            </a:r>
            <a:r>
              <a:rPr b="1" sz="3200" lang="en-US">
                <a:solidFill>
                  <a:srgbClr val="0070C0"/>
                </a:solidFill>
              </a:rPr>
              <a:t>f</a:t>
            </a:r>
            <a:r>
              <a:rPr b="1" sz="3200" lang="en-US">
                <a:solidFill>
                  <a:srgbClr val="0070C0"/>
                </a:solidFill>
              </a:rPr>
              <a:t>t</a:t>
            </a:r>
            <a:r>
              <a:rPr b="1" sz="3200" lang="en-US">
                <a:solidFill>
                  <a:srgbClr val="0070C0"/>
                </a:solidFill>
              </a:rPr>
              <a:t> </a:t>
            </a:r>
            <a:r>
              <a:rPr b="1" sz="3200" lang="en-US">
                <a:solidFill>
                  <a:srgbClr val="0070C0"/>
                </a:solidFill>
              </a:rPr>
              <a:t>a</a:t>
            </a:r>
            <a:r>
              <a:rPr b="1" sz="3200" lang="en-US">
                <a:solidFill>
                  <a:srgbClr val="0070C0"/>
                </a:solidFill>
              </a:rPr>
              <a:t>t</a:t>
            </a:r>
            <a:r>
              <a:rPr b="1" sz="3200" lang="en-US">
                <a:solidFill>
                  <a:srgbClr val="0070C0"/>
                </a:solidFill>
              </a:rPr>
              <a:t>r</a:t>
            </a:r>
            <a:r>
              <a:rPr b="1" sz="3200" lang="en-US">
                <a:solidFill>
                  <a:srgbClr val="0070C0"/>
                </a:solidFill>
              </a:rPr>
              <a:t>i</a:t>
            </a:r>
            <a:r>
              <a:rPr b="1" sz="3200" lang="en-US">
                <a:solidFill>
                  <a:srgbClr val="0070C0"/>
                </a:solidFill>
              </a:rPr>
              <a:t>a</a:t>
            </a:r>
            <a:r>
              <a:rPr b="1" sz="3200" lang="en-US">
                <a:solidFill>
                  <a:srgbClr val="0070C0"/>
                </a:solidFill>
              </a:rPr>
              <a:t>l</a:t>
            </a:r>
            <a:r>
              <a:rPr b="1" sz="3200" lang="en-US">
                <a:solidFill>
                  <a:srgbClr val="0070C0"/>
                </a:solidFill>
              </a:rPr>
              <a:t> </a:t>
            </a:r>
            <a:r>
              <a:rPr b="1" sz="3200" lang="en-US">
                <a:solidFill>
                  <a:srgbClr val="0070C0"/>
                </a:solidFill>
              </a:rPr>
              <a:t>enlargement </a:t>
            </a:r>
            <a:r>
              <a:rPr b="1" sz="3200" lang="en-US">
                <a:solidFill>
                  <a:srgbClr val="0070C0"/>
                </a:solidFill>
              </a:rPr>
              <a:t>(</a:t>
            </a:r>
            <a:r>
              <a:rPr b="1" sz="3200" lang="en-US">
                <a:solidFill>
                  <a:srgbClr val="0070C0"/>
                </a:solidFill>
              </a:rPr>
              <a:t>L</a:t>
            </a:r>
            <a:r>
              <a:rPr b="1" sz="3200" lang="en-US">
                <a:solidFill>
                  <a:srgbClr val="0070C0"/>
                </a:solidFill>
              </a:rPr>
              <a:t>A</a:t>
            </a:r>
            <a:r>
              <a:rPr b="1" sz="3200" lang="en-US">
                <a:solidFill>
                  <a:srgbClr val="0070C0"/>
                </a:solidFill>
              </a:rPr>
              <a:t>E</a:t>
            </a:r>
            <a:r>
              <a:rPr b="1" sz="3200" lang="en-US">
                <a:solidFill>
                  <a:srgbClr val="0070C0"/>
                </a:solidFill>
              </a:rPr>
              <a:t>)</a:t>
            </a:r>
            <a:endParaRPr b="1" sz="2800" lang="en-US">
              <a:solidFill>
                <a:srgbClr val="0070C0"/>
              </a:solidFill>
            </a:endParaRPr>
          </a:p>
        </p:txBody>
      </p:sp>
      <p:pic>
        <p:nvPicPr>
          <p:cNvPr id="2097160" name=""/>
          <p:cNvPicPr>
            <a:picLocks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 rot="0">
            <a:off x="196784" y="754972"/>
            <a:ext cx="8890175" cy="4376726"/>
          </a:xfrm>
          <a:prstGeom prst="rect"/>
        </p:spPr>
      </p:pic>
      <p:sp>
        <p:nvSpPr>
          <p:cNvPr id="1048622" name=""/>
          <p:cNvSpPr txBox="1"/>
          <p:nvPr/>
        </p:nvSpPr>
        <p:spPr>
          <a:xfrm>
            <a:off x="29561" y="5363664"/>
            <a:ext cx="8504908" cy="1348741"/>
          </a:xfrm>
          <a:prstGeom prst="rect"/>
        </p:spPr>
        <p:txBody>
          <a:bodyPr rtlCol="0" wrap="square">
            <a:spAutoFit/>
          </a:bodyPr>
          <a:p>
            <a:r>
              <a:rPr sz="2800" lang="en-US">
                <a:solidFill>
                  <a:srgbClr val="000000"/>
                </a:solidFill>
              </a:rPr>
              <a:t>Broad (&gt;110ms), bifid P wave in lead II (P mitrale) with &gt; 40ms between the peaks</a:t>
            </a:r>
            <a:endParaRPr sz="2800" lang="en-US">
              <a:solidFill>
                <a:srgbClr val="000000"/>
              </a:solidFill>
            </a:endParaRPr>
          </a:p>
          <a:p>
            <a:endParaRPr sz="2800" lang="en-US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8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61" name=""/>
          <p:cNvPicPr>
            <a:picLocks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 rot="0">
            <a:off x="332856" y="1248095"/>
            <a:ext cx="8559948" cy="3750688"/>
          </a:xfrm>
          <a:prstGeom prst="rect"/>
        </p:spPr>
      </p:pic>
      <p:sp>
        <p:nvSpPr>
          <p:cNvPr id="1048623" name=""/>
          <p:cNvSpPr txBox="1"/>
          <p:nvPr/>
        </p:nvSpPr>
        <p:spPr>
          <a:xfrm>
            <a:off x="332856" y="435461"/>
            <a:ext cx="4000000" cy="574039"/>
          </a:xfrm>
          <a:prstGeom prst="rect"/>
        </p:spPr>
        <p:txBody>
          <a:bodyPr rtlCol="0" wrap="square">
            <a:spAutoFit/>
          </a:bodyPr>
          <a:p>
            <a:r>
              <a:rPr b="1" sz="3200" lang="en-US">
                <a:solidFill>
                  <a:srgbClr val="0070C0"/>
                </a:solidFill>
              </a:rPr>
              <a:t>L</a:t>
            </a:r>
            <a:r>
              <a:rPr b="1" sz="3200" lang="en-US">
                <a:solidFill>
                  <a:srgbClr val="0070C0"/>
                </a:solidFill>
              </a:rPr>
              <a:t>A</a:t>
            </a:r>
            <a:r>
              <a:rPr b="1" sz="3200" lang="en-US">
                <a:solidFill>
                  <a:srgbClr val="0070C0"/>
                </a:solidFill>
              </a:rPr>
              <a:t>E</a:t>
            </a:r>
            <a:r>
              <a:rPr b="1" sz="3200" lang="en-US">
                <a:solidFill>
                  <a:srgbClr val="0070C0"/>
                </a:solidFill>
              </a:rPr>
              <a:t> </a:t>
            </a:r>
            <a:r>
              <a:rPr b="1" sz="3200" lang="en-US">
                <a:solidFill>
                  <a:srgbClr val="0070C0"/>
                </a:solidFill>
              </a:rPr>
              <a:t>C</a:t>
            </a:r>
            <a:r>
              <a:rPr b="1" sz="3200" lang="en-US">
                <a:solidFill>
                  <a:srgbClr val="0070C0"/>
                </a:solidFill>
              </a:rPr>
              <a:t>O</a:t>
            </a:r>
            <a:r>
              <a:rPr b="1" sz="3200" lang="en-US">
                <a:solidFill>
                  <a:srgbClr val="0070C0"/>
                </a:solidFill>
              </a:rPr>
              <a:t>N</a:t>
            </a:r>
            <a:r>
              <a:rPr b="1" sz="3200" lang="en-US">
                <a:solidFill>
                  <a:srgbClr val="0070C0"/>
                </a:solidFill>
              </a:rPr>
              <a:t>'T </a:t>
            </a:r>
            <a:endParaRPr b="1" sz="2800" lang="en-US">
              <a:solidFill>
                <a:srgbClr val="0070C0"/>
              </a:solidFill>
            </a:endParaRPr>
          </a:p>
        </p:txBody>
      </p:sp>
      <p:sp>
        <p:nvSpPr>
          <p:cNvPr id="1048624" name=""/>
          <p:cNvSpPr txBox="1"/>
          <p:nvPr/>
        </p:nvSpPr>
        <p:spPr>
          <a:xfrm>
            <a:off x="204529" y="5473802"/>
            <a:ext cx="8355199" cy="510540"/>
          </a:xfrm>
          <a:prstGeom prst="rect"/>
        </p:spPr>
        <p:txBody>
          <a:bodyPr rtlCol="0" wrap="square">
            <a:spAutoFit/>
          </a:bodyPr>
          <a:p>
            <a:r>
              <a:rPr sz="2800" lang="en-US">
                <a:solidFill>
                  <a:srgbClr val="000000"/>
                </a:solidFill>
              </a:rPr>
              <a:t>P wave terminal portion &gt; 40 ms duration in V1</a:t>
            </a:r>
            <a:endParaRPr sz="2800" lang="en-US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8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62" name=""/>
          <p:cNvPicPr>
            <a:picLocks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 rot="0">
            <a:off x="391603" y="987441"/>
            <a:ext cx="8360794" cy="4625119"/>
          </a:xfrm>
          <a:prstGeom prst="rect"/>
        </p:spPr>
      </p:pic>
      <p:sp>
        <p:nvSpPr>
          <p:cNvPr id="1048625" name=""/>
          <p:cNvSpPr txBox="1"/>
          <p:nvPr/>
        </p:nvSpPr>
        <p:spPr>
          <a:xfrm>
            <a:off x="391603" y="141351"/>
            <a:ext cx="4000000" cy="574039"/>
          </a:xfrm>
          <a:prstGeom prst="rect"/>
        </p:spPr>
        <p:txBody>
          <a:bodyPr rtlCol="0" wrap="square">
            <a:spAutoFit/>
          </a:bodyPr>
          <a:p>
            <a:r>
              <a:rPr b="1" sz="3200" lang="en-US">
                <a:solidFill>
                  <a:srgbClr val="0070C0"/>
                </a:solidFill>
              </a:rPr>
              <a:t>L</a:t>
            </a:r>
            <a:r>
              <a:rPr b="1" sz="3200" lang="en-US">
                <a:solidFill>
                  <a:srgbClr val="0070C0"/>
                </a:solidFill>
              </a:rPr>
              <a:t>A</a:t>
            </a:r>
            <a:r>
              <a:rPr b="1" sz="3200" lang="en-US">
                <a:solidFill>
                  <a:srgbClr val="0070C0"/>
                </a:solidFill>
              </a:rPr>
              <a:t>E</a:t>
            </a:r>
            <a:r>
              <a:rPr b="1" sz="3200" lang="en-US">
                <a:solidFill>
                  <a:srgbClr val="0070C0"/>
                </a:solidFill>
              </a:rPr>
              <a:t> </a:t>
            </a:r>
            <a:r>
              <a:rPr b="1" sz="3200" lang="en-US">
                <a:solidFill>
                  <a:srgbClr val="0070C0"/>
                </a:solidFill>
              </a:rPr>
              <a:t>CON'T </a:t>
            </a:r>
            <a:endParaRPr b="1" sz="2800" lang="en-US">
              <a:solidFill>
                <a:srgbClr val="0070C0"/>
              </a:solidFill>
            </a:endParaRPr>
          </a:p>
        </p:txBody>
      </p:sp>
      <p:sp>
        <p:nvSpPr>
          <p:cNvPr id="1048626" name=""/>
          <p:cNvSpPr txBox="1"/>
          <p:nvPr/>
        </p:nvSpPr>
        <p:spPr>
          <a:xfrm>
            <a:off x="341007" y="5884610"/>
            <a:ext cx="8461984" cy="510541"/>
          </a:xfrm>
          <a:prstGeom prst="rect"/>
        </p:spPr>
        <p:txBody>
          <a:bodyPr rtlCol="0" wrap="square">
            <a:spAutoFit/>
          </a:bodyPr>
          <a:p>
            <a:r>
              <a:rPr sz="2800" lang="en-US">
                <a:solidFill>
                  <a:srgbClr val="000000"/>
                </a:solidFill>
              </a:rPr>
              <a:t>P waves with terminal portion &gt; 1mm deep in V1</a:t>
            </a:r>
            <a:endParaRPr sz="2800" lang="en-US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8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7" name=""/>
          <p:cNvSpPr txBox="1"/>
          <p:nvPr/>
        </p:nvSpPr>
        <p:spPr>
          <a:xfrm>
            <a:off x="1015828" y="164899"/>
            <a:ext cx="8517028" cy="574040"/>
          </a:xfrm>
          <a:prstGeom prst="rect"/>
        </p:spPr>
        <p:txBody>
          <a:bodyPr rtlCol="0" wrap="square">
            <a:spAutoFit/>
          </a:bodyPr>
          <a:p>
            <a:r>
              <a:rPr b="1" sz="3200" lang="en-US">
                <a:solidFill>
                  <a:srgbClr val="0070C0"/>
                </a:solidFill>
              </a:rPr>
              <a:t>R</a:t>
            </a:r>
            <a:r>
              <a:rPr b="1" sz="3200" lang="en-US">
                <a:solidFill>
                  <a:srgbClr val="0070C0"/>
                </a:solidFill>
              </a:rPr>
              <a:t>I</a:t>
            </a:r>
            <a:r>
              <a:rPr b="1" sz="3200" lang="en-US">
                <a:solidFill>
                  <a:srgbClr val="0070C0"/>
                </a:solidFill>
              </a:rPr>
              <a:t>GHT </a:t>
            </a:r>
            <a:r>
              <a:rPr b="1" sz="3200" lang="en-US">
                <a:solidFill>
                  <a:srgbClr val="0070C0"/>
                </a:solidFill>
              </a:rPr>
              <a:t>ATRIAL </a:t>
            </a:r>
            <a:r>
              <a:rPr b="1" sz="3200" lang="en-US">
                <a:solidFill>
                  <a:srgbClr val="0070C0"/>
                </a:solidFill>
              </a:rPr>
              <a:t>E</a:t>
            </a:r>
            <a:r>
              <a:rPr b="1" sz="3200" lang="en-US">
                <a:solidFill>
                  <a:srgbClr val="0070C0"/>
                </a:solidFill>
              </a:rPr>
              <a:t>N</a:t>
            </a:r>
            <a:r>
              <a:rPr b="1" sz="3200" lang="en-US">
                <a:solidFill>
                  <a:srgbClr val="0070C0"/>
                </a:solidFill>
              </a:rPr>
              <a:t>L</a:t>
            </a:r>
            <a:r>
              <a:rPr b="1" sz="3200" lang="en-US">
                <a:solidFill>
                  <a:srgbClr val="0070C0"/>
                </a:solidFill>
              </a:rPr>
              <a:t>A</a:t>
            </a:r>
            <a:r>
              <a:rPr b="1" sz="3200" lang="en-US">
                <a:solidFill>
                  <a:srgbClr val="0070C0"/>
                </a:solidFill>
              </a:rPr>
              <a:t>R</a:t>
            </a:r>
            <a:r>
              <a:rPr b="1" sz="3200" lang="en-US">
                <a:solidFill>
                  <a:srgbClr val="0070C0"/>
                </a:solidFill>
              </a:rPr>
              <a:t>G</a:t>
            </a:r>
            <a:r>
              <a:rPr b="1" sz="3200" lang="en-US">
                <a:solidFill>
                  <a:srgbClr val="0070C0"/>
                </a:solidFill>
              </a:rPr>
              <a:t>E</a:t>
            </a:r>
            <a:r>
              <a:rPr b="1" sz="3200" lang="en-US">
                <a:solidFill>
                  <a:srgbClr val="0070C0"/>
                </a:solidFill>
              </a:rPr>
              <a:t>MENT </a:t>
            </a:r>
            <a:r>
              <a:rPr b="1" sz="3200" lang="en-US">
                <a:solidFill>
                  <a:srgbClr val="0070C0"/>
                </a:solidFill>
              </a:rPr>
              <a:t>(</a:t>
            </a:r>
            <a:r>
              <a:rPr b="1" sz="3200" lang="en-US">
                <a:solidFill>
                  <a:srgbClr val="0070C0"/>
                </a:solidFill>
              </a:rPr>
              <a:t>R</a:t>
            </a:r>
            <a:r>
              <a:rPr b="1" sz="3200" lang="en-US">
                <a:solidFill>
                  <a:srgbClr val="0070C0"/>
                </a:solidFill>
              </a:rPr>
              <a:t>A</a:t>
            </a:r>
            <a:r>
              <a:rPr b="1" sz="3200" lang="en-US">
                <a:solidFill>
                  <a:srgbClr val="0070C0"/>
                </a:solidFill>
              </a:rPr>
              <a:t>E</a:t>
            </a:r>
            <a:r>
              <a:rPr b="1" sz="3200" lang="en-US">
                <a:solidFill>
                  <a:srgbClr val="0070C0"/>
                </a:solidFill>
              </a:rPr>
              <a:t>)</a:t>
            </a:r>
            <a:endParaRPr b="1" sz="2800" lang="en-US">
              <a:solidFill>
                <a:srgbClr val="0070C0"/>
              </a:solidFill>
            </a:endParaRPr>
          </a:p>
        </p:txBody>
      </p:sp>
      <p:sp>
        <p:nvSpPr>
          <p:cNvPr id="1048628" name=""/>
          <p:cNvSpPr txBox="1"/>
          <p:nvPr/>
        </p:nvSpPr>
        <p:spPr>
          <a:xfrm>
            <a:off x="162000" y="899160"/>
            <a:ext cx="8583025" cy="3863340"/>
          </a:xfrm>
          <a:prstGeom prst="rect"/>
        </p:spPr>
        <p:txBody>
          <a:bodyPr rtlCol="0" wrap="square">
            <a:spAutoFit/>
          </a:bodyPr>
          <a:p>
            <a:r>
              <a:rPr b="1" sz="2800" lang="en-US">
                <a:solidFill>
                  <a:srgbClr val="000000"/>
                </a:solidFill>
              </a:rPr>
              <a:t>ECG Criteria of Right Atrial Enlargement</a:t>
            </a:r>
            <a:endParaRPr b="1" sz="2800" lang="en-US">
              <a:solidFill>
                <a:srgbClr val="000000"/>
              </a:solidFill>
            </a:endParaRPr>
          </a:p>
          <a:p>
            <a:r>
              <a:rPr sz="2800" lang="en-US">
                <a:solidFill>
                  <a:srgbClr val="000000"/>
                </a:solidFill>
              </a:rPr>
              <a:t>Right atrial enlargement produces a peaked P wave (P pulmonale) with amplitude:</a:t>
            </a:r>
            <a:endParaRPr sz="2800" lang="en-US">
              <a:solidFill>
                <a:srgbClr val="000000"/>
              </a:solidFill>
            </a:endParaRPr>
          </a:p>
          <a:p>
            <a:endParaRPr sz="2800" lang="en-US">
              <a:solidFill>
                <a:srgbClr val="000000"/>
              </a:solidFill>
            </a:endParaRPr>
          </a:p>
          <a:p>
            <a:r>
              <a:rPr sz="2800" lang="en-US">
                <a:solidFill>
                  <a:srgbClr val="000000"/>
                </a:solidFill>
              </a:rPr>
              <a:t>•</a:t>
            </a:r>
            <a:r>
              <a:rPr sz="2800" lang="en-US">
                <a:solidFill>
                  <a:srgbClr val="000000"/>
                </a:solidFill>
              </a:rPr>
              <a:t> </a:t>
            </a:r>
            <a:r>
              <a:rPr sz="2800" lang="en-US">
                <a:solidFill>
                  <a:srgbClr val="000000"/>
                </a:solidFill>
              </a:rPr>
              <a:t>&gt; 2.5 mm in the inferior leads (II, III and AVF)</a:t>
            </a:r>
            <a:endParaRPr sz="2800" lang="en-US">
              <a:solidFill>
                <a:srgbClr val="000000"/>
              </a:solidFill>
            </a:endParaRPr>
          </a:p>
          <a:p>
            <a:r>
              <a:rPr sz="2800" lang="en-US">
                <a:solidFill>
                  <a:srgbClr val="000000"/>
                </a:solidFill>
              </a:rPr>
              <a:t>•</a:t>
            </a:r>
            <a:r>
              <a:rPr sz="2800" lang="en-US">
                <a:solidFill>
                  <a:srgbClr val="000000"/>
                </a:solidFill>
              </a:rPr>
              <a:t> </a:t>
            </a:r>
            <a:r>
              <a:rPr sz="2800" lang="en-US">
                <a:solidFill>
                  <a:srgbClr val="000000"/>
                </a:solidFill>
              </a:rPr>
              <a:t>&gt; 1.5 mm in V1 and V2</a:t>
            </a:r>
            <a:endParaRPr sz="2800" lang="en-US">
              <a:solidFill>
                <a:srgbClr val="000000"/>
              </a:solidFill>
            </a:endParaRPr>
          </a:p>
          <a:p>
            <a:endParaRPr sz="2800" lang="en-US">
              <a:solidFill>
                <a:srgbClr val="000000"/>
              </a:solidFill>
            </a:endParaRPr>
          </a:p>
          <a:p>
            <a:r>
              <a:rPr sz="2800" lang="en-US">
                <a:solidFill>
                  <a:srgbClr val="000000"/>
                </a:solidFill>
              </a:rPr>
              <a:t>Also known as: Right Atrial Enlargement (RAE), Right atrial hypertrophy (RAH), right atrial abnormality</a:t>
            </a:r>
            <a:endParaRPr sz="2800" lang="en-US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9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9" name=""/>
          <p:cNvSpPr txBox="1"/>
          <p:nvPr/>
        </p:nvSpPr>
        <p:spPr>
          <a:xfrm>
            <a:off x="2572000" y="182575"/>
            <a:ext cx="4000000" cy="574039"/>
          </a:xfrm>
          <a:prstGeom prst="rect"/>
        </p:spPr>
        <p:txBody>
          <a:bodyPr rtlCol="0" wrap="square">
            <a:spAutoFit/>
          </a:bodyPr>
          <a:p>
            <a:r>
              <a:rPr b="1" sz="3200" lang="en-US">
                <a:solidFill>
                  <a:srgbClr val="0070C0"/>
                </a:solidFill>
              </a:rPr>
              <a:t>C</a:t>
            </a:r>
            <a:r>
              <a:rPr b="1" sz="3200" lang="en-US">
                <a:solidFill>
                  <a:srgbClr val="0070C0"/>
                </a:solidFill>
              </a:rPr>
              <a:t>OMMON </a:t>
            </a:r>
            <a:r>
              <a:rPr b="1" sz="3200" lang="en-US">
                <a:solidFill>
                  <a:srgbClr val="0070C0"/>
                </a:solidFill>
              </a:rPr>
              <a:t>C</a:t>
            </a:r>
            <a:r>
              <a:rPr b="1" sz="3200" lang="en-US">
                <a:solidFill>
                  <a:srgbClr val="0070C0"/>
                </a:solidFill>
              </a:rPr>
              <a:t>A</a:t>
            </a:r>
            <a:r>
              <a:rPr b="1" sz="3200" lang="en-US">
                <a:solidFill>
                  <a:srgbClr val="0070C0"/>
                </a:solidFill>
              </a:rPr>
              <a:t>U</a:t>
            </a:r>
            <a:r>
              <a:rPr b="1" sz="3200" lang="en-US">
                <a:solidFill>
                  <a:srgbClr val="0070C0"/>
                </a:solidFill>
              </a:rPr>
              <a:t>S</a:t>
            </a:r>
            <a:r>
              <a:rPr b="1" sz="3200" lang="en-US">
                <a:solidFill>
                  <a:srgbClr val="0070C0"/>
                </a:solidFill>
              </a:rPr>
              <a:t>E</a:t>
            </a:r>
            <a:r>
              <a:rPr b="1" sz="3200" lang="en-US">
                <a:solidFill>
                  <a:srgbClr val="0070C0"/>
                </a:solidFill>
              </a:rPr>
              <a:t>S </a:t>
            </a:r>
            <a:endParaRPr b="1" sz="2800" lang="en-US">
              <a:solidFill>
                <a:srgbClr val="0070C0"/>
              </a:solidFill>
            </a:endParaRPr>
          </a:p>
        </p:txBody>
      </p:sp>
      <p:sp>
        <p:nvSpPr>
          <p:cNvPr id="1048630" name=""/>
          <p:cNvSpPr txBox="1"/>
          <p:nvPr/>
        </p:nvSpPr>
        <p:spPr>
          <a:xfrm>
            <a:off x="161998" y="899159"/>
            <a:ext cx="9019685" cy="2606041"/>
          </a:xfrm>
          <a:prstGeom prst="rect"/>
        </p:spPr>
        <p:txBody>
          <a:bodyPr rtlCol="0" wrap="square">
            <a:spAutoFit/>
          </a:bodyPr>
          <a:p>
            <a:r>
              <a:rPr sz="2800" lang="en-US">
                <a:solidFill>
                  <a:srgbClr val="000000"/>
                </a:solidFill>
              </a:rPr>
              <a:t>The principal cause is pulmonary hypertension due to:</a:t>
            </a:r>
            <a:endParaRPr sz="2800" lang="en-US">
              <a:solidFill>
                <a:srgbClr val="000000"/>
              </a:solidFill>
            </a:endParaRPr>
          </a:p>
          <a:p>
            <a:r>
              <a:rPr sz="2800" lang="en-US">
                <a:solidFill>
                  <a:srgbClr val="000000"/>
                </a:solidFill>
              </a:rPr>
              <a:t>•</a:t>
            </a:r>
            <a:r>
              <a:rPr sz="2800" lang="en-US">
                <a:solidFill>
                  <a:srgbClr val="000000"/>
                </a:solidFill>
              </a:rPr>
              <a:t> </a:t>
            </a:r>
            <a:r>
              <a:rPr sz="2800" lang="en-US">
                <a:solidFill>
                  <a:srgbClr val="000000"/>
                </a:solidFill>
              </a:rPr>
              <a:t>Chronic lung disease (cor pulmonale)</a:t>
            </a:r>
            <a:endParaRPr sz="2800" lang="en-US">
              <a:solidFill>
                <a:srgbClr val="000000"/>
              </a:solidFill>
            </a:endParaRPr>
          </a:p>
          <a:p>
            <a:r>
              <a:rPr sz="2800" lang="en-US">
                <a:solidFill>
                  <a:srgbClr val="000000"/>
                </a:solidFill>
              </a:rPr>
              <a:t>•</a:t>
            </a:r>
            <a:r>
              <a:rPr sz="2800" lang="en-US">
                <a:solidFill>
                  <a:srgbClr val="000000"/>
                </a:solidFill>
              </a:rPr>
              <a:t> </a:t>
            </a:r>
            <a:r>
              <a:rPr sz="2800" lang="en-US">
                <a:solidFill>
                  <a:srgbClr val="000000"/>
                </a:solidFill>
              </a:rPr>
              <a:t>Tricuspid stenosis</a:t>
            </a:r>
            <a:endParaRPr sz="2800" lang="en-US">
              <a:solidFill>
                <a:srgbClr val="000000"/>
              </a:solidFill>
            </a:endParaRPr>
          </a:p>
          <a:p>
            <a:r>
              <a:rPr sz="2800" lang="en-US">
                <a:solidFill>
                  <a:srgbClr val="000000"/>
                </a:solidFill>
              </a:rPr>
              <a:t>•</a:t>
            </a:r>
            <a:r>
              <a:rPr sz="2800" lang="en-US">
                <a:solidFill>
                  <a:srgbClr val="000000"/>
                </a:solidFill>
              </a:rPr>
              <a:t> </a:t>
            </a:r>
            <a:r>
              <a:rPr sz="2800" lang="en-US">
                <a:solidFill>
                  <a:srgbClr val="000000"/>
                </a:solidFill>
              </a:rPr>
              <a:t>Congenital heart disease (pulmonary stenosis, Tetralogy of Fallot)</a:t>
            </a:r>
            <a:endParaRPr sz="2800" lang="en-US">
              <a:solidFill>
                <a:srgbClr val="000000"/>
              </a:solidFill>
            </a:endParaRPr>
          </a:p>
          <a:p>
            <a:r>
              <a:rPr sz="2800" lang="en-US">
                <a:solidFill>
                  <a:srgbClr val="000000"/>
                </a:solidFill>
              </a:rPr>
              <a:t>•</a:t>
            </a:r>
            <a:r>
              <a:rPr sz="2800" lang="en-US">
                <a:solidFill>
                  <a:srgbClr val="000000"/>
                </a:solidFill>
              </a:rPr>
              <a:t> </a:t>
            </a:r>
            <a:r>
              <a:rPr sz="2800" lang="en-US">
                <a:solidFill>
                  <a:srgbClr val="000000"/>
                </a:solidFill>
              </a:rPr>
              <a:t>Primary pulmonary hypertension</a:t>
            </a:r>
            <a:endParaRPr sz="2800" lang="en-US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9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1" name=""/>
          <p:cNvSpPr txBox="1"/>
          <p:nvPr/>
        </p:nvSpPr>
        <p:spPr>
          <a:xfrm>
            <a:off x="134457" y="5473058"/>
            <a:ext cx="8426275" cy="929640"/>
          </a:xfrm>
          <a:prstGeom prst="rect"/>
        </p:spPr>
        <p:txBody>
          <a:bodyPr rtlCol="0" wrap="square">
            <a:spAutoFit/>
          </a:bodyPr>
          <a:p>
            <a:r>
              <a:rPr sz="2800" lang="en-US">
                <a:solidFill>
                  <a:srgbClr val="000000"/>
                </a:solidFill>
              </a:rPr>
              <a:t>•</a:t>
            </a:r>
            <a:r>
              <a:rPr sz="2800" lang="en-US">
                <a:solidFill>
                  <a:srgbClr val="000000"/>
                </a:solidFill>
              </a:rPr>
              <a:t> </a:t>
            </a:r>
            <a:r>
              <a:rPr sz="2800" lang="en-US">
                <a:solidFill>
                  <a:srgbClr val="000000"/>
                </a:solidFill>
              </a:rPr>
              <a:t>Right atrial enlargement: P pulmonale</a:t>
            </a:r>
            <a:endParaRPr sz="2800" lang="en-US">
              <a:solidFill>
                <a:srgbClr val="000000"/>
              </a:solidFill>
            </a:endParaRPr>
          </a:p>
          <a:p>
            <a:r>
              <a:rPr sz="2800" lang="en-US">
                <a:solidFill>
                  <a:srgbClr val="000000"/>
                </a:solidFill>
              </a:rPr>
              <a:t>•</a:t>
            </a:r>
            <a:r>
              <a:rPr sz="2800" lang="en-US">
                <a:solidFill>
                  <a:srgbClr val="000000"/>
                </a:solidFill>
              </a:rPr>
              <a:t> </a:t>
            </a:r>
            <a:r>
              <a:rPr sz="2800" lang="en-US">
                <a:solidFill>
                  <a:srgbClr val="000000"/>
                </a:solidFill>
              </a:rPr>
              <a:t>P wave amplitude &gt; 2.5mm in leads II, III and aVF</a:t>
            </a:r>
            <a:endParaRPr sz="2800" lang="en-US">
              <a:solidFill>
                <a:srgbClr val="000000"/>
              </a:solidFill>
            </a:endParaRPr>
          </a:p>
        </p:txBody>
      </p:sp>
      <p:pic>
        <p:nvPicPr>
          <p:cNvPr id="2097163" name=""/>
          <p:cNvPicPr>
            <a:picLocks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 rot="0">
            <a:off x="0" y="1105318"/>
            <a:ext cx="9144000" cy="4351607"/>
          </a:xfrm>
          <a:prstGeom prst="rect"/>
        </p:spPr>
      </p:pic>
      <p:sp>
        <p:nvSpPr>
          <p:cNvPr id="1048632" name=""/>
          <p:cNvSpPr txBox="1"/>
          <p:nvPr/>
        </p:nvSpPr>
        <p:spPr>
          <a:xfrm>
            <a:off x="134456" y="175679"/>
            <a:ext cx="8391212" cy="574039"/>
          </a:xfrm>
          <a:prstGeom prst="rect"/>
        </p:spPr>
        <p:txBody>
          <a:bodyPr rtlCol="0" wrap="square">
            <a:spAutoFit/>
          </a:bodyPr>
          <a:p>
            <a:r>
              <a:rPr b="1" sz="3200" lang="en-US">
                <a:solidFill>
                  <a:srgbClr val="0070C0"/>
                </a:solidFill>
              </a:rPr>
              <a:t>E</a:t>
            </a:r>
            <a:r>
              <a:rPr b="1" sz="3200" lang="en-US">
                <a:solidFill>
                  <a:srgbClr val="0070C0"/>
                </a:solidFill>
              </a:rPr>
              <a:t>x</a:t>
            </a:r>
            <a:r>
              <a:rPr b="1" sz="3200" lang="en-US">
                <a:solidFill>
                  <a:srgbClr val="0070C0"/>
                </a:solidFill>
              </a:rPr>
              <a:t>a</a:t>
            </a:r>
            <a:r>
              <a:rPr b="1" sz="3200" lang="en-US">
                <a:solidFill>
                  <a:srgbClr val="0070C0"/>
                </a:solidFill>
              </a:rPr>
              <a:t>m</a:t>
            </a:r>
            <a:r>
              <a:rPr b="1" sz="3200" lang="en-US">
                <a:solidFill>
                  <a:srgbClr val="0070C0"/>
                </a:solidFill>
              </a:rPr>
              <a:t>ple </a:t>
            </a:r>
            <a:r>
              <a:rPr b="1" sz="3200" lang="en-US">
                <a:solidFill>
                  <a:srgbClr val="0070C0"/>
                </a:solidFill>
              </a:rPr>
              <a:t>1</a:t>
            </a:r>
            <a:r>
              <a:rPr b="1" sz="3200" lang="en-US">
                <a:solidFill>
                  <a:srgbClr val="0070C0"/>
                </a:solidFill>
              </a:rPr>
              <a:t>.</a:t>
            </a:r>
            <a:r>
              <a:rPr b="1" sz="3200" lang="en-US">
                <a:solidFill>
                  <a:srgbClr val="0070C0"/>
                </a:solidFill>
              </a:rPr>
              <a:t> </a:t>
            </a:r>
            <a:r>
              <a:rPr b="1" sz="3200" lang="en-US">
                <a:solidFill>
                  <a:srgbClr val="0070C0"/>
                </a:solidFill>
              </a:rPr>
              <a:t>R</a:t>
            </a:r>
            <a:r>
              <a:rPr b="1" sz="3200" lang="en-US">
                <a:solidFill>
                  <a:srgbClr val="0070C0"/>
                </a:solidFill>
              </a:rPr>
              <a:t>i</a:t>
            </a:r>
            <a:r>
              <a:rPr b="1" sz="3200" lang="en-US">
                <a:solidFill>
                  <a:srgbClr val="0070C0"/>
                </a:solidFill>
              </a:rPr>
              <a:t>g</a:t>
            </a:r>
            <a:r>
              <a:rPr b="1" sz="3200" lang="en-US">
                <a:solidFill>
                  <a:srgbClr val="0070C0"/>
                </a:solidFill>
              </a:rPr>
              <a:t>ht </a:t>
            </a:r>
            <a:r>
              <a:rPr b="1" sz="3200" lang="en-US">
                <a:solidFill>
                  <a:srgbClr val="0070C0"/>
                </a:solidFill>
              </a:rPr>
              <a:t>atrial </a:t>
            </a:r>
            <a:r>
              <a:rPr b="1" sz="3200" lang="en-US">
                <a:solidFill>
                  <a:srgbClr val="0070C0"/>
                </a:solidFill>
              </a:rPr>
              <a:t>enlargement </a:t>
            </a:r>
            <a:r>
              <a:rPr b="1" sz="3200" lang="en-US">
                <a:solidFill>
                  <a:srgbClr val="0070C0"/>
                </a:solidFill>
              </a:rPr>
              <a:t>(</a:t>
            </a:r>
            <a:r>
              <a:rPr b="1" sz="3200" lang="en-US">
                <a:solidFill>
                  <a:srgbClr val="0070C0"/>
                </a:solidFill>
              </a:rPr>
              <a:t>R</a:t>
            </a:r>
            <a:r>
              <a:rPr b="1" sz="3200" lang="en-US">
                <a:solidFill>
                  <a:srgbClr val="0070C0"/>
                </a:solidFill>
              </a:rPr>
              <a:t>A</a:t>
            </a:r>
            <a:r>
              <a:rPr b="1" sz="3200" lang="en-US">
                <a:solidFill>
                  <a:srgbClr val="0070C0"/>
                </a:solidFill>
              </a:rPr>
              <a:t>E</a:t>
            </a:r>
            <a:r>
              <a:rPr b="1" sz="3200" lang="en-US">
                <a:solidFill>
                  <a:srgbClr val="0070C0"/>
                </a:solidFill>
              </a:rPr>
              <a:t>)</a:t>
            </a:r>
            <a:endParaRPr b="1" sz="2800" lang="en-US">
              <a:solidFill>
                <a:srgbClr val="0070C0"/>
              </a:solidFill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9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64" name=""/>
          <p:cNvPicPr>
            <a:picLocks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 rot="0">
            <a:off x="127298" y="632110"/>
            <a:ext cx="8751692" cy="5222759"/>
          </a:xfrm>
          <a:prstGeom prst="rect"/>
        </p:spPr>
      </p:pic>
      <p:sp>
        <p:nvSpPr>
          <p:cNvPr id="1048633" name=""/>
          <p:cNvSpPr txBox="1"/>
          <p:nvPr/>
        </p:nvSpPr>
        <p:spPr>
          <a:xfrm>
            <a:off x="0" y="121569"/>
            <a:ext cx="4000000" cy="574039"/>
          </a:xfrm>
          <a:prstGeom prst="rect"/>
        </p:spPr>
        <p:txBody>
          <a:bodyPr rtlCol="0" wrap="square">
            <a:spAutoFit/>
          </a:bodyPr>
          <a:p>
            <a:r>
              <a:rPr b="1" sz="3200" lang="en-US">
                <a:solidFill>
                  <a:srgbClr val="0070C0"/>
                </a:solidFill>
              </a:rPr>
              <a:t>R</a:t>
            </a:r>
            <a:r>
              <a:rPr b="1" sz="3200" lang="en-US">
                <a:solidFill>
                  <a:srgbClr val="0070C0"/>
                </a:solidFill>
              </a:rPr>
              <a:t>A</a:t>
            </a:r>
            <a:r>
              <a:rPr b="1" sz="3200" lang="en-US">
                <a:solidFill>
                  <a:srgbClr val="0070C0"/>
                </a:solidFill>
              </a:rPr>
              <a:t>E</a:t>
            </a:r>
            <a:r>
              <a:rPr b="1" sz="3200" lang="en-US">
                <a:solidFill>
                  <a:srgbClr val="0070C0"/>
                </a:solidFill>
              </a:rPr>
              <a:t> </a:t>
            </a:r>
            <a:r>
              <a:rPr b="1" sz="3200" lang="en-US">
                <a:solidFill>
                  <a:srgbClr val="0070C0"/>
                </a:solidFill>
              </a:rPr>
              <a:t>C</a:t>
            </a:r>
            <a:r>
              <a:rPr b="1" sz="3200" lang="en-US">
                <a:solidFill>
                  <a:srgbClr val="0070C0"/>
                </a:solidFill>
              </a:rPr>
              <a:t>O</a:t>
            </a:r>
            <a:r>
              <a:rPr b="1" sz="3200" lang="en-US">
                <a:solidFill>
                  <a:srgbClr val="0070C0"/>
                </a:solidFill>
              </a:rPr>
              <a:t>N</a:t>
            </a:r>
            <a:r>
              <a:rPr b="1" sz="3200" lang="en-US">
                <a:solidFill>
                  <a:srgbClr val="0070C0"/>
                </a:solidFill>
              </a:rPr>
              <a:t>'T </a:t>
            </a:r>
            <a:endParaRPr b="1" sz="2800" lang="en-US">
              <a:solidFill>
                <a:srgbClr val="0070C0"/>
              </a:solidFill>
            </a:endParaRPr>
          </a:p>
        </p:txBody>
      </p:sp>
      <p:sp>
        <p:nvSpPr>
          <p:cNvPr id="1048634" name=""/>
          <p:cNvSpPr txBox="1"/>
          <p:nvPr/>
        </p:nvSpPr>
        <p:spPr>
          <a:xfrm>
            <a:off x="127297" y="5854868"/>
            <a:ext cx="8117656" cy="929640"/>
          </a:xfrm>
          <a:prstGeom prst="rect"/>
        </p:spPr>
        <p:txBody>
          <a:bodyPr rtlCol="0" wrap="square">
            <a:spAutoFit/>
          </a:bodyPr>
          <a:p>
            <a:r>
              <a:rPr sz="2800" lang="en-US">
                <a:solidFill>
                  <a:srgbClr val="000000"/>
                </a:solidFill>
              </a:rPr>
              <a:t>Right atrial enlargement: P wave amplitude &gt; 1.5 mm in V1 and V2</a:t>
            </a:r>
            <a:endParaRPr sz="2800" lang="en-US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9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65" name=""/>
          <p:cNvPicPr>
            <a:picLocks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 rot="0">
            <a:off x="23742" y="0"/>
            <a:ext cx="8969700" cy="6858000"/>
          </a:xfrm>
          <a:prstGeom prst="rect"/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9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5" name=""/>
          <p:cNvSpPr>
            <a:spLocks noGrp="1"/>
          </p:cNvSpPr>
          <p:nvPr>
            <p:ph type="ctrTitle"/>
          </p:nvPr>
        </p:nvSpPr>
        <p:spPr>
          <a:xfrm>
            <a:off x="685800" y="-257786"/>
            <a:ext cx="7772400" cy="1258864"/>
          </a:xfrm>
        </p:spPr>
        <p:txBody>
          <a:bodyPr>
            <a:normAutofit/>
          </a:bodyPr>
          <a:p>
            <a:r>
              <a:rPr b="1" sz="4800" lang="en-US">
                <a:solidFill>
                  <a:srgbClr val="0070C0"/>
                </a:solidFill>
              </a:rPr>
              <a:t>L</a:t>
            </a:r>
            <a:r>
              <a:rPr b="1" sz="4800" lang="en-US">
                <a:solidFill>
                  <a:srgbClr val="0070C0"/>
                </a:solidFill>
              </a:rPr>
              <a:t>o</a:t>
            </a:r>
            <a:r>
              <a:rPr b="1" sz="4800" lang="en-US">
                <a:solidFill>
                  <a:srgbClr val="0070C0"/>
                </a:solidFill>
              </a:rPr>
              <a:t>w</a:t>
            </a:r>
            <a:r>
              <a:rPr b="1" sz="4800" lang="en-US">
                <a:solidFill>
                  <a:srgbClr val="0070C0"/>
                </a:solidFill>
              </a:rPr>
              <a:t> </a:t>
            </a:r>
            <a:r>
              <a:rPr b="1" sz="4800" lang="en-US">
                <a:solidFill>
                  <a:srgbClr val="0070C0"/>
                </a:solidFill>
              </a:rPr>
              <a:t>Voltage </a:t>
            </a:r>
            <a:endParaRPr b="1" lang="en-US">
              <a:solidFill>
                <a:srgbClr val="0070C0"/>
              </a:solidFill>
            </a:endParaRPr>
          </a:p>
        </p:txBody>
      </p:sp>
      <p:sp>
        <p:nvSpPr>
          <p:cNvPr id="1048636" name=""/>
          <p:cNvSpPr txBox="1"/>
          <p:nvPr/>
        </p:nvSpPr>
        <p:spPr>
          <a:xfrm>
            <a:off x="175909" y="1427170"/>
            <a:ext cx="8636760" cy="3952240"/>
          </a:xfrm>
          <a:prstGeom prst="rect"/>
        </p:spPr>
        <p:txBody>
          <a:bodyPr rtlCol="0" wrap="square">
            <a:spAutoFit/>
          </a:bodyPr>
          <a:p>
            <a:r>
              <a:rPr b="1" sz="3200" lang="en-US">
                <a:solidFill>
                  <a:srgbClr val="008000"/>
                </a:solidFill>
              </a:rPr>
              <a:t>D</a:t>
            </a:r>
            <a:r>
              <a:rPr b="1" sz="3200" lang="en-US">
                <a:solidFill>
                  <a:srgbClr val="008000"/>
                </a:solidFill>
              </a:rPr>
              <a:t>i</a:t>
            </a:r>
            <a:r>
              <a:rPr b="1" sz="3200" lang="en-US">
                <a:solidFill>
                  <a:srgbClr val="008000"/>
                </a:solidFill>
              </a:rPr>
              <a:t>a</a:t>
            </a:r>
            <a:r>
              <a:rPr b="1" sz="3200" lang="en-US">
                <a:solidFill>
                  <a:srgbClr val="008000"/>
                </a:solidFill>
              </a:rPr>
              <a:t>gnostic </a:t>
            </a:r>
            <a:r>
              <a:rPr b="1" sz="3200" lang="en-US">
                <a:solidFill>
                  <a:srgbClr val="008000"/>
                </a:solidFill>
              </a:rPr>
              <a:t>Criteri</a:t>
            </a:r>
            <a:r>
              <a:rPr b="1" sz="3200" lang="en-US">
                <a:solidFill>
                  <a:srgbClr val="008000"/>
                </a:solidFill>
              </a:rPr>
              <a:t>a </a:t>
            </a:r>
            <a:endParaRPr b="1" sz="3200" lang="en-US">
              <a:solidFill>
                <a:srgbClr val="008000"/>
              </a:solidFill>
            </a:endParaRPr>
          </a:p>
          <a:p>
            <a:r>
              <a:rPr sz="3200" lang="en-US">
                <a:solidFill>
                  <a:srgbClr val="000000"/>
                </a:solidFill>
              </a:rPr>
              <a:t>The QRS is said to be low voltage when:</a:t>
            </a:r>
            <a:endParaRPr sz="3200" lang="en-US">
              <a:solidFill>
                <a:srgbClr val="000000"/>
              </a:solidFill>
            </a:endParaRPr>
          </a:p>
          <a:p>
            <a:endParaRPr sz="3200" lang="en-US">
              <a:solidFill>
                <a:srgbClr val="000000"/>
              </a:solidFill>
            </a:endParaRPr>
          </a:p>
          <a:p>
            <a:r>
              <a:rPr sz="3200" lang="en-US">
                <a:solidFill>
                  <a:srgbClr val="000000"/>
                </a:solidFill>
              </a:rPr>
              <a:t>The amplitudes of all the QRS complexes in the limb leads are &lt; 5 mm; or</a:t>
            </a:r>
            <a:endParaRPr sz="3200" lang="en-US">
              <a:solidFill>
                <a:srgbClr val="000000"/>
              </a:solidFill>
            </a:endParaRPr>
          </a:p>
          <a:p>
            <a:endParaRPr sz="3200" lang="en-US">
              <a:solidFill>
                <a:srgbClr val="000000"/>
              </a:solidFill>
            </a:endParaRPr>
          </a:p>
          <a:p>
            <a:r>
              <a:rPr sz="3200" lang="en-US">
                <a:solidFill>
                  <a:srgbClr val="000000"/>
                </a:solidFill>
              </a:rPr>
              <a:t>The amplitudes of all the QRS complexes in the precordial leads are &lt; 10 mm</a:t>
            </a:r>
            <a:r>
              <a:rPr sz="3200" lang="en-US">
                <a:solidFill>
                  <a:srgbClr val="000000"/>
                </a:solidFill>
              </a:rPr>
              <a:t>.</a:t>
            </a:r>
            <a:endParaRPr sz="3200" lang="en-US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9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7" name=""/>
          <p:cNvSpPr>
            <a:spLocks noGrp="1"/>
          </p:cNvSpPr>
          <p:nvPr>
            <p:ph type="ctrTitle"/>
          </p:nvPr>
        </p:nvSpPr>
        <p:spPr>
          <a:xfrm>
            <a:off x="685800" y="0"/>
            <a:ext cx="7772400" cy="862602"/>
          </a:xfrm>
        </p:spPr>
        <p:txBody>
          <a:bodyPr>
            <a:normAutofit/>
          </a:bodyPr>
          <a:p>
            <a:r>
              <a:rPr b="1" lang="en-US">
                <a:solidFill>
                  <a:srgbClr val="0070C0"/>
                </a:solidFill>
              </a:rPr>
              <a:t>M</a:t>
            </a:r>
            <a:r>
              <a:rPr b="1" lang="en-US">
                <a:solidFill>
                  <a:srgbClr val="0070C0"/>
                </a:solidFill>
              </a:rPr>
              <a:t>e</a:t>
            </a:r>
            <a:r>
              <a:rPr b="1" lang="en-US">
                <a:solidFill>
                  <a:srgbClr val="0070C0"/>
                </a:solidFill>
              </a:rPr>
              <a:t>c</a:t>
            </a:r>
            <a:r>
              <a:rPr b="1" lang="en-US">
                <a:solidFill>
                  <a:srgbClr val="0070C0"/>
                </a:solidFill>
              </a:rPr>
              <a:t>h</a:t>
            </a:r>
            <a:r>
              <a:rPr b="1" lang="en-US">
                <a:solidFill>
                  <a:srgbClr val="0070C0"/>
                </a:solidFill>
              </a:rPr>
              <a:t>a</a:t>
            </a:r>
            <a:r>
              <a:rPr b="1" lang="en-US">
                <a:solidFill>
                  <a:srgbClr val="0070C0"/>
                </a:solidFill>
              </a:rPr>
              <a:t>n</a:t>
            </a:r>
            <a:r>
              <a:rPr b="1" lang="en-US">
                <a:solidFill>
                  <a:srgbClr val="0070C0"/>
                </a:solidFill>
              </a:rPr>
              <a:t>i</a:t>
            </a:r>
            <a:r>
              <a:rPr b="1" lang="en-US">
                <a:solidFill>
                  <a:srgbClr val="0070C0"/>
                </a:solidFill>
              </a:rPr>
              <a:t>s</a:t>
            </a:r>
            <a:r>
              <a:rPr b="1" lang="en-US">
                <a:solidFill>
                  <a:srgbClr val="0070C0"/>
                </a:solidFill>
              </a:rPr>
              <a:t>m</a:t>
            </a:r>
            <a:r>
              <a:rPr b="1" lang="en-US">
                <a:solidFill>
                  <a:srgbClr val="0070C0"/>
                </a:solidFill>
              </a:rPr>
              <a:t>s</a:t>
            </a:r>
            <a:endParaRPr b="1" lang="en-US">
              <a:solidFill>
                <a:srgbClr val="0070C0"/>
              </a:solidFill>
            </a:endParaRPr>
          </a:p>
        </p:txBody>
      </p:sp>
      <p:sp>
        <p:nvSpPr>
          <p:cNvPr id="1048638" name=""/>
          <p:cNvSpPr txBox="1"/>
          <p:nvPr/>
        </p:nvSpPr>
        <p:spPr>
          <a:xfrm>
            <a:off x="240666" y="862602"/>
            <a:ext cx="8377723" cy="4701540"/>
          </a:xfrm>
          <a:prstGeom prst="rect"/>
        </p:spPr>
        <p:txBody>
          <a:bodyPr rtlCol="0" wrap="square">
            <a:spAutoFit/>
          </a:bodyPr>
          <a:p>
            <a:r>
              <a:rPr sz="2800" lang="en-US">
                <a:solidFill>
                  <a:srgbClr val="000000"/>
                </a:solidFill>
              </a:rPr>
              <a:t>Low voltage is produced by:</a:t>
            </a:r>
            <a:endParaRPr sz="2800" lang="en-US">
              <a:solidFill>
                <a:srgbClr val="000000"/>
              </a:solidFill>
            </a:endParaRPr>
          </a:p>
          <a:p>
            <a:r>
              <a:rPr sz="2800" lang="en-US">
                <a:solidFill>
                  <a:srgbClr val="000000"/>
                </a:solidFill>
              </a:rPr>
              <a:t>•</a:t>
            </a:r>
            <a:r>
              <a:rPr sz="2800" lang="en-US">
                <a:solidFill>
                  <a:srgbClr val="000000"/>
                </a:solidFill>
              </a:rPr>
              <a:t> </a:t>
            </a:r>
            <a:r>
              <a:rPr sz="2800" lang="en-US">
                <a:solidFill>
                  <a:srgbClr val="000000"/>
                </a:solidFill>
              </a:rPr>
              <a:t>The </a:t>
            </a:r>
            <a:r>
              <a:rPr b="1" sz="2800" lang="en-US">
                <a:solidFill>
                  <a:srgbClr val="000000"/>
                </a:solidFill>
              </a:rPr>
              <a:t>“damping”</a:t>
            </a:r>
            <a:r>
              <a:rPr sz="2800" lang="en-US">
                <a:solidFill>
                  <a:srgbClr val="000000"/>
                </a:solidFill>
              </a:rPr>
              <a:t> effect of increased layers of fluid, fat or air between the heart and the recording electrode</a:t>
            </a:r>
            <a:r>
              <a:rPr sz="2800" lang="en-US">
                <a:solidFill>
                  <a:srgbClr val="000000"/>
                </a:solidFill>
              </a:rPr>
              <a:t>.</a:t>
            </a:r>
            <a:endParaRPr sz="2800" lang="en-US">
              <a:solidFill>
                <a:srgbClr val="000000"/>
              </a:solidFill>
            </a:endParaRPr>
          </a:p>
          <a:p>
            <a:r>
              <a:rPr sz="2800" lang="en-US">
                <a:solidFill>
                  <a:srgbClr val="000000"/>
                </a:solidFill>
              </a:rPr>
              <a:t>•</a:t>
            </a:r>
            <a:r>
              <a:rPr sz="2800" lang="en-US">
                <a:solidFill>
                  <a:srgbClr val="000000"/>
                </a:solidFill>
              </a:rPr>
              <a:t> </a:t>
            </a:r>
            <a:r>
              <a:rPr sz="2800" lang="en-US">
                <a:solidFill>
                  <a:srgbClr val="000000"/>
                </a:solidFill>
              </a:rPr>
              <a:t>Loss of viable myocardium</a:t>
            </a:r>
            <a:endParaRPr sz="2800" lang="en-US">
              <a:solidFill>
                <a:srgbClr val="000000"/>
              </a:solidFill>
            </a:endParaRPr>
          </a:p>
          <a:p>
            <a:r>
              <a:rPr sz="2800" lang="en-US">
                <a:solidFill>
                  <a:srgbClr val="000000"/>
                </a:solidFill>
              </a:rPr>
              <a:t>•</a:t>
            </a:r>
            <a:r>
              <a:rPr sz="2800" lang="en-US">
                <a:solidFill>
                  <a:srgbClr val="000000"/>
                </a:solidFill>
              </a:rPr>
              <a:t> </a:t>
            </a:r>
            <a:r>
              <a:rPr sz="2800" lang="en-US">
                <a:solidFill>
                  <a:srgbClr val="000000"/>
                </a:solidFill>
              </a:rPr>
              <a:t>Diffuse infiltration or myxoedematous involvement of the heart</a:t>
            </a:r>
            <a:r>
              <a:rPr sz="2800" lang="en-US">
                <a:solidFill>
                  <a:srgbClr val="000000"/>
                </a:solidFill>
              </a:rPr>
              <a:t>.</a:t>
            </a:r>
            <a:endParaRPr sz="2800" lang="en-US">
              <a:solidFill>
                <a:srgbClr val="000000"/>
              </a:solidFill>
            </a:endParaRPr>
          </a:p>
          <a:p>
            <a:endParaRPr sz="2800" lang="en-US">
              <a:solidFill>
                <a:srgbClr val="000000"/>
              </a:solidFill>
            </a:endParaRPr>
          </a:p>
          <a:p>
            <a:r>
              <a:rPr sz="2800" lang="en-US">
                <a:solidFill>
                  <a:srgbClr val="000000"/>
                </a:solidFill>
              </a:rPr>
              <a:t>The most important cause is massive pericardial effusion, which produces a triad of:</a:t>
            </a:r>
            <a:endParaRPr sz="2800" lang="en-US">
              <a:solidFill>
                <a:srgbClr val="000000"/>
              </a:solidFill>
            </a:endParaRPr>
          </a:p>
          <a:p>
            <a:r>
              <a:rPr sz="2800" lang="en-US">
                <a:solidFill>
                  <a:srgbClr val="000000"/>
                </a:solidFill>
              </a:rPr>
              <a:t>Low voltage</a:t>
            </a:r>
            <a:r>
              <a:rPr sz="2800" lang="en-US">
                <a:solidFill>
                  <a:srgbClr val="000000"/>
                </a:solidFill>
              </a:rPr>
              <a:t>,</a:t>
            </a:r>
            <a:r>
              <a:rPr sz="2800" lang="en-US">
                <a:solidFill>
                  <a:srgbClr val="000000"/>
                </a:solidFill>
              </a:rPr>
              <a:t> </a:t>
            </a:r>
            <a:r>
              <a:rPr sz="2800" lang="en-US">
                <a:solidFill>
                  <a:srgbClr val="000000"/>
                </a:solidFill>
              </a:rPr>
              <a:t>Tachycardia</a:t>
            </a:r>
            <a:r>
              <a:rPr sz="2800" lang="en-US">
                <a:solidFill>
                  <a:srgbClr val="000000"/>
                </a:solidFill>
              </a:rPr>
              <a:t> </a:t>
            </a:r>
            <a:r>
              <a:rPr sz="2800" lang="en-US">
                <a:solidFill>
                  <a:srgbClr val="000000"/>
                </a:solidFill>
              </a:rPr>
              <a:t>a</a:t>
            </a:r>
            <a:r>
              <a:rPr sz="2800" lang="en-US">
                <a:solidFill>
                  <a:srgbClr val="000000"/>
                </a:solidFill>
              </a:rPr>
              <a:t>n</a:t>
            </a:r>
            <a:r>
              <a:rPr sz="2800" lang="en-US">
                <a:solidFill>
                  <a:srgbClr val="000000"/>
                </a:solidFill>
              </a:rPr>
              <a:t>d</a:t>
            </a:r>
            <a:r>
              <a:rPr sz="2800" lang="en-US">
                <a:solidFill>
                  <a:srgbClr val="000000"/>
                </a:solidFill>
              </a:rPr>
              <a:t> </a:t>
            </a:r>
            <a:r>
              <a:rPr sz="2800" lang="en-US">
                <a:solidFill>
                  <a:srgbClr val="000000"/>
                </a:solidFill>
              </a:rPr>
              <a:t>e</a:t>
            </a:r>
            <a:r>
              <a:rPr sz="2800" lang="en-US">
                <a:solidFill>
                  <a:srgbClr val="000000"/>
                </a:solidFill>
              </a:rPr>
              <a:t>l</a:t>
            </a:r>
            <a:r>
              <a:rPr sz="2800" lang="en-US">
                <a:solidFill>
                  <a:srgbClr val="000000"/>
                </a:solidFill>
              </a:rPr>
              <a:t>ectrical alternans</a:t>
            </a:r>
            <a:endParaRPr sz="2800" lang="en-US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9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66" name=""/>
          <p:cNvPicPr>
            <a:picLocks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 rot="0">
            <a:off x="0" y="7449"/>
            <a:ext cx="9144000" cy="6843101"/>
          </a:xfrm>
          <a:prstGeom prst="rect"/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9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67" name=""/>
          <p:cNvPicPr>
            <a:picLocks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 rot="0">
            <a:off x="0" y="993521"/>
            <a:ext cx="9144000" cy="4522016"/>
          </a:xfrm>
          <a:prstGeom prst="rect"/>
        </p:spPr>
      </p:pic>
      <p:sp>
        <p:nvSpPr>
          <p:cNvPr id="1048639" name=""/>
          <p:cNvSpPr txBox="1"/>
          <p:nvPr/>
        </p:nvSpPr>
        <p:spPr>
          <a:xfrm>
            <a:off x="240666" y="155085"/>
            <a:ext cx="8118686" cy="574040"/>
          </a:xfrm>
          <a:prstGeom prst="rect"/>
        </p:spPr>
        <p:txBody>
          <a:bodyPr rtlCol="0" wrap="square">
            <a:spAutoFit/>
          </a:bodyPr>
          <a:p>
            <a:r>
              <a:rPr b="1" sz="3200" lang="en-US">
                <a:solidFill>
                  <a:srgbClr val="0070C0"/>
                </a:solidFill>
              </a:rPr>
              <a:t>E</a:t>
            </a:r>
            <a:r>
              <a:rPr b="1" sz="3200" lang="en-US">
                <a:solidFill>
                  <a:srgbClr val="0070C0"/>
                </a:solidFill>
              </a:rPr>
              <a:t>x</a:t>
            </a:r>
            <a:r>
              <a:rPr b="1" sz="3200" lang="en-US">
                <a:solidFill>
                  <a:srgbClr val="0070C0"/>
                </a:solidFill>
              </a:rPr>
              <a:t>a</a:t>
            </a:r>
            <a:r>
              <a:rPr b="1" sz="3200" lang="en-US">
                <a:solidFill>
                  <a:srgbClr val="0070C0"/>
                </a:solidFill>
              </a:rPr>
              <a:t>m</a:t>
            </a:r>
            <a:r>
              <a:rPr b="1" sz="3200" lang="en-US">
                <a:solidFill>
                  <a:srgbClr val="0070C0"/>
                </a:solidFill>
              </a:rPr>
              <a:t>ple </a:t>
            </a:r>
            <a:r>
              <a:rPr b="1" sz="3200" lang="en-US">
                <a:solidFill>
                  <a:srgbClr val="0070C0"/>
                </a:solidFill>
              </a:rPr>
              <a:t>1</a:t>
            </a:r>
            <a:r>
              <a:rPr b="1" sz="3200" lang="en-US">
                <a:solidFill>
                  <a:srgbClr val="0070C0"/>
                </a:solidFill>
              </a:rPr>
              <a:t>.</a:t>
            </a:r>
            <a:r>
              <a:rPr b="1" sz="3200" lang="en-US">
                <a:solidFill>
                  <a:srgbClr val="0070C0"/>
                </a:solidFill>
              </a:rPr>
              <a:t> </a:t>
            </a:r>
            <a:r>
              <a:rPr b="1" sz="3200" lang="en-US">
                <a:solidFill>
                  <a:srgbClr val="0070C0"/>
                </a:solidFill>
              </a:rPr>
              <a:t>M</a:t>
            </a:r>
            <a:r>
              <a:rPr b="1" sz="3200" lang="en-US">
                <a:solidFill>
                  <a:srgbClr val="0070C0"/>
                </a:solidFill>
              </a:rPr>
              <a:t>a</a:t>
            </a:r>
            <a:r>
              <a:rPr b="1" sz="3200" lang="en-US">
                <a:solidFill>
                  <a:srgbClr val="0070C0"/>
                </a:solidFill>
              </a:rPr>
              <a:t>s</a:t>
            </a:r>
            <a:r>
              <a:rPr b="1" sz="3200" lang="en-US">
                <a:solidFill>
                  <a:srgbClr val="0070C0"/>
                </a:solidFill>
              </a:rPr>
              <a:t>s</a:t>
            </a:r>
            <a:r>
              <a:rPr b="1" sz="3200" lang="en-US">
                <a:solidFill>
                  <a:srgbClr val="0070C0"/>
                </a:solidFill>
              </a:rPr>
              <a:t>i</a:t>
            </a:r>
            <a:r>
              <a:rPr b="1" sz="3200" lang="en-US">
                <a:solidFill>
                  <a:srgbClr val="0070C0"/>
                </a:solidFill>
              </a:rPr>
              <a:t>ve </a:t>
            </a:r>
            <a:r>
              <a:rPr b="1" sz="3200" lang="en-US">
                <a:solidFill>
                  <a:srgbClr val="0070C0"/>
                </a:solidFill>
              </a:rPr>
              <a:t>pericardial </a:t>
            </a:r>
            <a:r>
              <a:rPr b="1" sz="3200" lang="en-US">
                <a:solidFill>
                  <a:srgbClr val="0070C0"/>
                </a:solidFill>
              </a:rPr>
              <a:t>effusion</a:t>
            </a:r>
            <a:r>
              <a:rPr sz="2800" lang="en-US">
                <a:solidFill>
                  <a:srgbClr val="0070C0"/>
                </a:solidFill>
              </a:rPr>
              <a:t> </a:t>
            </a:r>
            <a:endParaRPr sz="2800" lang="en-US">
              <a:solidFill>
                <a:srgbClr val="0070C0"/>
              </a:solidFill>
            </a:endParaRPr>
          </a:p>
        </p:txBody>
      </p:sp>
      <p:sp>
        <p:nvSpPr>
          <p:cNvPr id="1048640" name=""/>
          <p:cNvSpPr txBox="1"/>
          <p:nvPr/>
        </p:nvSpPr>
        <p:spPr>
          <a:xfrm>
            <a:off x="240666" y="5779933"/>
            <a:ext cx="8643237" cy="929640"/>
          </a:xfrm>
          <a:prstGeom prst="rect"/>
        </p:spPr>
        <p:txBody>
          <a:bodyPr rtlCol="0" wrap="square">
            <a:spAutoFit/>
          </a:bodyPr>
          <a:p>
            <a:r>
              <a:rPr sz="2800" lang="en-US">
                <a:solidFill>
                  <a:srgbClr val="000000"/>
                </a:solidFill>
              </a:rPr>
              <a:t>T</a:t>
            </a:r>
            <a:r>
              <a:rPr sz="2800" lang="en-US">
                <a:solidFill>
                  <a:srgbClr val="000000"/>
                </a:solidFill>
              </a:rPr>
              <a:t>riad of tachycardia, low voltage QRS and electrical alternans</a:t>
            </a:r>
            <a:r>
              <a:rPr sz="2800" lang="en-US">
                <a:solidFill>
                  <a:srgbClr val="000000"/>
                </a:solidFill>
              </a:rPr>
              <a:t>.</a:t>
            </a:r>
            <a:endParaRPr sz="2800" lang="en-US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9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68" name=""/>
          <p:cNvPicPr>
            <a:picLocks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 rot="0">
            <a:off x="0" y="945999"/>
            <a:ext cx="9144000" cy="4966001"/>
          </a:xfrm>
          <a:prstGeom prst="rect"/>
        </p:spPr>
      </p:pic>
      <p:sp>
        <p:nvSpPr>
          <p:cNvPr id="1048641" name=""/>
          <p:cNvSpPr txBox="1"/>
          <p:nvPr/>
        </p:nvSpPr>
        <p:spPr>
          <a:xfrm>
            <a:off x="219857" y="143604"/>
            <a:ext cx="8283373" cy="574040"/>
          </a:xfrm>
          <a:prstGeom prst="rect"/>
        </p:spPr>
        <p:txBody>
          <a:bodyPr rtlCol="0" wrap="square">
            <a:spAutoFit/>
          </a:bodyPr>
          <a:p>
            <a:r>
              <a:rPr b="1" sz="3200" lang="en-US">
                <a:solidFill>
                  <a:srgbClr val="0070C0"/>
                </a:solidFill>
              </a:rPr>
              <a:t>E</a:t>
            </a:r>
            <a:r>
              <a:rPr b="1" sz="3200" lang="en-US">
                <a:solidFill>
                  <a:srgbClr val="0070C0"/>
                </a:solidFill>
              </a:rPr>
              <a:t>x</a:t>
            </a:r>
            <a:r>
              <a:rPr b="1" sz="3200" lang="en-US">
                <a:solidFill>
                  <a:srgbClr val="0070C0"/>
                </a:solidFill>
              </a:rPr>
              <a:t>a</a:t>
            </a:r>
            <a:r>
              <a:rPr b="1" sz="3200" lang="en-US">
                <a:solidFill>
                  <a:srgbClr val="0070C0"/>
                </a:solidFill>
              </a:rPr>
              <a:t>m</a:t>
            </a:r>
            <a:r>
              <a:rPr b="1" sz="3200" lang="en-US">
                <a:solidFill>
                  <a:srgbClr val="0070C0"/>
                </a:solidFill>
              </a:rPr>
              <a:t>p</a:t>
            </a:r>
            <a:r>
              <a:rPr b="1" sz="3200" lang="en-US">
                <a:solidFill>
                  <a:srgbClr val="0070C0"/>
                </a:solidFill>
              </a:rPr>
              <a:t>le </a:t>
            </a:r>
            <a:r>
              <a:rPr b="1" sz="3200" lang="en-US">
                <a:solidFill>
                  <a:srgbClr val="0070C0"/>
                </a:solidFill>
              </a:rPr>
              <a:t>3</a:t>
            </a:r>
            <a:r>
              <a:rPr b="1" sz="3200" lang="en-US">
                <a:solidFill>
                  <a:srgbClr val="0070C0"/>
                </a:solidFill>
              </a:rPr>
              <a:t>.</a:t>
            </a:r>
            <a:r>
              <a:rPr b="1" sz="3200" lang="en-US">
                <a:solidFill>
                  <a:srgbClr val="0070C0"/>
                </a:solidFill>
              </a:rPr>
              <a:t> </a:t>
            </a:r>
            <a:r>
              <a:rPr b="1" sz="3200" lang="en-US">
                <a:solidFill>
                  <a:srgbClr val="0070C0"/>
                </a:solidFill>
              </a:rPr>
              <a:t>M</a:t>
            </a:r>
            <a:r>
              <a:rPr b="1" sz="3200" lang="en-US">
                <a:solidFill>
                  <a:srgbClr val="0070C0"/>
                </a:solidFill>
              </a:rPr>
              <a:t>a</a:t>
            </a:r>
            <a:r>
              <a:rPr b="1" sz="3200" lang="en-US">
                <a:solidFill>
                  <a:srgbClr val="0070C0"/>
                </a:solidFill>
              </a:rPr>
              <a:t>s</a:t>
            </a:r>
            <a:r>
              <a:rPr b="1" sz="3200" lang="en-US">
                <a:solidFill>
                  <a:srgbClr val="0070C0"/>
                </a:solidFill>
              </a:rPr>
              <a:t>s</a:t>
            </a:r>
            <a:r>
              <a:rPr b="1" sz="3200" lang="en-US">
                <a:solidFill>
                  <a:srgbClr val="0070C0"/>
                </a:solidFill>
              </a:rPr>
              <a:t>i</a:t>
            </a:r>
            <a:r>
              <a:rPr b="1" sz="3200" lang="en-US">
                <a:solidFill>
                  <a:srgbClr val="0070C0"/>
                </a:solidFill>
              </a:rPr>
              <a:t>ve </a:t>
            </a:r>
            <a:r>
              <a:rPr b="1" sz="3200" lang="en-US">
                <a:solidFill>
                  <a:srgbClr val="0070C0"/>
                </a:solidFill>
              </a:rPr>
              <a:t>p</a:t>
            </a:r>
            <a:r>
              <a:rPr b="1" sz="3200" lang="en-US">
                <a:solidFill>
                  <a:srgbClr val="0070C0"/>
                </a:solidFill>
              </a:rPr>
              <a:t>e</a:t>
            </a:r>
            <a:r>
              <a:rPr b="1" sz="3200" lang="en-US">
                <a:solidFill>
                  <a:srgbClr val="0070C0"/>
                </a:solidFill>
              </a:rPr>
              <a:t>r</a:t>
            </a:r>
            <a:r>
              <a:rPr b="1" sz="3200" lang="en-US">
                <a:solidFill>
                  <a:srgbClr val="0070C0"/>
                </a:solidFill>
              </a:rPr>
              <a:t>i</a:t>
            </a:r>
            <a:r>
              <a:rPr b="1" sz="3200" lang="en-US">
                <a:solidFill>
                  <a:srgbClr val="0070C0"/>
                </a:solidFill>
              </a:rPr>
              <a:t>c</a:t>
            </a:r>
            <a:r>
              <a:rPr b="1" sz="3200" lang="en-US">
                <a:solidFill>
                  <a:srgbClr val="0070C0"/>
                </a:solidFill>
              </a:rPr>
              <a:t>a</a:t>
            </a:r>
            <a:r>
              <a:rPr b="1" sz="3200" lang="en-US">
                <a:solidFill>
                  <a:srgbClr val="0070C0"/>
                </a:solidFill>
              </a:rPr>
              <a:t>rdial </a:t>
            </a:r>
            <a:r>
              <a:rPr b="1" sz="3200" lang="en-US">
                <a:solidFill>
                  <a:srgbClr val="0070C0"/>
                </a:solidFill>
              </a:rPr>
              <a:t>effusion </a:t>
            </a:r>
            <a:endParaRPr b="1" sz="2800" lang="en-US">
              <a:solidFill>
                <a:srgbClr val="0070C0"/>
              </a:solidFill>
            </a:endParaRPr>
          </a:p>
        </p:txBody>
      </p:sp>
      <p:sp>
        <p:nvSpPr>
          <p:cNvPr id="1048642" name=""/>
          <p:cNvSpPr txBox="1"/>
          <p:nvPr/>
        </p:nvSpPr>
        <p:spPr>
          <a:xfrm>
            <a:off x="219856" y="6140355"/>
            <a:ext cx="8675294" cy="510541"/>
          </a:xfrm>
          <a:prstGeom prst="rect"/>
        </p:spPr>
        <p:txBody>
          <a:bodyPr rtlCol="0" wrap="square">
            <a:spAutoFit/>
          </a:bodyPr>
          <a:p>
            <a:r>
              <a:rPr sz="2800" lang="en-US">
                <a:solidFill>
                  <a:srgbClr val="000000"/>
                </a:solidFill>
              </a:rPr>
              <a:t>Alternating QRS amplitude and axis. Mugmon 2012</a:t>
            </a:r>
            <a:endParaRPr sz="2800" lang="en-US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9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3" name=""/>
          <p:cNvSpPr txBox="1"/>
          <p:nvPr/>
        </p:nvSpPr>
        <p:spPr>
          <a:xfrm>
            <a:off x="2382871" y="159537"/>
            <a:ext cx="5543124" cy="510540"/>
          </a:xfrm>
          <a:prstGeom prst="rect"/>
        </p:spPr>
        <p:txBody>
          <a:bodyPr rtlCol="0" wrap="square">
            <a:spAutoFit/>
          </a:bodyPr>
          <a:p>
            <a:r>
              <a:rPr b="1" sz="2800" lang="en-US">
                <a:solidFill>
                  <a:srgbClr val="0070C0"/>
                </a:solidFill>
              </a:rPr>
              <a:t>SEVERE HYPOTHYROIDISM </a:t>
            </a:r>
            <a:endParaRPr b="1" sz="2800" lang="en-US">
              <a:solidFill>
                <a:srgbClr val="0070C0"/>
              </a:solidFill>
            </a:endParaRPr>
          </a:p>
        </p:txBody>
      </p:sp>
      <p:sp>
        <p:nvSpPr>
          <p:cNvPr id="1048644" name=""/>
          <p:cNvSpPr txBox="1"/>
          <p:nvPr/>
        </p:nvSpPr>
        <p:spPr>
          <a:xfrm>
            <a:off x="248426" y="1049203"/>
            <a:ext cx="8423219" cy="3444240"/>
          </a:xfrm>
          <a:prstGeom prst="rect"/>
        </p:spPr>
        <p:txBody>
          <a:bodyPr rtlCol="0" wrap="square">
            <a:spAutoFit/>
          </a:bodyPr>
          <a:p>
            <a:r>
              <a:rPr sz="2800" lang="en-US">
                <a:solidFill>
                  <a:srgbClr val="000000"/>
                </a:solidFill>
              </a:rPr>
              <a:t>Myxoedematous deposits of gelatinous connective tissue within the myocardium.</a:t>
            </a:r>
            <a:endParaRPr sz="2800" lang="en-US">
              <a:solidFill>
                <a:srgbClr val="000000"/>
              </a:solidFill>
            </a:endParaRPr>
          </a:p>
          <a:p>
            <a:endParaRPr sz="2800" lang="en-US">
              <a:solidFill>
                <a:srgbClr val="000000"/>
              </a:solidFill>
            </a:endParaRPr>
          </a:p>
          <a:p>
            <a:r>
              <a:rPr sz="2800" lang="en-US">
                <a:solidFill>
                  <a:srgbClr val="000000"/>
                </a:solidFill>
              </a:rPr>
              <a:t>Decreased activity of the sympathetic nervous system</a:t>
            </a:r>
            <a:endParaRPr sz="2800" lang="en-US">
              <a:solidFill>
                <a:srgbClr val="000000"/>
              </a:solidFill>
            </a:endParaRPr>
          </a:p>
          <a:p>
            <a:endParaRPr sz="2800" lang="en-US">
              <a:solidFill>
                <a:srgbClr val="000000"/>
              </a:solidFill>
            </a:endParaRPr>
          </a:p>
          <a:p>
            <a:r>
              <a:rPr sz="2800" lang="en-US">
                <a:solidFill>
                  <a:srgbClr val="000000"/>
                </a:solidFill>
              </a:rPr>
              <a:t>Effects on the myocardium of reduced levels of thyroxine (i.e. reduced inotropy/chronotropy)</a:t>
            </a:r>
            <a:endParaRPr sz="2800" lang="en-US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0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5" name=""/>
          <p:cNvSpPr txBox="1"/>
          <p:nvPr/>
        </p:nvSpPr>
        <p:spPr>
          <a:xfrm>
            <a:off x="275447" y="261154"/>
            <a:ext cx="8593106" cy="5120639"/>
          </a:xfrm>
          <a:prstGeom prst="rect"/>
        </p:spPr>
        <p:txBody>
          <a:bodyPr rtlCol="0" wrap="square">
            <a:spAutoFit/>
          </a:bodyPr>
          <a:p>
            <a:r>
              <a:rPr b="1" sz="2800" lang="en-US">
                <a:solidFill>
                  <a:srgbClr val="008000"/>
                </a:solidFill>
              </a:rPr>
              <a:t>E</a:t>
            </a:r>
            <a:r>
              <a:rPr b="1" sz="2800" lang="en-US">
                <a:solidFill>
                  <a:srgbClr val="008000"/>
                </a:solidFill>
              </a:rPr>
              <a:t>C</a:t>
            </a:r>
            <a:r>
              <a:rPr b="1" sz="2800" lang="en-US">
                <a:solidFill>
                  <a:srgbClr val="008000"/>
                </a:solidFill>
              </a:rPr>
              <a:t>G</a:t>
            </a:r>
            <a:r>
              <a:rPr b="1" sz="2800" lang="en-US">
                <a:solidFill>
                  <a:srgbClr val="008000"/>
                </a:solidFill>
              </a:rPr>
              <a:t> </a:t>
            </a:r>
            <a:r>
              <a:rPr b="1" sz="2800" lang="en-US">
                <a:solidFill>
                  <a:srgbClr val="008000"/>
                </a:solidFill>
              </a:rPr>
              <a:t>D</a:t>
            </a:r>
            <a:r>
              <a:rPr b="1" sz="2800" lang="en-US">
                <a:solidFill>
                  <a:srgbClr val="008000"/>
                </a:solidFill>
              </a:rPr>
              <a:t>I</a:t>
            </a:r>
            <a:r>
              <a:rPr b="1" sz="2800" lang="en-US">
                <a:solidFill>
                  <a:srgbClr val="008000"/>
                </a:solidFill>
              </a:rPr>
              <a:t>A</a:t>
            </a:r>
            <a:r>
              <a:rPr b="1" sz="2800" lang="en-US">
                <a:solidFill>
                  <a:srgbClr val="008000"/>
                </a:solidFill>
              </a:rPr>
              <a:t>GNOSTIC </a:t>
            </a:r>
            <a:r>
              <a:rPr b="1" sz="2800" lang="en-US">
                <a:solidFill>
                  <a:srgbClr val="008000"/>
                </a:solidFill>
              </a:rPr>
              <a:t>CRITERIA </a:t>
            </a:r>
            <a:endParaRPr b="1" sz="2800" lang="en-US">
              <a:solidFill>
                <a:srgbClr val="008000"/>
              </a:solidFill>
            </a:endParaRPr>
          </a:p>
          <a:p>
            <a:r>
              <a:rPr sz="2800" lang="en-US">
                <a:solidFill>
                  <a:srgbClr val="000000"/>
                </a:solidFill>
              </a:rPr>
              <a:t>S</a:t>
            </a:r>
            <a:r>
              <a:rPr sz="2800" lang="en-US">
                <a:solidFill>
                  <a:srgbClr val="000000"/>
                </a:solidFill>
              </a:rPr>
              <a:t>evere hypothyroidism (myxoedema) causes a triad of:</a:t>
            </a:r>
            <a:endParaRPr sz="2800" lang="en-US">
              <a:solidFill>
                <a:srgbClr val="000000"/>
              </a:solidFill>
            </a:endParaRPr>
          </a:p>
          <a:p>
            <a:r>
              <a:rPr sz="2800" lang="en-US">
                <a:solidFill>
                  <a:srgbClr val="000000"/>
                </a:solidFill>
              </a:rPr>
              <a:t>•</a:t>
            </a:r>
            <a:r>
              <a:rPr sz="2800" lang="en-US">
                <a:solidFill>
                  <a:srgbClr val="000000"/>
                </a:solidFill>
              </a:rPr>
              <a:t> </a:t>
            </a:r>
            <a:r>
              <a:rPr sz="2800" lang="en-US">
                <a:solidFill>
                  <a:srgbClr val="000000"/>
                </a:solidFill>
              </a:rPr>
              <a:t>Bradycardia</a:t>
            </a:r>
            <a:endParaRPr sz="2800" lang="en-US">
              <a:solidFill>
                <a:srgbClr val="000000"/>
              </a:solidFill>
            </a:endParaRPr>
          </a:p>
          <a:p>
            <a:r>
              <a:rPr sz="2800" lang="en-US">
                <a:solidFill>
                  <a:srgbClr val="000000"/>
                </a:solidFill>
              </a:rPr>
              <a:t>•</a:t>
            </a:r>
            <a:r>
              <a:rPr sz="2800" lang="en-US">
                <a:solidFill>
                  <a:srgbClr val="000000"/>
                </a:solidFill>
              </a:rPr>
              <a:t> </a:t>
            </a:r>
            <a:r>
              <a:rPr sz="2800" lang="en-US">
                <a:solidFill>
                  <a:srgbClr val="000000"/>
                </a:solidFill>
              </a:rPr>
              <a:t>Low QRS voltage</a:t>
            </a:r>
            <a:endParaRPr sz="2800" lang="en-US">
              <a:solidFill>
                <a:srgbClr val="000000"/>
              </a:solidFill>
            </a:endParaRPr>
          </a:p>
          <a:p>
            <a:r>
              <a:rPr sz="2800" lang="en-US">
                <a:solidFill>
                  <a:srgbClr val="000000"/>
                </a:solidFill>
              </a:rPr>
              <a:t>•</a:t>
            </a:r>
            <a:r>
              <a:rPr sz="2800" lang="en-US">
                <a:solidFill>
                  <a:srgbClr val="000000"/>
                </a:solidFill>
              </a:rPr>
              <a:t> </a:t>
            </a:r>
            <a:r>
              <a:rPr sz="2800" lang="en-US">
                <a:solidFill>
                  <a:srgbClr val="000000"/>
                </a:solidFill>
              </a:rPr>
              <a:t>Widespread T-wave inversions (usually without ST deviation)</a:t>
            </a:r>
            <a:r>
              <a:rPr sz="2800" lang="en-US">
                <a:solidFill>
                  <a:srgbClr val="000000"/>
                </a:solidFill>
              </a:rPr>
              <a:t>.</a:t>
            </a:r>
            <a:endParaRPr sz="2800" lang="en-US">
              <a:solidFill>
                <a:srgbClr val="000000"/>
              </a:solidFill>
            </a:endParaRPr>
          </a:p>
          <a:p>
            <a:endParaRPr sz="2800" lang="en-US">
              <a:solidFill>
                <a:srgbClr val="000000"/>
              </a:solidFill>
            </a:endParaRPr>
          </a:p>
          <a:p>
            <a:r>
              <a:rPr sz="2800" lang="en-US">
                <a:solidFill>
                  <a:srgbClr val="000000"/>
                </a:solidFill>
              </a:rPr>
              <a:t>Other ECG changes that may be seen include:</a:t>
            </a:r>
            <a:endParaRPr sz="2800" lang="en-US">
              <a:solidFill>
                <a:srgbClr val="000000"/>
              </a:solidFill>
            </a:endParaRPr>
          </a:p>
          <a:p>
            <a:r>
              <a:rPr sz="2800" lang="en-US">
                <a:solidFill>
                  <a:srgbClr val="000000"/>
                </a:solidFill>
              </a:rPr>
              <a:t>QT prolongation</a:t>
            </a:r>
            <a:endParaRPr sz="2800" lang="en-US">
              <a:solidFill>
                <a:srgbClr val="000000"/>
              </a:solidFill>
            </a:endParaRPr>
          </a:p>
          <a:p>
            <a:r>
              <a:rPr sz="2800" lang="en-US">
                <a:solidFill>
                  <a:srgbClr val="000000"/>
                </a:solidFill>
              </a:rPr>
              <a:t>•</a:t>
            </a:r>
            <a:r>
              <a:rPr sz="2800" lang="en-US">
                <a:solidFill>
                  <a:srgbClr val="000000"/>
                </a:solidFill>
              </a:rPr>
              <a:t> </a:t>
            </a:r>
            <a:r>
              <a:rPr sz="2800" lang="en-US">
                <a:solidFill>
                  <a:srgbClr val="000000"/>
                </a:solidFill>
              </a:rPr>
              <a:t>First degree AV block</a:t>
            </a:r>
            <a:endParaRPr sz="2800" lang="en-US">
              <a:solidFill>
                <a:srgbClr val="000000"/>
              </a:solidFill>
            </a:endParaRPr>
          </a:p>
          <a:p>
            <a:r>
              <a:rPr sz="2800" lang="en-US">
                <a:solidFill>
                  <a:srgbClr val="000000"/>
                </a:solidFill>
              </a:rPr>
              <a:t>•</a:t>
            </a:r>
            <a:r>
              <a:rPr sz="2800" lang="en-US">
                <a:solidFill>
                  <a:srgbClr val="000000"/>
                </a:solidFill>
              </a:rPr>
              <a:t> </a:t>
            </a:r>
            <a:r>
              <a:rPr sz="2800" lang="en-US">
                <a:solidFill>
                  <a:srgbClr val="000000"/>
                </a:solidFill>
              </a:rPr>
              <a:t>Interventricular conduction delay</a:t>
            </a:r>
            <a:r>
              <a:rPr sz="2800" lang="en-US">
                <a:solidFill>
                  <a:srgbClr val="000000"/>
                </a:solidFill>
              </a:rPr>
              <a:t> </a:t>
            </a:r>
            <a:r>
              <a:rPr sz="2800" lang="en-US">
                <a:solidFill>
                  <a:srgbClr val="000000"/>
                </a:solidFill>
              </a:rPr>
              <a:t>(</a:t>
            </a:r>
            <a:r>
              <a:rPr sz="2800" lang="en-US">
                <a:solidFill>
                  <a:srgbClr val="000000"/>
                </a:solidFill>
              </a:rPr>
              <a:t>I</a:t>
            </a:r>
            <a:r>
              <a:rPr sz="2800" lang="en-US">
                <a:solidFill>
                  <a:srgbClr val="000000"/>
                </a:solidFill>
              </a:rPr>
              <a:t>V</a:t>
            </a:r>
            <a:r>
              <a:rPr sz="2800" lang="en-US">
                <a:solidFill>
                  <a:srgbClr val="000000"/>
                </a:solidFill>
              </a:rPr>
              <a:t>C</a:t>
            </a:r>
            <a:r>
              <a:rPr sz="2800" lang="en-US">
                <a:solidFill>
                  <a:srgbClr val="000000"/>
                </a:solidFill>
              </a:rPr>
              <a:t>D</a:t>
            </a:r>
            <a:r>
              <a:rPr sz="2800" lang="en-US">
                <a:solidFill>
                  <a:srgbClr val="000000"/>
                </a:solidFill>
              </a:rPr>
              <a:t>)</a:t>
            </a:r>
            <a:endParaRPr sz="2800" lang="en-US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6" name=""/>
          <p:cNvSpPr txBox="1"/>
          <p:nvPr/>
        </p:nvSpPr>
        <p:spPr>
          <a:xfrm>
            <a:off x="153863" y="161758"/>
            <a:ext cx="8349415" cy="1767841"/>
          </a:xfrm>
          <a:prstGeom prst="rect"/>
        </p:spPr>
        <p:txBody>
          <a:bodyPr rtlCol="0" wrap="square">
            <a:spAutoFit/>
          </a:bodyPr>
          <a:p>
            <a:r>
              <a:rPr sz="2800" lang="en-US">
                <a:solidFill>
                  <a:srgbClr val="000000"/>
                </a:solidFill>
              </a:rPr>
              <a:t>E</a:t>
            </a:r>
            <a:r>
              <a:rPr sz="2800" lang="en-US">
                <a:solidFill>
                  <a:srgbClr val="000000"/>
                </a:solidFill>
              </a:rPr>
              <a:t>x</a:t>
            </a:r>
            <a:r>
              <a:rPr sz="2800" lang="en-US">
                <a:solidFill>
                  <a:srgbClr val="000000"/>
                </a:solidFill>
              </a:rPr>
              <a:t>a</a:t>
            </a:r>
            <a:r>
              <a:rPr sz="2800" lang="en-US">
                <a:solidFill>
                  <a:srgbClr val="000000"/>
                </a:solidFill>
              </a:rPr>
              <a:t>m</a:t>
            </a:r>
            <a:r>
              <a:rPr sz="2800" lang="en-US">
                <a:solidFill>
                  <a:srgbClr val="000000"/>
                </a:solidFill>
              </a:rPr>
              <a:t>ple </a:t>
            </a:r>
            <a:r>
              <a:rPr sz="2800" lang="en-US">
                <a:solidFill>
                  <a:srgbClr val="000000"/>
                </a:solidFill>
              </a:rPr>
              <a:t>4</a:t>
            </a:r>
            <a:r>
              <a:rPr sz="2800" lang="en-US">
                <a:solidFill>
                  <a:srgbClr val="000000"/>
                </a:solidFill>
              </a:rPr>
              <a:t>.</a:t>
            </a:r>
            <a:r>
              <a:rPr sz="2800" lang="en-US">
                <a:solidFill>
                  <a:srgbClr val="000000"/>
                </a:solidFill>
              </a:rPr>
              <a:t> </a:t>
            </a:r>
            <a:r>
              <a:rPr sz="2800" lang="en-US">
                <a:solidFill>
                  <a:srgbClr val="000000"/>
                </a:solidFill>
              </a:rPr>
              <a:t>This is the admission ECG of a 79-year old man who was referred to ICU with coma, hypothermia, severe bradycardia and hypotension refractory to inotropes.</a:t>
            </a:r>
            <a:endParaRPr sz="2800" lang="en-US">
              <a:solidFill>
                <a:srgbClr val="000000"/>
              </a:solidFill>
            </a:endParaRPr>
          </a:p>
        </p:txBody>
      </p:sp>
      <p:pic>
        <p:nvPicPr>
          <p:cNvPr id="2097169" name=""/>
          <p:cNvPicPr>
            <a:picLocks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 rot="0">
            <a:off x="0" y="2071675"/>
            <a:ext cx="9144000" cy="3158063"/>
          </a:xfrm>
          <a:prstGeom prst="rect"/>
        </p:spPr>
      </p:pic>
      <p:sp>
        <p:nvSpPr>
          <p:cNvPr id="1048647" name=""/>
          <p:cNvSpPr txBox="1"/>
          <p:nvPr/>
        </p:nvSpPr>
        <p:spPr>
          <a:xfrm>
            <a:off x="153863" y="5371814"/>
            <a:ext cx="8430997" cy="1158241"/>
          </a:xfrm>
          <a:prstGeom prst="rect"/>
        </p:spPr>
        <p:txBody>
          <a:bodyPr rtlCol="0" wrap="square">
            <a:spAutoFit/>
          </a:bodyPr>
          <a:p>
            <a:r>
              <a:rPr sz="2400" lang="en-US">
                <a:solidFill>
                  <a:srgbClr val="000000"/>
                </a:solidFill>
              </a:rPr>
              <a:t>The ECG shows marked bradycardia (30 bpm) with low QRS voltages (esp. in the limb leads) and widespread T-wave inversions, typical of severe myxoedema.</a:t>
            </a:r>
            <a:endParaRPr sz="2400" lang="en-US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0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8" name=""/>
          <p:cNvSpPr txBox="1"/>
          <p:nvPr/>
        </p:nvSpPr>
        <p:spPr>
          <a:xfrm>
            <a:off x="212665" y="151774"/>
            <a:ext cx="7794890" cy="510540"/>
          </a:xfrm>
          <a:prstGeom prst="rect"/>
        </p:spPr>
        <p:txBody>
          <a:bodyPr rtlCol="0" wrap="square">
            <a:spAutoFit/>
          </a:bodyPr>
          <a:p>
            <a:r>
              <a:rPr b="1" sz="2800" lang="en-US">
                <a:solidFill>
                  <a:srgbClr val="0070C0"/>
                </a:solidFill>
              </a:rPr>
              <a:t>Myxoedema coma (after treatment)</a:t>
            </a:r>
            <a:endParaRPr b="1" sz="2800" lang="en-US">
              <a:solidFill>
                <a:srgbClr val="0070C0"/>
              </a:solidFill>
            </a:endParaRPr>
          </a:p>
        </p:txBody>
      </p:sp>
      <p:pic>
        <p:nvPicPr>
          <p:cNvPr id="2097170" name=""/>
          <p:cNvPicPr>
            <a:picLocks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 rot="0">
            <a:off x="0" y="846548"/>
            <a:ext cx="9144000" cy="4467024"/>
          </a:xfrm>
          <a:prstGeom prst="rect"/>
        </p:spPr>
      </p:pic>
      <p:sp>
        <p:nvSpPr>
          <p:cNvPr id="1048649" name=""/>
          <p:cNvSpPr txBox="1"/>
          <p:nvPr/>
        </p:nvSpPr>
        <p:spPr>
          <a:xfrm>
            <a:off x="212664" y="5497806"/>
            <a:ext cx="8856941" cy="929641"/>
          </a:xfrm>
          <a:prstGeom prst="rect"/>
        </p:spPr>
        <p:txBody>
          <a:bodyPr rtlCol="0" wrap="square">
            <a:spAutoFit/>
          </a:bodyPr>
          <a:p>
            <a:r>
              <a:rPr sz="2800" lang="en-US">
                <a:solidFill>
                  <a:srgbClr val="000000"/>
                </a:solidFill>
              </a:rPr>
              <a:t>An ECG of the same patient shortly after initiation of thyroid replacement with intravenous T3 and T4.</a:t>
            </a:r>
            <a:endParaRPr sz="2800" lang="en-US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0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0" name="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p>
            <a:pPr algn="l"/>
            <a:r>
              <a:rPr sz="3200" lang="en-US"/>
              <a:t>N</a:t>
            </a:r>
            <a:r>
              <a:rPr sz="3200" lang="en-US"/>
              <a:t>o</a:t>
            </a:r>
            <a:r>
              <a:rPr sz="3200" lang="en-US"/>
              <a:t>t</a:t>
            </a:r>
            <a:r>
              <a:rPr sz="3200" lang="en-US"/>
              <a:t>e</a:t>
            </a:r>
            <a:r>
              <a:rPr sz="3200" lang="en-US"/>
              <a:t>:</a:t>
            </a:r>
            <a:r>
              <a:rPr sz="3200" lang="en-US"/>
              <a:t> </a:t>
            </a:r>
            <a:br>
              <a:rPr sz="3200" lang="en-US"/>
            </a:br>
            <a:r>
              <a:rPr sz="3200" lang="en-US"/>
              <a:t>•</a:t>
            </a:r>
            <a:r>
              <a:rPr sz="3200" lang="en-US"/>
              <a:t> </a:t>
            </a:r>
            <a:r>
              <a:rPr sz="3200" lang="en-US"/>
              <a:t>The heart rate has </a:t>
            </a:r>
            <a:r>
              <a:rPr sz="3200" lang="en-US"/>
              <a:t>normalised and the T-wave inversion has corrected.</a:t>
            </a:r>
            <a:br>
              <a:rPr sz="3200" lang="en-US"/>
            </a:br>
            <a:r>
              <a:rPr sz="3200" lang="en-US"/>
              <a:t>•</a:t>
            </a:r>
            <a:r>
              <a:rPr sz="3200" lang="en-US"/>
              <a:t> </a:t>
            </a:r>
            <a:r>
              <a:rPr sz="3200" lang="en-US"/>
              <a:t>Low voltage in the limb leads persists and is likely due to myxoedematous infiltration of the myocardium.</a:t>
            </a:r>
            <a:endParaRPr lang="en-US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0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1" name=""/>
          <p:cNvSpPr>
            <a:spLocks noGrp="1"/>
          </p:cNvSpPr>
          <p:nvPr>
            <p:ph type="ctrTitle"/>
          </p:nvPr>
        </p:nvSpPr>
        <p:spPr>
          <a:xfrm>
            <a:off x="465617" y="2002571"/>
            <a:ext cx="7772400" cy="2387600"/>
          </a:xfrm>
        </p:spPr>
        <p:txBody>
          <a:bodyPr>
            <a:normAutofit/>
          </a:bodyPr>
          <a:p>
            <a:r>
              <a:rPr lang="en-US"/>
              <a:t>T</a:t>
            </a:r>
            <a:r>
              <a:rPr lang="en-US"/>
              <a:t>H</a:t>
            </a:r>
            <a:r>
              <a:rPr lang="en-US"/>
              <a:t>ANK </a:t>
            </a:r>
            <a:r>
              <a:rPr lang="en-US"/>
              <a:t>YOU </a:t>
            </a:r>
            <a:r>
              <a:rPr lang="en-US"/>
              <a:t>FOR </a:t>
            </a:r>
            <a:r>
              <a:rPr lang="en-US"/>
              <a:t>LISTENING </a:t>
            </a:r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lastClr="000000" val="windowText"/>
      </a:dk1>
      <a:lt1>
        <a:sysClr lastClr="FFFFFF" val="window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TH Sarabun PSK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TH Sarabun PSK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algn="ctr" blurRad="57150" dir="5400000" dist="19050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2.xml><?xml version="1.0" encoding="utf-8"?>
<a:theme xmlns:a="http://schemas.openxmlformats.org/drawingml/2006/main" name="Office 主题">
  <a:themeElements>
    <a:clrScheme name="Office">
      <a:dk1>
        <a:sysClr lastClr="000000" val="windowText"/>
      </a:dk1>
      <a:lt1>
        <a:sysClr lastClr="FFFFFF" val="window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TH Sarabun PSK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TH Sarabun PSK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algn="ctr" blurRad="57150" dir="5400000" dist="19050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="http://schemas.openxmlformats.org/officeDocument/2006/extended-properties">
  <Application>WPS Office</Application>
  <ScaleCrop>0</ScaleCrop>
  <LinksUpToDate>0</LinksUpToDate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creator>SM-A426U</dc:creator>
  <dcterms:created xsi:type="dcterms:W3CDTF">2015-05-11T17:30:45Z</dcterms:created>
  <dcterms:modified xsi:type="dcterms:W3CDTF">2025-07-10T04:36:44Z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07da6e2bbf4548bead7baa297a9cbc63</vt:lpwstr>
  </property>
</Properties>
</file>