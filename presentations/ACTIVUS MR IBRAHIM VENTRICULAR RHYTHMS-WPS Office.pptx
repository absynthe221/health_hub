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saveSubsetFonts="1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type="screen4x3" cy="6858000" cx="9144000"/>
  <p:notesSz cx="6858000" cy="9144000"/>
  <p:defaultTextStyle>
    <a:defPPr>
      <a:defRPr lang="zh-CN"/>
    </a:defPPr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446" y="108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tableStyles" Target="tableStyles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7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78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79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80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681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8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582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algn="ctr" indent="0" marL="0">
              <a:buNone/>
              <a:defRPr sz="2400"/>
            </a:lvl1pPr>
            <a:lvl2pPr algn="ctr" indent="0" marL="457200">
              <a:buNone/>
              <a:defRPr sz="20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600"/>
            </a:lvl4pPr>
            <a:lvl5pPr algn="ctr" indent="0" marL="1828800">
              <a:buNone/>
              <a:defRPr sz="1600"/>
            </a:lvl5pPr>
            <a:lvl6pPr algn="ctr" indent="0" marL="2286000">
              <a:buNone/>
              <a:defRPr sz="1600"/>
            </a:lvl6pPr>
            <a:lvl7pPr algn="ctr" indent="0" marL="2743200">
              <a:buNone/>
              <a:defRPr sz="1600"/>
            </a:lvl7pPr>
            <a:lvl8pPr algn="ctr" indent="0" marL="3200400">
              <a:buNone/>
              <a:defRPr sz="1600"/>
            </a:lvl8pPr>
            <a:lvl9pPr algn="ctr" indent="0" marL="3657600">
              <a:buNone/>
              <a:defRPr sz="1600"/>
            </a:lvl9pPr>
          </a:lstStyle>
          <a:p>
            <a:r>
              <a:rPr altLang="zh-CN" lang="en-US" smtClean="0"/>
              <a:t>Click to edit Master subtitle style</a:t>
            </a:r>
            <a:endParaRPr dirty="0" lang="en-US"/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634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63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63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3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9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650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indent="0" marL="0">
              <a:buNone/>
              <a:defRPr sz="2400">
                <a:solidFill>
                  <a:schemeClr val="tx1"/>
                </a:solidFill>
              </a:defRPr>
            </a:lvl1pPr>
            <a:lvl2pPr indent="0" marL="45720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altLang="zh-CN" lang="en-US" smtClean="0"/>
              <a:t>Click to edit Master text styles</a:t>
            </a:r>
          </a:p>
        </p:txBody>
      </p:sp>
      <p:sp>
        <p:nvSpPr>
          <p:cNvPr id="104865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65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5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655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656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65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65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5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0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661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altLang="zh-CN" lang="en-US" smtClean="0"/>
              <a:t>Click to edit Master text styles</a:t>
            </a:r>
          </a:p>
        </p:txBody>
      </p:sp>
      <p:sp>
        <p:nvSpPr>
          <p:cNvPr id="1048662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66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altLang="zh-CN" lang="en-US" smtClean="0"/>
              <a:t>Click to edit Master text styles</a:t>
            </a:r>
          </a:p>
        </p:txBody>
      </p:sp>
      <p:sp>
        <p:nvSpPr>
          <p:cNvPr id="1048664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665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666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67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625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626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2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8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669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70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1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672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673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altLang="zh-CN" lang="en-US" smtClean="0"/>
              <a:t>Click to edit Master text styles</a:t>
            </a:r>
          </a:p>
        </p:txBody>
      </p:sp>
      <p:sp>
        <p:nvSpPr>
          <p:cNvPr id="104867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67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7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8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639" name="Picture Placeholder 2"/>
          <p:cNvSpPr>
            <a:spLocks noChangeAspect="1"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r>
              <a:rPr altLang="zh-CN" lang="en-US" smtClean="0"/>
              <a:t>Click icon to add picture</a:t>
            </a:r>
            <a:endParaRPr dirty="0" lang="en-US"/>
          </a:p>
        </p:txBody>
      </p:sp>
      <p:sp>
        <p:nvSpPr>
          <p:cNvPr id="1048640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altLang="zh-CN" lang="en-US" smtClean="0"/>
              <a:t>Click to edit Master text styles</a:t>
            </a:r>
          </a:p>
        </p:txBody>
      </p:sp>
      <p:sp>
        <p:nvSpPr>
          <p:cNvPr id="104864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64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4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645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64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64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4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8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629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63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63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3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altLang="en-US" lang="zh-CN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1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1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1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1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1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1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Title 1"/>
          <p:cNvSpPr>
            <a:spLocks noGrp="1"/>
          </p:cNvSpPr>
          <p:nvPr>
            <p:ph type="ctrTitle"/>
          </p:nvPr>
        </p:nvSpPr>
        <p:spPr>
          <a:xfrm>
            <a:off x="685799" y="5012399"/>
            <a:ext cx="7772400" cy="694593"/>
          </a:xfrm>
        </p:spPr>
        <p:txBody>
          <a:bodyPr>
            <a:normAutofit fontScale="90000"/>
          </a:bodyPr>
          <a:p>
            <a:r>
              <a:rPr altLang="zh-CN" b="1" sz="4000" lang="en-US" u="none">
                <a:solidFill>
                  <a:srgbClr val="800000"/>
                </a:solidFill>
                <a:effectLst>
                  <a:outerShdw algn="br" blurRad="38100" dir="2700000" dist="38100" rotWithShape="0">
                    <a:srgbClr val="000000"/>
                  </a:outerShdw>
                </a:effectLst>
              </a:rPr>
              <a:t>VENTRICULAR RHYTHMS</a:t>
            </a:r>
            <a:br>
              <a:rPr altLang="zh-CN" b="1" sz="4000" lang="en-US" u="none">
                <a:solidFill>
                  <a:srgbClr val="800000"/>
                </a:solidFill>
                <a:effectLst>
                  <a:outerShdw algn="br" blurRad="38100" dir="2700000" dist="38100" rotWithShape="0">
                    <a:srgbClr val="000000"/>
                  </a:outerShdw>
                </a:effectLst>
              </a:rPr>
            </a:br>
            <a:br>
              <a:rPr altLang="zh-CN" b="1" sz="4000" lang="en-US" u="none">
                <a:solidFill>
                  <a:srgbClr val="C00000"/>
                </a:solidFill>
                <a:effectLst/>
              </a:rPr>
            </a:br>
            <a:br>
              <a:rPr altLang="zh-CN" b="1" sz="4000" lang="en-US" u="none">
                <a:solidFill>
                  <a:srgbClr val="C00000"/>
                </a:solidFill>
                <a:effectLst/>
              </a:rPr>
            </a:br>
            <a:br>
              <a:rPr altLang="zh-CN" b="1" sz="4000" lang="en-US" u="none">
                <a:solidFill>
                  <a:srgbClr val="C00000"/>
                </a:solidFill>
                <a:effectLst/>
              </a:rPr>
            </a:br>
            <a:r>
              <a:rPr altLang="zh-CN" b="1" sz="4000" lang="en-US" u="none">
                <a:solidFill>
                  <a:srgbClr val="000000"/>
                </a:solidFill>
                <a:effectLst/>
                <a:latin typeface="Noto Sans Buhid"/>
                <a:cs typeface="Noto Sans Buhid"/>
              </a:rPr>
              <a:t>B</a:t>
            </a:r>
            <a:r>
              <a:rPr altLang="zh-CN" b="1" sz="4000" lang="en-US" u="none">
                <a:solidFill>
                  <a:srgbClr val="000000"/>
                </a:solidFill>
                <a:effectLst/>
                <a:latin typeface="Noto Sans Buhid"/>
                <a:cs typeface="Noto Sans Buhid"/>
              </a:rPr>
              <a:t>Y</a:t>
            </a:r>
            <a:br>
              <a:rPr altLang="zh-CN" b="1" sz="4000" lang="en-US" u="none">
                <a:solidFill>
                  <a:srgbClr val="000000"/>
                </a:solidFill>
                <a:effectLst/>
              </a:rPr>
            </a:br>
            <a:br>
              <a:rPr altLang="zh-CN" b="1" sz="4000" lang="en-US" u="none">
                <a:solidFill>
                  <a:srgbClr val="000000"/>
                </a:solidFill>
                <a:effectLst/>
              </a:rPr>
            </a:br>
            <a:r>
              <a:rPr altLang="zh-CN" b="1" sz="4000" lang="en-US" u="none">
                <a:solidFill>
                  <a:srgbClr val="000000"/>
                </a:solidFill>
                <a:effectLst/>
                <a:latin typeface="Noto Sans Buhid"/>
                <a:ea typeface="Noto Sans CJK KR"/>
                <a:cs typeface="Noto Sans Buhid"/>
              </a:rPr>
              <a:t>U</a:t>
            </a:r>
            <a:r>
              <a:rPr altLang="zh-CN" b="1" sz="4000" lang="en-US" u="none">
                <a:solidFill>
                  <a:srgbClr val="000000"/>
                </a:solidFill>
                <a:effectLst/>
                <a:latin typeface="Noto Sans Buhid"/>
                <a:ea typeface="Noto Sans CJK KR"/>
                <a:cs typeface="Noto Sans Buhid"/>
              </a:rPr>
              <a:t>M</a:t>
            </a:r>
            <a:r>
              <a:rPr altLang="zh-CN" b="1" sz="4000" lang="en-US" u="none">
                <a:solidFill>
                  <a:srgbClr val="000000"/>
                </a:solidFill>
                <a:effectLst/>
                <a:latin typeface="Noto Sans Buhid"/>
                <a:ea typeface="Noto Sans CJK KR"/>
                <a:cs typeface="Noto Sans Buhid"/>
              </a:rPr>
              <a:t>A</a:t>
            </a:r>
            <a:r>
              <a:rPr altLang="zh-CN" b="1" sz="4000" lang="en-US" u="none">
                <a:solidFill>
                  <a:srgbClr val="000000"/>
                </a:solidFill>
                <a:effectLst/>
                <a:latin typeface="Noto Sans Buhid"/>
                <a:ea typeface="Noto Sans CJK KR"/>
                <a:cs typeface="Noto Sans Buhid"/>
              </a:rPr>
              <a:t>R</a:t>
            </a:r>
            <a:r>
              <a:rPr altLang="zh-CN" b="1" sz="4000" lang="en-US" u="none">
                <a:solidFill>
                  <a:srgbClr val="000000"/>
                </a:solidFill>
                <a:effectLst/>
                <a:latin typeface="Noto Sans Buhid"/>
                <a:ea typeface="Noto Sans CJK KR"/>
                <a:cs typeface="Noto Sans Buhid"/>
              </a:rPr>
              <a:t> </a:t>
            </a:r>
            <a:r>
              <a:rPr altLang="zh-CN" b="1" sz="4000" lang="en-US" u="none">
                <a:solidFill>
                  <a:srgbClr val="000000"/>
                </a:solidFill>
                <a:effectLst/>
                <a:latin typeface="Noto Sans Buhid"/>
                <a:ea typeface="Noto Sans CJK KR"/>
                <a:cs typeface="Noto Sans Buhid"/>
              </a:rPr>
              <a:t>AMINU </a:t>
            </a:r>
            <a:r>
              <a:rPr altLang="zh-CN" b="1" sz="4000" lang="en-US" u="none">
                <a:solidFill>
                  <a:srgbClr val="000000"/>
                </a:solidFill>
                <a:effectLst/>
                <a:latin typeface="Noto Sans Buhid"/>
                <a:ea typeface="Noto Sans CJK KR"/>
                <a:cs typeface="Noto Sans Buhid"/>
              </a:rPr>
              <a:t>IBRAHIM </a:t>
            </a:r>
            <a:br>
              <a:rPr altLang="zh-CN" b="1" sz="4000" lang="en-US" u="none">
                <a:solidFill>
                  <a:srgbClr val="000000"/>
                </a:solidFill>
                <a:effectLst/>
                <a:latin typeface="Noto Sans Buhid"/>
                <a:ea typeface="Noto Sans CJK KR"/>
                <a:cs typeface="Noto Sans Buhid"/>
              </a:rPr>
            </a:br>
            <a:br>
              <a:rPr altLang="zh-CN" b="1" sz="4000" lang="en-US" u="none">
                <a:solidFill>
                  <a:srgbClr val="000000"/>
                </a:solidFill>
                <a:effectLst/>
              </a:rPr>
            </a:br>
            <a:br>
              <a:rPr altLang="zh-CN" b="1" sz="4000" lang="en-US" u="none">
                <a:solidFill>
                  <a:srgbClr val="000000"/>
                </a:solidFill>
                <a:effectLst/>
              </a:rPr>
            </a:br>
            <a:br>
              <a:rPr altLang="zh-CN" b="1" sz="4000" lang="en-US" u="none">
                <a:solidFill>
                  <a:srgbClr val="000000"/>
                </a:solidFill>
                <a:effectLst/>
              </a:rPr>
            </a:br>
            <a:r>
              <a:rPr altLang="zh-CN" b="1" sz="4000" lang="en-US" u="none">
                <a:solidFill>
                  <a:srgbClr val="000000"/>
                </a:solidFill>
                <a:effectLst/>
                <a:latin typeface="Noto Sans Buhid"/>
                <a:ea typeface="Noto Sans CJK HK"/>
                <a:cs typeface="Noto Sans Buhid"/>
              </a:rPr>
              <a:t>J</a:t>
            </a:r>
            <a:r>
              <a:rPr altLang="zh-CN" b="1" sz="4000" lang="en-US" u="none">
                <a:solidFill>
                  <a:srgbClr val="000000"/>
                </a:solidFill>
                <a:effectLst/>
                <a:latin typeface="Noto Sans Buhid"/>
                <a:ea typeface="Noto Sans CJK HK"/>
                <a:cs typeface="Noto Sans Buhid"/>
              </a:rPr>
              <a:t>U</a:t>
            </a:r>
            <a:r>
              <a:rPr altLang="zh-CN" b="1" sz="4000" lang="en-US" u="none">
                <a:solidFill>
                  <a:srgbClr val="000000"/>
                </a:solidFill>
                <a:effectLst/>
                <a:latin typeface="Noto Sans Buhid"/>
                <a:ea typeface="Noto Sans CJK HK"/>
                <a:cs typeface="Noto Sans Buhid"/>
              </a:rPr>
              <a:t>L</a:t>
            </a:r>
            <a:r>
              <a:rPr altLang="zh-CN" b="1" sz="4000" lang="en-US" u="none">
                <a:solidFill>
                  <a:srgbClr val="000000"/>
                </a:solidFill>
                <a:effectLst/>
                <a:latin typeface="Noto Sans Buhid"/>
                <a:ea typeface="Noto Sans CJK HK"/>
                <a:cs typeface="Noto Sans Buhid"/>
              </a:rPr>
              <a:t>Y</a:t>
            </a:r>
            <a:r>
              <a:rPr altLang="zh-CN" b="1" sz="4000" lang="en-US" u="none">
                <a:solidFill>
                  <a:srgbClr val="000000"/>
                </a:solidFill>
                <a:effectLst/>
                <a:latin typeface="Noto Sans Buhid"/>
                <a:ea typeface="Noto Sans CJK HK"/>
                <a:cs typeface="Noto Sans Buhid"/>
              </a:rPr>
              <a:t>,</a:t>
            </a:r>
            <a:r>
              <a:rPr altLang="zh-CN" b="1" sz="4000" lang="en-US" u="none">
                <a:solidFill>
                  <a:srgbClr val="000000"/>
                </a:solidFill>
                <a:effectLst/>
                <a:latin typeface="Noto Sans Buhid"/>
                <a:ea typeface="Noto Sans CJK HK"/>
                <a:cs typeface="Noto Sans Buhid"/>
              </a:rPr>
              <a:t> </a:t>
            </a:r>
            <a:r>
              <a:rPr altLang="zh-CN" b="1" sz="4000" lang="en-US" u="none">
                <a:solidFill>
                  <a:srgbClr val="000000"/>
                </a:solidFill>
                <a:effectLst/>
                <a:latin typeface="Noto Sans Buhid"/>
                <a:ea typeface="Noto Sans CJK HK"/>
                <a:cs typeface="Noto Sans Buhid"/>
              </a:rPr>
              <a:t>2</a:t>
            </a:r>
            <a:r>
              <a:rPr altLang="zh-CN" b="1" sz="4000" lang="en-US" u="none">
                <a:solidFill>
                  <a:srgbClr val="000000"/>
                </a:solidFill>
                <a:effectLst/>
                <a:latin typeface="Noto Sans Buhid"/>
                <a:ea typeface="Noto Sans CJK HK"/>
                <a:cs typeface="Noto Sans Buhid"/>
              </a:rPr>
              <a:t>0</a:t>
            </a:r>
            <a:r>
              <a:rPr altLang="zh-CN" b="1" sz="4000" lang="en-US" u="none">
                <a:solidFill>
                  <a:srgbClr val="000000"/>
                </a:solidFill>
                <a:effectLst/>
                <a:latin typeface="Noto Sans Buhid"/>
                <a:ea typeface="Noto Sans CJK HK"/>
                <a:cs typeface="Noto Sans Buhid"/>
              </a:rPr>
              <a:t>2</a:t>
            </a:r>
            <a:r>
              <a:rPr altLang="zh-CN" b="1" sz="4000" lang="en-US" u="none">
                <a:solidFill>
                  <a:srgbClr val="000000"/>
                </a:solidFill>
                <a:effectLst/>
                <a:latin typeface="Noto Sans Buhid"/>
                <a:ea typeface="Noto Sans CJK HK"/>
                <a:cs typeface="Noto Sans Buhid"/>
              </a:rPr>
              <a:t>5</a:t>
            </a:r>
            <a:r>
              <a:rPr altLang="zh-CN" b="1" sz="4000" lang="en-US" u="none">
                <a:solidFill>
                  <a:srgbClr val="000000"/>
                </a:solidFill>
                <a:effectLst/>
                <a:latin typeface="Noto Sans Buhid"/>
                <a:ea typeface="Noto Sans CJK HK"/>
                <a:cs typeface="Noto Sans Buhid"/>
              </a:rPr>
              <a:t>.</a:t>
            </a:r>
            <a:endParaRPr altLang="zh-CN" b="1" lang="en-US" u="none">
              <a:solidFill>
                <a:srgbClr val="000000"/>
              </a:solidFill>
              <a:effectLst/>
              <a:latin typeface="Noto Sans Buhid"/>
              <a:ea typeface="Noto Sans CJK HK"/>
              <a:cs typeface="Noto Sans Buhi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9" name=""/>
          <p:cNvSpPr>
            <a:spLocks noGrp="1"/>
          </p:cNvSpPr>
          <p:nvPr>
            <p:ph type="ctrTitle"/>
          </p:nvPr>
        </p:nvSpPr>
        <p:spPr>
          <a:xfrm>
            <a:off x="685800" y="527872"/>
            <a:ext cx="7772400" cy="591203"/>
          </a:xfrm>
        </p:spPr>
        <p:txBody>
          <a:bodyPr>
            <a:normAutofit fontScale="90000"/>
          </a:bodyPr>
          <a:p>
            <a:r>
              <a:rPr lang="en-US"/>
              <a:t>O</a:t>
            </a:r>
            <a:r>
              <a:rPr lang="en-US"/>
              <a:t>b</a:t>
            </a:r>
            <a:r>
              <a:rPr lang="en-US"/>
              <a:t>j</a:t>
            </a:r>
            <a:r>
              <a:rPr lang="en-US"/>
              <a:t>e</a:t>
            </a:r>
            <a:r>
              <a:rPr lang="en-US"/>
              <a:t>c</a:t>
            </a:r>
            <a:r>
              <a:rPr lang="en-US"/>
              <a:t>t</a:t>
            </a:r>
            <a:r>
              <a:rPr lang="en-US"/>
              <a:t>i</a:t>
            </a:r>
            <a:r>
              <a:rPr lang="en-US"/>
              <a:t>ves </a:t>
            </a:r>
            <a:endParaRPr lang="en-US"/>
          </a:p>
        </p:txBody>
      </p:sp>
      <p:sp>
        <p:nvSpPr>
          <p:cNvPr id="1048600" name=""/>
          <p:cNvSpPr txBox="1"/>
          <p:nvPr/>
        </p:nvSpPr>
        <p:spPr>
          <a:xfrm>
            <a:off x="188861" y="1552290"/>
            <a:ext cx="8636760" cy="1539239"/>
          </a:xfrm>
          <a:prstGeom prst="rect"/>
        </p:spPr>
        <p:txBody>
          <a:bodyPr rtlCol="0" wrap="square">
            <a:spAutoFit/>
          </a:bodyPr>
          <a:p>
            <a:r>
              <a:rPr sz="3200" lang="en-US">
                <a:solidFill>
                  <a:srgbClr val="000000"/>
                </a:solidFill>
              </a:rPr>
              <a:t>•</a:t>
            </a:r>
            <a:r>
              <a:rPr sz="3200" lang="en-US">
                <a:solidFill>
                  <a:srgbClr val="000000"/>
                </a:solidFill>
              </a:rPr>
              <a:t> </a:t>
            </a:r>
            <a:r>
              <a:rPr sz="3200" lang="en-US">
                <a:solidFill>
                  <a:srgbClr val="000000"/>
                </a:solidFill>
              </a:rPr>
              <a:t>Recognize ventricular dysrhythmias on EKG and relate cause, </a:t>
            </a:r>
            <a:r>
              <a:rPr sz="3200" lang="en-US">
                <a:solidFill>
                  <a:srgbClr val="000000"/>
                </a:solidFill>
              </a:rPr>
              <a:t>significance, symptoms, and treatment.</a:t>
            </a:r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"/>
          <p:cNvSpPr>
            <a:spLocks noGrp="1"/>
          </p:cNvSpPr>
          <p:nvPr>
            <p:ph type="ctrTitle"/>
          </p:nvPr>
        </p:nvSpPr>
        <p:spPr>
          <a:xfrm>
            <a:off x="893030" y="0"/>
            <a:ext cx="7772400" cy="1108151"/>
          </a:xfrm>
        </p:spPr>
        <p:txBody>
          <a:bodyPr/>
          <a:p>
            <a:r>
              <a:rPr sz="5400" lang="en-US"/>
              <a:t>V</a:t>
            </a:r>
            <a:r>
              <a:rPr sz="5400" lang="en-US"/>
              <a:t>e</a:t>
            </a:r>
            <a:r>
              <a:rPr sz="5400" lang="en-US"/>
              <a:t>n</a:t>
            </a:r>
            <a:r>
              <a:rPr sz="5400" lang="en-US"/>
              <a:t>t</a:t>
            </a:r>
            <a:r>
              <a:rPr sz="5400" lang="en-US"/>
              <a:t>r</a:t>
            </a:r>
            <a:r>
              <a:rPr sz="5400" lang="en-US"/>
              <a:t>i</a:t>
            </a:r>
            <a:r>
              <a:rPr sz="5400" lang="en-US"/>
              <a:t>c</a:t>
            </a:r>
            <a:r>
              <a:rPr sz="5400" lang="en-US"/>
              <a:t>u</a:t>
            </a:r>
            <a:r>
              <a:rPr sz="5400" lang="en-US"/>
              <a:t>lar </a:t>
            </a:r>
            <a:r>
              <a:rPr sz="5400" lang="en-US"/>
              <a:t>r</a:t>
            </a:r>
            <a:r>
              <a:rPr sz="5400" lang="en-US"/>
              <a:t>h</a:t>
            </a:r>
            <a:r>
              <a:rPr sz="5400" lang="en-US"/>
              <a:t>y</a:t>
            </a:r>
            <a:r>
              <a:rPr sz="5400" lang="en-US"/>
              <a:t>t</a:t>
            </a:r>
            <a:r>
              <a:rPr sz="5400" lang="en-US"/>
              <a:t>h</a:t>
            </a:r>
            <a:r>
              <a:rPr sz="5400" lang="en-US"/>
              <a:t>m</a:t>
            </a:r>
            <a:r>
              <a:rPr sz="5400" lang="en-US"/>
              <a:t>s</a:t>
            </a:r>
            <a:endParaRPr lang="en-US"/>
          </a:p>
        </p:txBody>
      </p:sp>
      <p:sp>
        <p:nvSpPr>
          <p:cNvPr id="1048602" name=""/>
          <p:cNvSpPr txBox="1"/>
          <p:nvPr/>
        </p:nvSpPr>
        <p:spPr>
          <a:xfrm>
            <a:off x="383137" y="1487672"/>
            <a:ext cx="8477802" cy="5539740"/>
          </a:xfrm>
          <a:prstGeom prst="rect"/>
        </p:spPr>
        <p:txBody>
          <a:bodyPr rtlCol="0" wrap="square">
            <a:spAutoFit/>
          </a:bodyPr>
          <a:p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•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When the sinoatrial (SA) node and the AV Junctional tissues fails to generate an </a:t>
            </a:r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impulse the ventricles will assume the role of pacing the heart</a:t>
            </a:r>
            <a:r>
              <a:rPr sz="2800" lang="en-US">
                <a:solidFill>
                  <a:srgbClr val="000000"/>
                </a:solidFill>
              </a:rPr>
              <a:t>.</a:t>
            </a:r>
            <a:endParaRPr sz="2800" lang="en-US">
              <a:solidFill>
                <a:srgbClr val="000000"/>
              </a:solidFill>
            </a:endParaRPr>
          </a:p>
          <a:p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•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There is an absence of P waves because there is no atrial activity or </a:t>
            </a:r>
            <a:r>
              <a:rPr sz="2800" lang="en-US">
                <a:solidFill>
                  <a:srgbClr val="000000"/>
                </a:solidFill>
              </a:rPr>
              <a:t>depolarization</a:t>
            </a:r>
            <a:r>
              <a:rPr sz="2800" lang="en-US">
                <a:solidFill>
                  <a:srgbClr val="000000"/>
                </a:solidFill>
              </a:rPr>
              <a:t>.</a:t>
            </a:r>
            <a:endParaRPr sz="2800" lang="en-US">
              <a:solidFill>
                <a:srgbClr val="000000"/>
              </a:solidFill>
            </a:endParaRPr>
          </a:p>
          <a:p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•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Ventricular rhythms will display QRS complexes that are wide (greater than or </a:t>
            </a:r>
            <a:r>
              <a:rPr sz="2800" lang="en-US">
                <a:solidFill>
                  <a:srgbClr val="000000"/>
                </a:solidFill>
              </a:rPr>
              <a:t>equal to 12</a:t>
            </a:r>
            <a:r>
              <a:rPr sz="2800" lang="en-US">
                <a:solidFill>
                  <a:srgbClr val="000000"/>
                </a:solidFill>
              </a:rPr>
              <a:t>0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m</a:t>
            </a:r>
            <a:r>
              <a:rPr sz="2800" lang="en-US">
                <a:solidFill>
                  <a:srgbClr val="000000"/>
                </a:solidFill>
              </a:rPr>
              <a:t>i</a:t>
            </a:r>
            <a:r>
              <a:rPr sz="2800" lang="en-US">
                <a:solidFill>
                  <a:srgbClr val="000000"/>
                </a:solidFill>
              </a:rPr>
              <a:t>l</a:t>
            </a:r>
            <a:r>
              <a:rPr sz="2800" lang="en-US">
                <a:solidFill>
                  <a:srgbClr val="000000"/>
                </a:solidFill>
              </a:rPr>
              <a:t>l</a:t>
            </a:r>
            <a:r>
              <a:rPr sz="2800" lang="en-US">
                <a:solidFill>
                  <a:srgbClr val="000000"/>
                </a:solidFill>
              </a:rPr>
              <a:t>i</a:t>
            </a:r>
            <a:r>
              <a:rPr sz="2800" lang="en-US">
                <a:solidFill>
                  <a:srgbClr val="000000"/>
                </a:solidFill>
              </a:rPr>
              <a:t>seconds) and bizarre in appearance</a:t>
            </a:r>
            <a:r>
              <a:rPr sz="2800" lang="en-US">
                <a:solidFill>
                  <a:srgbClr val="000000"/>
                </a:solidFill>
              </a:rPr>
              <a:t>.</a:t>
            </a:r>
            <a:endParaRPr sz="2800" lang="en-US">
              <a:solidFill>
                <a:srgbClr val="000000"/>
              </a:solidFill>
            </a:endParaRPr>
          </a:p>
          <a:p>
            <a:endParaRPr sz="2800" lang="en-US">
              <a:solidFill>
                <a:srgbClr val="000000"/>
              </a:solidFill>
            </a:endParaRPr>
          </a:p>
          <a:p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"/>
          <p:cNvSpPr>
            <a:spLocks noGrp="1"/>
          </p:cNvSpPr>
          <p:nvPr>
            <p:ph type="ctrTitle"/>
          </p:nvPr>
        </p:nvSpPr>
        <p:spPr>
          <a:xfrm>
            <a:off x="685799" y="0"/>
            <a:ext cx="7772400" cy="1108153"/>
          </a:xfrm>
        </p:spPr>
        <p:txBody>
          <a:bodyPr/>
          <a:p>
            <a:r>
              <a:rPr sz="5400" lang="en-US"/>
              <a:t>V</a:t>
            </a:r>
            <a:r>
              <a:rPr sz="5400" lang="en-US"/>
              <a:t>e</a:t>
            </a:r>
            <a:r>
              <a:rPr sz="5400" lang="en-US"/>
              <a:t>n</a:t>
            </a:r>
            <a:r>
              <a:rPr sz="5400" lang="en-US"/>
              <a:t>t</a:t>
            </a:r>
            <a:r>
              <a:rPr sz="5400" lang="en-US"/>
              <a:t>r</a:t>
            </a:r>
            <a:r>
              <a:rPr sz="5400" lang="en-US"/>
              <a:t>i</a:t>
            </a:r>
            <a:r>
              <a:rPr sz="5400" lang="en-US"/>
              <a:t>c</a:t>
            </a:r>
            <a:r>
              <a:rPr sz="5400" lang="en-US"/>
              <a:t>u</a:t>
            </a:r>
            <a:r>
              <a:rPr sz="5400" lang="en-US"/>
              <a:t>lar </a:t>
            </a:r>
            <a:r>
              <a:rPr sz="5400" lang="en-US"/>
              <a:t>r</a:t>
            </a:r>
            <a:r>
              <a:rPr sz="5400" lang="en-US"/>
              <a:t>h</a:t>
            </a:r>
            <a:r>
              <a:rPr sz="5400" lang="en-US"/>
              <a:t>y</a:t>
            </a:r>
            <a:r>
              <a:rPr sz="5400" lang="en-US"/>
              <a:t>t</a:t>
            </a:r>
            <a:r>
              <a:rPr sz="5400" lang="en-US"/>
              <a:t>h</a:t>
            </a:r>
            <a:r>
              <a:rPr sz="5400" lang="en-US"/>
              <a:t>m</a:t>
            </a:r>
            <a:r>
              <a:rPr sz="5400" lang="en-US"/>
              <a:t>s</a:t>
            </a:r>
            <a:endParaRPr lang="en-US"/>
          </a:p>
        </p:txBody>
      </p:sp>
      <p:sp>
        <p:nvSpPr>
          <p:cNvPr id="1048604" name=""/>
          <p:cNvSpPr txBox="1"/>
          <p:nvPr/>
        </p:nvSpPr>
        <p:spPr>
          <a:xfrm>
            <a:off x="150004" y="1242060"/>
            <a:ext cx="8843990" cy="3863340"/>
          </a:xfrm>
          <a:prstGeom prst="rect"/>
        </p:spPr>
        <p:txBody>
          <a:bodyPr rtlCol="0" wrap="square">
            <a:spAutoFit/>
          </a:bodyPr>
          <a:p>
            <a:r>
              <a:rPr sz="2800" lang="en-US">
                <a:solidFill>
                  <a:srgbClr val="000000"/>
                </a:solidFill>
              </a:rPr>
              <a:t>This is rhythm initiated at the level of the ventricules, also known as ideal ventricular rhythm or idioventricular rhythm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o</a:t>
            </a:r>
            <a:r>
              <a:rPr sz="2800" lang="en-US">
                <a:solidFill>
                  <a:srgbClr val="000000"/>
                </a:solidFill>
              </a:rPr>
              <a:t>r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v</a:t>
            </a:r>
            <a:r>
              <a:rPr sz="2800" lang="en-US">
                <a:solidFill>
                  <a:srgbClr val="000000"/>
                </a:solidFill>
              </a:rPr>
              <a:t>e</a:t>
            </a:r>
            <a:r>
              <a:rPr sz="2800" lang="en-US">
                <a:solidFill>
                  <a:srgbClr val="000000"/>
                </a:solidFill>
              </a:rPr>
              <a:t>n</a:t>
            </a:r>
            <a:r>
              <a:rPr sz="2800" lang="en-US">
                <a:solidFill>
                  <a:srgbClr val="000000"/>
                </a:solidFill>
              </a:rPr>
              <a:t>t</a:t>
            </a:r>
            <a:r>
              <a:rPr sz="2800" lang="en-US">
                <a:solidFill>
                  <a:srgbClr val="000000"/>
                </a:solidFill>
              </a:rPr>
              <a:t>r</a:t>
            </a:r>
            <a:r>
              <a:rPr sz="2800" lang="en-US">
                <a:solidFill>
                  <a:srgbClr val="000000"/>
                </a:solidFill>
              </a:rPr>
              <a:t>i</a:t>
            </a:r>
            <a:r>
              <a:rPr sz="2800" lang="en-US">
                <a:solidFill>
                  <a:srgbClr val="000000"/>
                </a:solidFill>
              </a:rPr>
              <a:t>c</a:t>
            </a:r>
            <a:r>
              <a:rPr sz="2800" lang="en-US">
                <a:solidFill>
                  <a:srgbClr val="000000"/>
                </a:solidFill>
              </a:rPr>
              <a:t>u</a:t>
            </a:r>
            <a:r>
              <a:rPr sz="2800" lang="en-US">
                <a:solidFill>
                  <a:srgbClr val="000000"/>
                </a:solidFill>
              </a:rPr>
              <a:t>lar</a:t>
            </a:r>
            <a:r>
              <a:rPr sz="2800" lang="en-US">
                <a:solidFill>
                  <a:srgbClr val="000000"/>
                </a:solidFill>
              </a:rPr>
              <a:t> e</a:t>
            </a:r>
            <a:r>
              <a:rPr sz="2800" lang="en-US">
                <a:solidFill>
                  <a:srgbClr val="000000"/>
                </a:solidFill>
              </a:rPr>
              <a:t>s</a:t>
            </a:r>
            <a:r>
              <a:rPr sz="2800" lang="en-US">
                <a:solidFill>
                  <a:srgbClr val="000000"/>
                </a:solidFill>
              </a:rPr>
              <a:t>c</a:t>
            </a:r>
            <a:r>
              <a:rPr sz="2800" lang="en-US">
                <a:solidFill>
                  <a:srgbClr val="000000"/>
                </a:solidFill>
              </a:rPr>
              <a:t>a</a:t>
            </a:r>
            <a:r>
              <a:rPr sz="2800" lang="en-US">
                <a:solidFill>
                  <a:srgbClr val="000000"/>
                </a:solidFill>
              </a:rPr>
              <a:t>pe</a:t>
            </a:r>
            <a:r>
              <a:rPr sz="2800" lang="en-US">
                <a:solidFill>
                  <a:srgbClr val="000000"/>
                </a:solidFill>
              </a:rPr>
              <a:t> r</a:t>
            </a:r>
            <a:r>
              <a:rPr sz="2800" lang="en-US">
                <a:solidFill>
                  <a:srgbClr val="000000"/>
                </a:solidFill>
              </a:rPr>
              <a:t>h</a:t>
            </a:r>
            <a:r>
              <a:rPr sz="2800" lang="en-US">
                <a:solidFill>
                  <a:srgbClr val="000000"/>
                </a:solidFill>
              </a:rPr>
              <a:t>y</a:t>
            </a:r>
            <a:r>
              <a:rPr sz="2800" lang="en-US">
                <a:solidFill>
                  <a:srgbClr val="000000"/>
                </a:solidFill>
              </a:rPr>
              <a:t>t</a:t>
            </a:r>
            <a:r>
              <a:rPr sz="2800" lang="en-US">
                <a:solidFill>
                  <a:srgbClr val="000000"/>
                </a:solidFill>
              </a:rPr>
              <a:t>h</a:t>
            </a:r>
            <a:r>
              <a:rPr sz="2800" lang="en-US">
                <a:solidFill>
                  <a:srgbClr val="000000"/>
                </a:solidFill>
              </a:rPr>
              <a:t>m</a:t>
            </a:r>
            <a:r>
              <a:rPr sz="2800" lang="en-US">
                <a:solidFill>
                  <a:srgbClr val="000000"/>
                </a:solidFill>
              </a:rPr>
              <a:t>. The resting rate is 20 to 40/minutes.</a:t>
            </a:r>
            <a:endParaRPr sz="2800" lang="en-US">
              <a:solidFill>
                <a:srgbClr val="000000"/>
              </a:solidFill>
            </a:endParaRPr>
          </a:p>
          <a:p>
            <a:endParaRPr sz="2800" lang="en-US">
              <a:solidFill>
                <a:srgbClr val="000000"/>
              </a:solidFill>
            </a:endParaRPr>
          </a:p>
          <a:p>
            <a:endParaRPr sz="2800" lang="en-US">
              <a:solidFill>
                <a:srgbClr val="000000"/>
              </a:solidFill>
            </a:endParaRPr>
          </a:p>
          <a:p>
            <a:endParaRPr sz="2800" lang="en-US">
              <a:solidFill>
                <a:srgbClr val="000000"/>
              </a:solidFill>
            </a:endParaRPr>
          </a:p>
          <a:p>
            <a:r>
              <a:rPr sz="2800" lang="en-US" u="sng">
                <a:solidFill>
                  <a:srgbClr val="000000"/>
                </a:solidFill>
              </a:rPr>
              <a:t>Keys to identifying</a:t>
            </a:r>
            <a:r>
              <a:rPr sz="2800" lang="en-US">
                <a:solidFill>
                  <a:srgbClr val="000000"/>
                </a:solidFill>
              </a:rPr>
              <a:t>: rhythm is SLOW, no P wave, wide &amp; bizarre QRS!</a:t>
            </a:r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5" name=""/>
          <p:cNvSpPr txBox="1"/>
          <p:nvPr/>
        </p:nvSpPr>
        <p:spPr>
          <a:xfrm>
            <a:off x="409041" y="324538"/>
            <a:ext cx="8235254" cy="574039"/>
          </a:xfrm>
          <a:prstGeom prst="rect"/>
        </p:spPr>
        <p:txBody>
          <a:bodyPr rtlCol="0" wrap="square">
            <a:spAutoFit/>
          </a:bodyPr>
          <a:p>
            <a:r>
              <a:rPr sz="3200" lang="en-US">
                <a:solidFill>
                  <a:srgbClr val="000000"/>
                </a:solidFill>
              </a:rPr>
              <a:t>E</a:t>
            </a:r>
            <a:r>
              <a:rPr sz="3200" lang="en-US">
                <a:solidFill>
                  <a:srgbClr val="000000"/>
                </a:solidFill>
              </a:rPr>
              <a:t>X</a:t>
            </a:r>
            <a:r>
              <a:rPr sz="3200" lang="en-US">
                <a:solidFill>
                  <a:srgbClr val="000000"/>
                </a:solidFill>
              </a:rPr>
              <a:t>A</a:t>
            </a:r>
            <a:r>
              <a:rPr sz="3200" lang="en-US">
                <a:solidFill>
                  <a:srgbClr val="000000"/>
                </a:solidFill>
              </a:rPr>
              <a:t>M</a:t>
            </a:r>
            <a:r>
              <a:rPr sz="3200" lang="en-US">
                <a:solidFill>
                  <a:srgbClr val="000000"/>
                </a:solidFill>
              </a:rPr>
              <a:t>PLE</a:t>
            </a:r>
            <a:r>
              <a:rPr sz="3200" lang="en-US">
                <a:solidFill>
                  <a:srgbClr val="000000"/>
                </a:solidFill>
              </a:rPr>
              <a:t> </a:t>
            </a:r>
            <a:r>
              <a:rPr sz="3200" lang="en-US">
                <a:solidFill>
                  <a:srgbClr val="000000"/>
                </a:solidFill>
              </a:rPr>
              <a:t>1</a:t>
            </a:r>
            <a:r>
              <a:rPr sz="3200" lang="en-US">
                <a:solidFill>
                  <a:srgbClr val="000000"/>
                </a:solidFill>
              </a:rPr>
              <a:t>.</a:t>
            </a:r>
            <a:r>
              <a:rPr sz="3200" lang="en-US">
                <a:solidFill>
                  <a:srgbClr val="000000"/>
                </a:solidFill>
              </a:rPr>
              <a:t> </a:t>
            </a:r>
            <a:r>
              <a:rPr sz="3200" lang="en-US">
                <a:solidFill>
                  <a:srgbClr val="000000"/>
                </a:solidFill>
              </a:rPr>
              <a:t>I</a:t>
            </a:r>
            <a:r>
              <a:rPr sz="3200" lang="en-US">
                <a:solidFill>
                  <a:srgbClr val="000000"/>
                </a:solidFill>
              </a:rPr>
              <a:t>D</a:t>
            </a:r>
            <a:r>
              <a:rPr sz="3200" lang="en-US">
                <a:solidFill>
                  <a:srgbClr val="000000"/>
                </a:solidFill>
              </a:rPr>
              <a:t>I</a:t>
            </a:r>
            <a:r>
              <a:rPr sz="3200" lang="en-US">
                <a:solidFill>
                  <a:srgbClr val="000000"/>
                </a:solidFill>
              </a:rPr>
              <a:t>OVENTRICULAR </a:t>
            </a:r>
            <a:r>
              <a:rPr sz="3200" lang="en-US">
                <a:solidFill>
                  <a:srgbClr val="000000"/>
                </a:solidFill>
              </a:rPr>
              <a:t>RHYTHM </a:t>
            </a:r>
            <a:endParaRPr sz="2800" lang="en-US">
              <a:solidFill>
                <a:srgbClr val="000000"/>
              </a:solidFill>
            </a:endParaRPr>
          </a:p>
        </p:txBody>
      </p:sp>
      <p:pic>
        <p:nvPicPr>
          <p:cNvPr id="2097157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310844" y="1285080"/>
            <a:ext cx="8676124" cy="3342898"/>
          </a:xfrm>
          <a:prstGeom prst="rect"/>
        </p:spPr>
      </p:pic>
      <p:sp>
        <p:nvSpPr>
          <p:cNvPr id="1048606" name=""/>
          <p:cNvSpPr txBox="1"/>
          <p:nvPr/>
        </p:nvSpPr>
        <p:spPr>
          <a:xfrm>
            <a:off x="310843" y="5014481"/>
            <a:ext cx="7691276" cy="1348741"/>
          </a:xfrm>
          <a:prstGeom prst="rect"/>
        </p:spPr>
        <p:txBody>
          <a:bodyPr rtlCol="0" wrap="square">
            <a:spAutoFit/>
          </a:bodyPr>
          <a:p>
            <a:r>
              <a:rPr sz="2800" lang="en-US">
                <a:solidFill>
                  <a:srgbClr val="000000"/>
                </a:solidFill>
              </a:rPr>
              <a:t>•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A</a:t>
            </a:r>
            <a:r>
              <a:rPr sz="2800" lang="en-US">
                <a:solidFill>
                  <a:srgbClr val="000000"/>
                </a:solidFill>
              </a:rPr>
              <a:t>b</a:t>
            </a:r>
            <a:r>
              <a:rPr sz="2800" lang="en-US">
                <a:solidFill>
                  <a:srgbClr val="000000"/>
                </a:solidFill>
              </a:rPr>
              <a:t>s</a:t>
            </a:r>
            <a:r>
              <a:rPr sz="2800" lang="en-US">
                <a:solidFill>
                  <a:srgbClr val="000000"/>
                </a:solidFill>
              </a:rPr>
              <a:t>e</a:t>
            </a:r>
            <a:r>
              <a:rPr sz="2800" lang="en-US">
                <a:solidFill>
                  <a:srgbClr val="000000"/>
                </a:solidFill>
              </a:rPr>
              <a:t>n</a:t>
            </a:r>
            <a:r>
              <a:rPr sz="2800" lang="en-US">
                <a:solidFill>
                  <a:srgbClr val="000000"/>
                </a:solidFill>
              </a:rPr>
              <a:t>ce </a:t>
            </a:r>
            <a:r>
              <a:rPr sz="2800" lang="en-US">
                <a:solidFill>
                  <a:srgbClr val="000000"/>
                </a:solidFill>
              </a:rPr>
              <a:t>P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w</a:t>
            </a:r>
            <a:r>
              <a:rPr sz="2800" lang="en-US">
                <a:solidFill>
                  <a:srgbClr val="000000"/>
                </a:solidFill>
              </a:rPr>
              <a:t>a</a:t>
            </a:r>
            <a:r>
              <a:rPr sz="2800" lang="en-US">
                <a:solidFill>
                  <a:srgbClr val="000000"/>
                </a:solidFill>
              </a:rPr>
              <a:t>v</a:t>
            </a:r>
            <a:r>
              <a:rPr sz="2800" lang="en-US">
                <a:solidFill>
                  <a:srgbClr val="000000"/>
                </a:solidFill>
              </a:rPr>
              <a:t>e</a:t>
            </a:r>
            <a:r>
              <a:rPr sz="2800" lang="en-US">
                <a:solidFill>
                  <a:srgbClr val="000000"/>
                </a:solidFill>
              </a:rPr>
              <a:t> </a:t>
            </a:r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•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Wide </a:t>
            </a:r>
            <a:r>
              <a:rPr sz="2800" lang="en-US">
                <a:solidFill>
                  <a:srgbClr val="000000"/>
                </a:solidFill>
              </a:rPr>
              <a:t>QRS </a:t>
            </a:r>
            <a:r>
              <a:rPr sz="2800" lang="en-US">
                <a:solidFill>
                  <a:srgbClr val="000000"/>
                </a:solidFill>
              </a:rPr>
              <a:t>complex </a:t>
            </a:r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•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R</a:t>
            </a:r>
            <a:r>
              <a:rPr sz="2800" lang="en-US">
                <a:solidFill>
                  <a:srgbClr val="000000"/>
                </a:solidFill>
              </a:rPr>
              <a:t>a</a:t>
            </a:r>
            <a:r>
              <a:rPr sz="2800" lang="en-US">
                <a:solidFill>
                  <a:srgbClr val="000000"/>
                </a:solidFill>
              </a:rPr>
              <a:t>t</a:t>
            </a:r>
            <a:r>
              <a:rPr sz="2800" lang="en-US">
                <a:solidFill>
                  <a:srgbClr val="000000"/>
                </a:solidFill>
              </a:rPr>
              <a:t>e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3</a:t>
            </a:r>
            <a:r>
              <a:rPr sz="2800" lang="en-US">
                <a:solidFill>
                  <a:srgbClr val="000000"/>
                </a:solidFill>
              </a:rPr>
              <a:t>7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b</a:t>
            </a:r>
            <a:r>
              <a:rPr sz="2800" lang="en-US">
                <a:solidFill>
                  <a:srgbClr val="000000"/>
                </a:solidFill>
              </a:rPr>
              <a:t>e</a:t>
            </a:r>
            <a:r>
              <a:rPr sz="2800" lang="en-US">
                <a:solidFill>
                  <a:srgbClr val="000000"/>
                </a:solidFill>
              </a:rPr>
              <a:t>a</a:t>
            </a:r>
            <a:r>
              <a:rPr sz="2800" lang="en-US">
                <a:solidFill>
                  <a:srgbClr val="000000"/>
                </a:solidFill>
              </a:rPr>
              <a:t>t</a:t>
            </a:r>
            <a:r>
              <a:rPr sz="2800" lang="en-US">
                <a:solidFill>
                  <a:srgbClr val="000000"/>
                </a:solidFill>
              </a:rPr>
              <a:t>s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per </a:t>
            </a:r>
            <a:r>
              <a:rPr sz="2800" lang="en-US">
                <a:solidFill>
                  <a:srgbClr val="000000"/>
                </a:solidFill>
              </a:rPr>
              <a:t>minute </a:t>
            </a:r>
            <a:r>
              <a:rPr sz="2800" lang="en-US">
                <a:solidFill>
                  <a:srgbClr val="000000"/>
                </a:solidFill>
              </a:rPr>
              <a:t>(</a:t>
            </a:r>
            <a:r>
              <a:rPr sz="2800" lang="en-US">
                <a:solidFill>
                  <a:srgbClr val="000000"/>
                </a:solidFill>
              </a:rPr>
              <a:t>b</a:t>
            </a:r>
            <a:r>
              <a:rPr sz="2800" lang="en-US">
                <a:solidFill>
                  <a:srgbClr val="000000"/>
                </a:solidFill>
              </a:rPr>
              <a:t>p</a:t>
            </a:r>
            <a:r>
              <a:rPr sz="2800" lang="en-US">
                <a:solidFill>
                  <a:srgbClr val="000000"/>
                </a:solidFill>
              </a:rPr>
              <a:t>m</a:t>
            </a:r>
            <a:r>
              <a:rPr sz="2800" lang="en-US">
                <a:solidFill>
                  <a:srgbClr val="000000"/>
                </a:solidFill>
              </a:rPr>
              <a:t>)</a:t>
            </a:r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7" name=""/>
          <p:cNvSpPr>
            <a:spLocks noGrp="1"/>
          </p:cNvSpPr>
          <p:nvPr>
            <p:ph type="ctrTitle"/>
          </p:nvPr>
        </p:nvSpPr>
        <p:spPr>
          <a:xfrm>
            <a:off x="685799" y="295246"/>
            <a:ext cx="7772400" cy="761702"/>
          </a:xfrm>
        </p:spPr>
        <p:txBody>
          <a:bodyPr>
            <a:normAutofit fontScale="94444"/>
          </a:bodyPr>
          <a:p>
            <a:r>
              <a:rPr sz="5400" lang="en-US"/>
              <a:t>V</a:t>
            </a:r>
            <a:r>
              <a:rPr sz="5400" lang="en-US"/>
              <a:t>e</a:t>
            </a:r>
            <a:r>
              <a:rPr sz="5400" lang="en-US"/>
              <a:t>n</a:t>
            </a:r>
            <a:r>
              <a:rPr sz="5400" lang="en-US"/>
              <a:t>t</a:t>
            </a:r>
            <a:r>
              <a:rPr sz="5400" lang="en-US"/>
              <a:t>r</a:t>
            </a:r>
            <a:r>
              <a:rPr sz="5400" lang="en-US"/>
              <a:t>i</a:t>
            </a:r>
            <a:r>
              <a:rPr sz="5400" lang="en-US"/>
              <a:t>c</a:t>
            </a:r>
            <a:r>
              <a:rPr sz="5400" lang="en-US"/>
              <a:t>u</a:t>
            </a:r>
            <a:r>
              <a:rPr sz="5400" lang="en-US"/>
              <a:t>lar </a:t>
            </a:r>
            <a:r>
              <a:rPr sz="5400" lang="en-US"/>
              <a:t>r</a:t>
            </a:r>
            <a:r>
              <a:rPr sz="5400" lang="en-US"/>
              <a:t>h</a:t>
            </a:r>
            <a:r>
              <a:rPr sz="5400" lang="en-US"/>
              <a:t>y</a:t>
            </a:r>
            <a:r>
              <a:rPr sz="5400" lang="en-US"/>
              <a:t>t</a:t>
            </a:r>
            <a:r>
              <a:rPr sz="5400" lang="en-US"/>
              <a:t>h</a:t>
            </a:r>
            <a:r>
              <a:rPr sz="5400" lang="en-US"/>
              <a:t>m</a:t>
            </a:r>
            <a:r>
              <a:rPr sz="5400" lang="en-US"/>
              <a:t>s</a:t>
            </a:r>
            <a:endParaRPr lang="en-US"/>
          </a:p>
        </p:txBody>
      </p:sp>
      <p:sp>
        <p:nvSpPr>
          <p:cNvPr id="1048608" name=""/>
          <p:cNvSpPr txBox="1"/>
          <p:nvPr/>
        </p:nvSpPr>
        <p:spPr>
          <a:xfrm>
            <a:off x="572000" y="1242061"/>
            <a:ext cx="7704227" cy="2186939"/>
          </a:xfrm>
          <a:prstGeom prst="rect"/>
        </p:spPr>
        <p:txBody>
          <a:bodyPr rtlCol="0" wrap="square">
            <a:spAutoFit/>
          </a:bodyPr>
          <a:p>
            <a:r>
              <a:rPr b="1" sz="2800" lang="en-US" u="sng">
                <a:solidFill>
                  <a:srgbClr val="000000"/>
                </a:solidFill>
              </a:rPr>
              <a:t>Causes</a:t>
            </a:r>
            <a:endParaRPr b="1" sz="2800" lang="en-US" u="sng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• Drugs- Digitalis</a:t>
            </a:r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• MI</a:t>
            </a:r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• Metabolic imbalances</a:t>
            </a:r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• Hyperkalemia</a:t>
            </a:r>
            <a:endParaRPr sz="2800" lang="en-US">
              <a:solidFill>
                <a:srgbClr val="000000"/>
              </a:solidFill>
            </a:endParaRPr>
          </a:p>
        </p:txBody>
      </p:sp>
      <p:sp>
        <p:nvSpPr>
          <p:cNvPr id="1048609" name=""/>
          <p:cNvSpPr txBox="1"/>
          <p:nvPr/>
        </p:nvSpPr>
        <p:spPr>
          <a:xfrm>
            <a:off x="572000" y="3994873"/>
            <a:ext cx="4000000" cy="2606039"/>
          </a:xfrm>
          <a:prstGeom prst="rect"/>
        </p:spPr>
        <p:txBody>
          <a:bodyPr rtlCol="0" wrap="square">
            <a:spAutoFit/>
          </a:bodyPr>
          <a:p>
            <a:r>
              <a:rPr b="1" sz="2800" lang="en-US" u="sng">
                <a:solidFill>
                  <a:srgbClr val="000000"/>
                </a:solidFill>
              </a:rPr>
              <a:t>Medical Treatment</a:t>
            </a:r>
            <a:endParaRPr b="1" sz="2800" lang="en-US" u="sng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▪ Atropine </a:t>
            </a:r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▪ Pacing </a:t>
            </a:r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▪ Dopamine when hypotensive</a:t>
            </a:r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▪ CPR</a:t>
            </a:r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"/>
          <p:cNvSpPr>
            <a:spLocks noGrp="1"/>
          </p:cNvSpPr>
          <p:nvPr>
            <p:ph type="ctrTitle"/>
          </p:nvPr>
        </p:nvSpPr>
        <p:spPr>
          <a:xfrm>
            <a:off x="685800" y="129238"/>
            <a:ext cx="7772400" cy="1198619"/>
          </a:xfrm>
        </p:spPr>
        <p:txBody>
          <a:bodyPr>
            <a:normAutofit fontScale="95455"/>
          </a:bodyPr>
          <a:p>
            <a:r>
              <a:rPr sz="4400" lang="en-US"/>
              <a:t>Accelerated Idioventricular Rhythm (AIVR)</a:t>
            </a:r>
            <a:endParaRPr lang="en-US"/>
          </a:p>
        </p:txBody>
      </p:sp>
      <p:sp>
        <p:nvSpPr>
          <p:cNvPr id="1048611" name=""/>
          <p:cNvSpPr txBox="1"/>
          <p:nvPr/>
        </p:nvSpPr>
        <p:spPr>
          <a:xfrm>
            <a:off x="324856" y="1661159"/>
            <a:ext cx="8494289" cy="3025141"/>
          </a:xfrm>
          <a:prstGeom prst="rect"/>
        </p:spPr>
        <p:txBody>
          <a:bodyPr rtlCol="0" wrap="square">
            <a:spAutoFit/>
          </a:bodyPr>
          <a:p>
            <a:r>
              <a:rPr sz="2800" lang="en-US">
                <a:solidFill>
                  <a:srgbClr val="000000"/>
                </a:solidFill>
              </a:rPr>
              <a:t>Accelerated idioventricular arrhythmia is last-ditch effort of the </a:t>
            </a:r>
            <a:r>
              <a:rPr sz="2800" lang="en-US">
                <a:solidFill>
                  <a:srgbClr val="000000"/>
                </a:solidFill>
              </a:rPr>
              <a:t>ventricles to try to prevent cardiac standstill.</a:t>
            </a:r>
            <a:endParaRPr sz="2800" lang="en-US">
              <a:solidFill>
                <a:srgbClr val="000000"/>
              </a:solidFill>
            </a:endParaRPr>
          </a:p>
          <a:p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•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S</a:t>
            </a:r>
            <a:r>
              <a:rPr sz="2800" lang="en-US">
                <a:solidFill>
                  <a:srgbClr val="000000"/>
                </a:solidFill>
              </a:rPr>
              <a:t>A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n</a:t>
            </a:r>
            <a:r>
              <a:rPr sz="2800" lang="en-US">
                <a:solidFill>
                  <a:srgbClr val="000000"/>
                </a:solidFill>
              </a:rPr>
              <a:t>o</a:t>
            </a:r>
            <a:r>
              <a:rPr sz="2800" lang="en-US">
                <a:solidFill>
                  <a:srgbClr val="000000"/>
                </a:solidFill>
              </a:rPr>
              <a:t>d</a:t>
            </a:r>
            <a:r>
              <a:rPr sz="2800" lang="en-US">
                <a:solidFill>
                  <a:srgbClr val="000000"/>
                </a:solidFill>
              </a:rPr>
              <a:t>e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a</a:t>
            </a:r>
            <a:r>
              <a:rPr sz="2800" lang="en-US">
                <a:solidFill>
                  <a:srgbClr val="000000"/>
                </a:solidFill>
              </a:rPr>
              <a:t>n</a:t>
            </a:r>
            <a:r>
              <a:rPr sz="2800" lang="en-US">
                <a:solidFill>
                  <a:srgbClr val="000000"/>
                </a:solidFill>
              </a:rPr>
              <a:t>d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A</a:t>
            </a:r>
            <a:r>
              <a:rPr sz="2800" lang="en-US">
                <a:solidFill>
                  <a:srgbClr val="000000"/>
                </a:solidFill>
              </a:rPr>
              <a:t>V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n</a:t>
            </a:r>
            <a:r>
              <a:rPr sz="2800" lang="en-US">
                <a:solidFill>
                  <a:srgbClr val="000000"/>
                </a:solidFill>
              </a:rPr>
              <a:t>o</a:t>
            </a:r>
            <a:r>
              <a:rPr sz="2800" lang="en-US">
                <a:solidFill>
                  <a:srgbClr val="000000"/>
                </a:solidFill>
              </a:rPr>
              <a:t>d</a:t>
            </a:r>
            <a:r>
              <a:rPr sz="2800" lang="en-US">
                <a:solidFill>
                  <a:srgbClr val="000000"/>
                </a:solidFill>
              </a:rPr>
              <a:t>e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h</a:t>
            </a:r>
            <a:r>
              <a:rPr sz="2800" lang="en-US">
                <a:solidFill>
                  <a:srgbClr val="000000"/>
                </a:solidFill>
              </a:rPr>
              <a:t>a</a:t>
            </a:r>
            <a:r>
              <a:rPr sz="2800" lang="en-US">
                <a:solidFill>
                  <a:srgbClr val="000000"/>
                </a:solidFill>
              </a:rPr>
              <a:t>v</a:t>
            </a:r>
            <a:r>
              <a:rPr sz="2800" lang="en-US">
                <a:solidFill>
                  <a:srgbClr val="000000"/>
                </a:solidFill>
              </a:rPr>
              <a:t>e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f</a:t>
            </a:r>
            <a:r>
              <a:rPr sz="2800" lang="en-US">
                <a:solidFill>
                  <a:srgbClr val="000000"/>
                </a:solidFill>
              </a:rPr>
              <a:t>a</a:t>
            </a:r>
            <a:r>
              <a:rPr sz="2800" lang="en-US">
                <a:solidFill>
                  <a:srgbClr val="000000"/>
                </a:solidFill>
              </a:rPr>
              <a:t>i</a:t>
            </a:r>
            <a:r>
              <a:rPr sz="2800" lang="en-US">
                <a:solidFill>
                  <a:srgbClr val="000000"/>
                </a:solidFill>
              </a:rPr>
              <a:t>l</a:t>
            </a:r>
            <a:r>
              <a:rPr sz="2800" lang="en-US">
                <a:solidFill>
                  <a:srgbClr val="000000"/>
                </a:solidFill>
              </a:rPr>
              <a:t>e</a:t>
            </a:r>
            <a:r>
              <a:rPr sz="2800" lang="en-US">
                <a:solidFill>
                  <a:srgbClr val="000000"/>
                </a:solidFill>
              </a:rPr>
              <a:t>d</a:t>
            </a:r>
            <a:r>
              <a:rPr sz="2800" lang="en-US">
                <a:solidFill>
                  <a:srgbClr val="000000"/>
                </a:solidFill>
              </a:rPr>
              <a:t> </a:t>
            </a:r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• Rate usually between 40 to 1</a:t>
            </a:r>
            <a:r>
              <a:rPr sz="2800" lang="en-US">
                <a:solidFill>
                  <a:srgbClr val="000000"/>
                </a:solidFill>
              </a:rPr>
              <a:t>2</a:t>
            </a:r>
            <a:r>
              <a:rPr sz="2800" lang="en-US">
                <a:solidFill>
                  <a:srgbClr val="000000"/>
                </a:solidFill>
              </a:rPr>
              <a:t>0 beats per minute (bpm)</a:t>
            </a:r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2" name=""/>
          <p:cNvSpPr txBox="1"/>
          <p:nvPr/>
        </p:nvSpPr>
        <p:spPr>
          <a:xfrm>
            <a:off x="0" y="232627"/>
            <a:ext cx="8831038" cy="447040"/>
          </a:xfrm>
          <a:prstGeom prst="rect"/>
        </p:spPr>
        <p:txBody>
          <a:bodyPr rtlCol="0" wrap="square">
            <a:spAutoFit/>
          </a:bodyPr>
          <a:p>
            <a:r>
              <a:rPr b="1" sz="2400" lang="en-US">
                <a:solidFill>
                  <a:srgbClr val="000000"/>
                </a:solidFill>
              </a:rPr>
              <a:t>EXAMPLE. ACCELERATED IDOVENTRICULAR RHYTHM (AIVR)</a:t>
            </a:r>
            <a:endParaRPr b="1" sz="2800" lang="en-US">
              <a:solidFill>
                <a:srgbClr val="000000"/>
              </a:solidFill>
            </a:endParaRPr>
          </a:p>
        </p:txBody>
      </p:sp>
      <p:pic>
        <p:nvPicPr>
          <p:cNvPr id="2097158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168375" y="936858"/>
            <a:ext cx="8833156" cy="3938467"/>
          </a:xfrm>
          <a:prstGeom prst="rect"/>
        </p:spPr>
      </p:pic>
      <p:sp>
        <p:nvSpPr>
          <p:cNvPr id="1048613" name=""/>
          <p:cNvSpPr txBox="1"/>
          <p:nvPr/>
        </p:nvSpPr>
        <p:spPr>
          <a:xfrm>
            <a:off x="168374" y="5132516"/>
            <a:ext cx="8617096" cy="1348740"/>
          </a:xfrm>
          <a:prstGeom prst="rect"/>
        </p:spPr>
        <p:txBody>
          <a:bodyPr rtlCol="0" wrap="square">
            <a:spAutoFit/>
          </a:bodyPr>
          <a:p>
            <a:r>
              <a:rPr sz="2800" lang="en-US">
                <a:solidFill>
                  <a:srgbClr val="000000"/>
                </a:solidFill>
              </a:rPr>
              <a:t>•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A</a:t>
            </a:r>
            <a:r>
              <a:rPr sz="2800" lang="en-US">
                <a:solidFill>
                  <a:srgbClr val="000000"/>
                </a:solidFill>
              </a:rPr>
              <a:t>b</a:t>
            </a:r>
            <a:r>
              <a:rPr sz="2800" lang="en-US">
                <a:solidFill>
                  <a:srgbClr val="000000"/>
                </a:solidFill>
              </a:rPr>
              <a:t>s</a:t>
            </a:r>
            <a:r>
              <a:rPr sz="2800" lang="en-US">
                <a:solidFill>
                  <a:srgbClr val="000000"/>
                </a:solidFill>
              </a:rPr>
              <a:t>e</a:t>
            </a:r>
            <a:r>
              <a:rPr sz="2800" lang="en-US">
                <a:solidFill>
                  <a:srgbClr val="000000"/>
                </a:solidFill>
              </a:rPr>
              <a:t>n</a:t>
            </a:r>
            <a:r>
              <a:rPr sz="2800" lang="en-US">
                <a:solidFill>
                  <a:srgbClr val="000000"/>
                </a:solidFill>
              </a:rPr>
              <a:t>c</a:t>
            </a:r>
            <a:r>
              <a:rPr sz="2800" lang="en-US">
                <a:solidFill>
                  <a:srgbClr val="000000"/>
                </a:solidFill>
              </a:rPr>
              <a:t>e </a:t>
            </a:r>
            <a:r>
              <a:rPr sz="2800" lang="en-US">
                <a:solidFill>
                  <a:srgbClr val="000000"/>
                </a:solidFill>
              </a:rPr>
              <a:t>P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w</a:t>
            </a:r>
            <a:r>
              <a:rPr sz="2800" lang="en-US">
                <a:solidFill>
                  <a:srgbClr val="000000"/>
                </a:solidFill>
              </a:rPr>
              <a:t>a</a:t>
            </a:r>
            <a:r>
              <a:rPr sz="2800" lang="en-US">
                <a:solidFill>
                  <a:srgbClr val="000000"/>
                </a:solidFill>
              </a:rPr>
              <a:t>v</a:t>
            </a:r>
            <a:r>
              <a:rPr sz="2800" lang="en-US">
                <a:solidFill>
                  <a:srgbClr val="000000"/>
                </a:solidFill>
              </a:rPr>
              <a:t>e</a:t>
            </a:r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•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W</a:t>
            </a:r>
            <a:r>
              <a:rPr sz="2800" lang="en-US">
                <a:solidFill>
                  <a:srgbClr val="000000"/>
                </a:solidFill>
              </a:rPr>
              <a:t>i</a:t>
            </a:r>
            <a:r>
              <a:rPr sz="2800" lang="en-US">
                <a:solidFill>
                  <a:srgbClr val="000000"/>
                </a:solidFill>
              </a:rPr>
              <a:t>d</a:t>
            </a:r>
            <a:r>
              <a:rPr sz="2800" lang="en-US">
                <a:solidFill>
                  <a:srgbClr val="000000"/>
                </a:solidFill>
              </a:rPr>
              <a:t>e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QRS </a:t>
            </a:r>
            <a:r>
              <a:rPr sz="2800" lang="en-US">
                <a:solidFill>
                  <a:srgbClr val="000000"/>
                </a:solidFill>
              </a:rPr>
              <a:t>complex </a:t>
            </a:r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•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R</a:t>
            </a:r>
            <a:r>
              <a:rPr sz="2800" lang="en-US">
                <a:solidFill>
                  <a:srgbClr val="000000"/>
                </a:solidFill>
              </a:rPr>
              <a:t>a</a:t>
            </a:r>
            <a:r>
              <a:rPr sz="2800" lang="en-US">
                <a:solidFill>
                  <a:srgbClr val="000000"/>
                </a:solidFill>
              </a:rPr>
              <a:t>t</a:t>
            </a:r>
            <a:r>
              <a:rPr sz="2800" lang="en-US">
                <a:solidFill>
                  <a:srgbClr val="000000"/>
                </a:solidFill>
              </a:rPr>
              <a:t>e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8</a:t>
            </a:r>
            <a:r>
              <a:rPr sz="2800" lang="en-US">
                <a:solidFill>
                  <a:srgbClr val="000000"/>
                </a:solidFill>
              </a:rPr>
              <a:t>8</a:t>
            </a:r>
            <a:r>
              <a:rPr sz="2800" lang="en-US">
                <a:solidFill>
                  <a:srgbClr val="000000"/>
                </a:solidFill>
              </a:rPr>
              <a:t>b</a:t>
            </a:r>
            <a:r>
              <a:rPr sz="2800" lang="en-US">
                <a:solidFill>
                  <a:srgbClr val="000000"/>
                </a:solidFill>
              </a:rPr>
              <a:t>p</a:t>
            </a:r>
            <a:r>
              <a:rPr sz="2800" lang="en-US">
                <a:solidFill>
                  <a:srgbClr val="000000"/>
                </a:solidFill>
              </a:rPr>
              <a:t>m</a:t>
            </a:r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9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137875" y="847196"/>
            <a:ext cx="8813099" cy="4067699"/>
          </a:xfrm>
          <a:prstGeom prst="rect"/>
        </p:spPr>
      </p:pic>
      <p:sp>
        <p:nvSpPr>
          <p:cNvPr id="1048614" name=""/>
          <p:cNvSpPr txBox="1"/>
          <p:nvPr/>
        </p:nvSpPr>
        <p:spPr>
          <a:xfrm>
            <a:off x="175908" y="0"/>
            <a:ext cx="4000000" cy="624840"/>
          </a:xfrm>
          <a:prstGeom prst="rect"/>
        </p:spPr>
        <p:txBody>
          <a:bodyPr rtlCol="0" wrap="square">
            <a:spAutoFit/>
          </a:bodyPr>
          <a:p>
            <a:r>
              <a:rPr b="1" sz="3600" lang="en-US">
                <a:solidFill>
                  <a:srgbClr val="000000"/>
                </a:solidFill>
              </a:rPr>
              <a:t>E</a:t>
            </a:r>
            <a:r>
              <a:rPr b="1" sz="3600" lang="en-US">
                <a:solidFill>
                  <a:srgbClr val="000000"/>
                </a:solidFill>
              </a:rPr>
              <a:t>x</a:t>
            </a:r>
            <a:r>
              <a:rPr b="1" sz="3600" lang="en-US">
                <a:solidFill>
                  <a:srgbClr val="000000"/>
                </a:solidFill>
              </a:rPr>
              <a:t>a</a:t>
            </a:r>
            <a:r>
              <a:rPr b="1" sz="3600" lang="en-US">
                <a:solidFill>
                  <a:srgbClr val="000000"/>
                </a:solidFill>
              </a:rPr>
              <a:t>m</a:t>
            </a:r>
            <a:r>
              <a:rPr b="1" sz="3600" lang="en-US">
                <a:solidFill>
                  <a:srgbClr val="000000"/>
                </a:solidFill>
              </a:rPr>
              <a:t>ple </a:t>
            </a:r>
            <a:r>
              <a:rPr b="1" sz="3600" lang="en-US">
                <a:solidFill>
                  <a:srgbClr val="000000"/>
                </a:solidFill>
              </a:rPr>
              <a:t>2</a:t>
            </a:r>
            <a:r>
              <a:rPr b="1" sz="3600" lang="en-US">
                <a:solidFill>
                  <a:srgbClr val="000000"/>
                </a:solidFill>
              </a:rPr>
              <a:t>.</a:t>
            </a:r>
            <a:r>
              <a:rPr b="1" sz="3600" lang="en-US">
                <a:solidFill>
                  <a:srgbClr val="000000"/>
                </a:solidFill>
              </a:rPr>
              <a:t> </a:t>
            </a:r>
            <a:r>
              <a:rPr b="1" sz="3600" lang="en-US">
                <a:solidFill>
                  <a:srgbClr val="000000"/>
                </a:solidFill>
              </a:rPr>
              <a:t>A</a:t>
            </a:r>
            <a:r>
              <a:rPr b="1" sz="3600" lang="en-US">
                <a:solidFill>
                  <a:srgbClr val="000000"/>
                </a:solidFill>
              </a:rPr>
              <a:t>I</a:t>
            </a:r>
            <a:r>
              <a:rPr b="1" sz="3600" lang="en-US">
                <a:solidFill>
                  <a:srgbClr val="000000"/>
                </a:solidFill>
              </a:rPr>
              <a:t>V</a:t>
            </a:r>
            <a:r>
              <a:rPr b="1" sz="3600" lang="en-US">
                <a:solidFill>
                  <a:srgbClr val="000000"/>
                </a:solidFill>
              </a:rPr>
              <a:t>R</a:t>
            </a:r>
            <a:endParaRPr b="1" sz="2800" lang="en-US">
              <a:solidFill>
                <a:srgbClr val="000000"/>
              </a:solidFill>
            </a:endParaRPr>
          </a:p>
        </p:txBody>
      </p:sp>
      <p:sp>
        <p:nvSpPr>
          <p:cNvPr id="1048615" name=""/>
          <p:cNvSpPr txBox="1"/>
          <p:nvPr/>
        </p:nvSpPr>
        <p:spPr>
          <a:xfrm>
            <a:off x="175907" y="5283092"/>
            <a:ext cx="7805365" cy="1348740"/>
          </a:xfrm>
          <a:prstGeom prst="rect"/>
        </p:spPr>
        <p:txBody>
          <a:bodyPr rtlCol="0" wrap="square">
            <a:spAutoFit/>
          </a:bodyPr>
          <a:p>
            <a:r>
              <a:rPr sz="2800" lang="en-US">
                <a:solidFill>
                  <a:srgbClr val="000000"/>
                </a:solidFill>
              </a:rPr>
              <a:t>•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A</a:t>
            </a:r>
            <a:r>
              <a:rPr sz="2800" lang="en-US">
                <a:solidFill>
                  <a:srgbClr val="000000"/>
                </a:solidFill>
              </a:rPr>
              <a:t>b</a:t>
            </a:r>
            <a:r>
              <a:rPr sz="2800" lang="en-US">
                <a:solidFill>
                  <a:srgbClr val="000000"/>
                </a:solidFill>
              </a:rPr>
              <a:t>s</a:t>
            </a:r>
            <a:r>
              <a:rPr sz="2800" lang="en-US">
                <a:solidFill>
                  <a:srgbClr val="000000"/>
                </a:solidFill>
              </a:rPr>
              <a:t>e</a:t>
            </a:r>
            <a:r>
              <a:rPr sz="2800" lang="en-US">
                <a:solidFill>
                  <a:srgbClr val="000000"/>
                </a:solidFill>
              </a:rPr>
              <a:t>n</a:t>
            </a:r>
            <a:r>
              <a:rPr sz="2800" lang="en-US">
                <a:solidFill>
                  <a:srgbClr val="000000"/>
                </a:solidFill>
              </a:rPr>
              <a:t>ce </a:t>
            </a:r>
            <a:r>
              <a:rPr sz="2800" lang="en-US">
                <a:solidFill>
                  <a:srgbClr val="000000"/>
                </a:solidFill>
              </a:rPr>
              <a:t>P </a:t>
            </a:r>
            <a:r>
              <a:rPr sz="2800" lang="en-US">
                <a:solidFill>
                  <a:srgbClr val="000000"/>
                </a:solidFill>
              </a:rPr>
              <a:t>wave </a:t>
            </a:r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•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W</a:t>
            </a:r>
            <a:r>
              <a:rPr sz="2800" lang="en-US">
                <a:solidFill>
                  <a:srgbClr val="000000"/>
                </a:solidFill>
              </a:rPr>
              <a:t>i</a:t>
            </a:r>
            <a:r>
              <a:rPr sz="2800" lang="en-US">
                <a:solidFill>
                  <a:srgbClr val="000000"/>
                </a:solidFill>
              </a:rPr>
              <a:t>d</a:t>
            </a:r>
            <a:r>
              <a:rPr sz="2800" lang="en-US">
                <a:solidFill>
                  <a:srgbClr val="000000"/>
                </a:solidFill>
              </a:rPr>
              <a:t>e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QRS </a:t>
            </a:r>
            <a:r>
              <a:rPr sz="2800" lang="en-US">
                <a:solidFill>
                  <a:srgbClr val="000000"/>
                </a:solidFill>
              </a:rPr>
              <a:t>complex </a:t>
            </a:r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•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R</a:t>
            </a:r>
            <a:r>
              <a:rPr sz="2800" lang="en-US">
                <a:solidFill>
                  <a:srgbClr val="000000"/>
                </a:solidFill>
              </a:rPr>
              <a:t>a</a:t>
            </a:r>
            <a:r>
              <a:rPr sz="2800" lang="en-US">
                <a:solidFill>
                  <a:srgbClr val="000000"/>
                </a:solidFill>
              </a:rPr>
              <a:t>t</a:t>
            </a:r>
            <a:r>
              <a:rPr sz="2800" lang="en-US">
                <a:solidFill>
                  <a:srgbClr val="000000"/>
                </a:solidFill>
              </a:rPr>
              <a:t>e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3</a:t>
            </a:r>
            <a:r>
              <a:rPr sz="2800" lang="en-US">
                <a:solidFill>
                  <a:srgbClr val="000000"/>
                </a:solidFill>
              </a:rPr>
              <a:t>0</a:t>
            </a:r>
            <a:r>
              <a:rPr sz="2800" lang="en-US">
                <a:solidFill>
                  <a:srgbClr val="000000"/>
                </a:solidFill>
              </a:rPr>
              <a:t>0</a:t>
            </a:r>
            <a:r>
              <a:rPr sz="2800" lang="en-US">
                <a:solidFill>
                  <a:srgbClr val="000000"/>
                </a:solidFill>
              </a:rPr>
              <a:t>/</a:t>
            </a:r>
            <a:r>
              <a:rPr sz="2800" lang="en-US">
                <a:solidFill>
                  <a:srgbClr val="000000"/>
                </a:solidFill>
              </a:rPr>
              <a:t>5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=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6</a:t>
            </a:r>
            <a:r>
              <a:rPr sz="2800" lang="en-US">
                <a:solidFill>
                  <a:srgbClr val="000000"/>
                </a:solidFill>
              </a:rPr>
              <a:t>0</a:t>
            </a:r>
            <a:r>
              <a:rPr sz="2800" lang="en-US">
                <a:solidFill>
                  <a:srgbClr val="000000"/>
                </a:solidFill>
              </a:rPr>
              <a:t>b</a:t>
            </a:r>
            <a:r>
              <a:rPr sz="2800" lang="en-US">
                <a:solidFill>
                  <a:srgbClr val="000000"/>
                </a:solidFill>
              </a:rPr>
              <a:t>p</a:t>
            </a:r>
            <a:r>
              <a:rPr sz="2800" lang="en-US">
                <a:solidFill>
                  <a:srgbClr val="000000"/>
                </a:solidFill>
              </a:rPr>
              <a:t>m</a:t>
            </a:r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"/>
          <p:cNvSpPr txBox="1"/>
          <p:nvPr/>
        </p:nvSpPr>
        <p:spPr>
          <a:xfrm>
            <a:off x="1505815" y="139110"/>
            <a:ext cx="7523131" cy="624840"/>
          </a:xfrm>
          <a:prstGeom prst="rect"/>
        </p:spPr>
        <p:txBody>
          <a:bodyPr rtlCol="0" wrap="square">
            <a:spAutoFit/>
          </a:bodyPr>
          <a:p>
            <a:r>
              <a:rPr b="1" sz="3600" lang="en-US">
                <a:solidFill>
                  <a:srgbClr val="000000"/>
                </a:solidFill>
              </a:rPr>
              <a:t>V</a:t>
            </a:r>
            <a:r>
              <a:rPr b="1" sz="3600" lang="en-US">
                <a:solidFill>
                  <a:srgbClr val="000000"/>
                </a:solidFill>
              </a:rPr>
              <a:t>E</a:t>
            </a:r>
            <a:r>
              <a:rPr b="1" sz="3600" lang="en-US">
                <a:solidFill>
                  <a:srgbClr val="000000"/>
                </a:solidFill>
              </a:rPr>
              <a:t>NTRICULAR </a:t>
            </a:r>
            <a:r>
              <a:rPr b="1" sz="3600" lang="en-US">
                <a:solidFill>
                  <a:srgbClr val="000000"/>
                </a:solidFill>
              </a:rPr>
              <a:t>T</a:t>
            </a:r>
            <a:r>
              <a:rPr b="1" sz="3600" lang="en-US">
                <a:solidFill>
                  <a:srgbClr val="000000"/>
                </a:solidFill>
              </a:rPr>
              <a:t>A</a:t>
            </a:r>
            <a:r>
              <a:rPr b="1" sz="3600" lang="en-US">
                <a:solidFill>
                  <a:srgbClr val="000000"/>
                </a:solidFill>
              </a:rPr>
              <a:t>C</a:t>
            </a:r>
            <a:r>
              <a:rPr b="1" sz="3600" lang="en-US">
                <a:solidFill>
                  <a:srgbClr val="000000"/>
                </a:solidFill>
              </a:rPr>
              <a:t>H</a:t>
            </a:r>
            <a:r>
              <a:rPr b="1" sz="3600" lang="en-US">
                <a:solidFill>
                  <a:srgbClr val="000000"/>
                </a:solidFill>
              </a:rPr>
              <a:t>Y</a:t>
            </a:r>
            <a:r>
              <a:rPr b="1" sz="3600" lang="en-US">
                <a:solidFill>
                  <a:srgbClr val="000000"/>
                </a:solidFill>
              </a:rPr>
              <a:t>C</a:t>
            </a:r>
            <a:r>
              <a:rPr b="1" sz="3600" lang="en-US">
                <a:solidFill>
                  <a:srgbClr val="000000"/>
                </a:solidFill>
              </a:rPr>
              <a:t>ARDIA </a:t>
            </a:r>
            <a:endParaRPr b="1" sz="2800" lang="en-US">
              <a:solidFill>
                <a:srgbClr val="000000"/>
              </a:solidFill>
            </a:endParaRPr>
          </a:p>
        </p:txBody>
      </p:sp>
      <p:sp>
        <p:nvSpPr>
          <p:cNvPr id="1048617" name=""/>
          <p:cNvSpPr txBox="1"/>
          <p:nvPr/>
        </p:nvSpPr>
        <p:spPr>
          <a:xfrm>
            <a:off x="238238" y="1017003"/>
            <a:ext cx="8762504" cy="5539740"/>
          </a:xfrm>
          <a:prstGeom prst="rect"/>
        </p:spPr>
        <p:txBody>
          <a:bodyPr rtlCol="0" wrap="square">
            <a:spAutoFit/>
          </a:bodyPr>
          <a:p>
            <a:r>
              <a:rPr sz="2800" lang="en-US">
                <a:solidFill>
                  <a:srgbClr val="000000"/>
                </a:solidFill>
              </a:rPr>
              <a:t>▪ Ventricular tachycardia almost always occurs in diseased hearts. </a:t>
            </a:r>
            <a:endParaRPr sz="2800" lang="en-US">
              <a:solidFill>
                <a:srgbClr val="000000"/>
              </a:solidFill>
            </a:endParaRPr>
          </a:p>
          <a:p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▪ Rhythm in which three or more PVCs arise in sequence at a rate greater than 1</a:t>
            </a:r>
            <a:r>
              <a:rPr sz="2800" lang="en-US">
                <a:solidFill>
                  <a:srgbClr val="000000"/>
                </a:solidFill>
              </a:rPr>
              <a:t>5</a:t>
            </a:r>
            <a:r>
              <a:rPr sz="2800" lang="en-US">
                <a:solidFill>
                  <a:srgbClr val="000000"/>
                </a:solidFill>
              </a:rPr>
              <a:t>0 beats per </a:t>
            </a:r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minute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a</a:t>
            </a:r>
            <a:r>
              <a:rPr sz="2800" lang="en-US">
                <a:solidFill>
                  <a:srgbClr val="000000"/>
                </a:solidFill>
              </a:rPr>
              <a:t>n</a:t>
            </a:r>
            <a:r>
              <a:rPr sz="2800" lang="en-US">
                <a:solidFill>
                  <a:srgbClr val="000000"/>
                </a:solidFill>
              </a:rPr>
              <a:t>d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a</a:t>
            </a:r>
            <a:r>
              <a:rPr sz="2800" lang="en-US">
                <a:solidFill>
                  <a:srgbClr val="000000"/>
                </a:solidFill>
              </a:rPr>
              <a:t>b</a:t>
            </a:r>
            <a:r>
              <a:rPr sz="2800" lang="en-US">
                <a:solidFill>
                  <a:srgbClr val="000000"/>
                </a:solidFill>
              </a:rPr>
              <a:t>o</a:t>
            </a:r>
            <a:r>
              <a:rPr sz="2800" lang="en-US">
                <a:solidFill>
                  <a:srgbClr val="000000"/>
                </a:solidFill>
              </a:rPr>
              <a:t>v</a:t>
            </a:r>
            <a:r>
              <a:rPr sz="2800" lang="en-US">
                <a:solidFill>
                  <a:srgbClr val="000000"/>
                </a:solidFill>
              </a:rPr>
              <a:t>e</a:t>
            </a:r>
            <a:r>
              <a:rPr sz="2800" lang="en-US">
                <a:solidFill>
                  <a:srgbClr val="000000"/>
                </a:solidFill>
              </a:rPr>
              <a:t>.</a:t>
            </a:r>
            <a:endParaRPr sz="2800" lang="en-US">
              <a:solidFill>
                <a:srgbClr val="000000"/>
              </a:solidFill>
            </a:endParaRPr>
          </a:p>
          <a:p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▪ V-tach can quickly deteriorate into ventricular fibrillation</a:t>
            </a:r>
            <a:r>
              <a:rPr sz="2800" lang="en-US">
                <a:solidFill>
                  <a:srgbClr val="000000"/>
                </a:solidFill>
              </a:rPr>
              <a:t>.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T</a:t>
            </a:r>
            <a:r>
              <a:rPr sz="2800" lang="en-US">
                <a:solidFill>
                  <a:srgbClr val="000000"/>
                </a:solidFill>
              </a:rPr>
              <a:t>h</a:t>
            </a:r>
            <a:r>
              <a:rPr sz="2800" lang="en-US">
                <a:solidFill>
                  <a:srgbClr val="000000"/>
                </a:solidFill>
              </a:rPr>
              <a:t>e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c</a:t>
            </a:r>
            <a:r>
              <a:rPr sz="2800" lang="en-US">
                <a:solidFill>
                  <a:srgbClr val="000000"/>
                </a:solidFill>
              </a:rPr>
              <a:t>a</a:t>
            </a:r>
            <a:r>
              <a:rPr sz="2800" lang="en-US">
                <a:solidFill>
                  <a:srgbClr val="000000"/>
                </a:solidFill>
              </a:rPr>
              <a:t>u</a:t>
            </a:r>
            <a:r>
              <a:rPr sz="2800" lang="en-US">
                <a:solidFill>
                  <a:srgbClr val="000000"/>
                </a:solidFill>
              </a:rPr>
              <a:t>s</a:t>
            </a:r>
            <a:r>
              <a:rPr sz="2800" lang="en-US">
                <a:solidFill>
                  <a:srgbClr val="000000"/>
                </a:solidFill>
              </a:rPr>
              <a:t>e</a:t>
            </a:r>
            <a:r>
              <a:rPr sz="2800" lang="en-US">
                <a:solidFill>
                  <a:srgbClr val="000000"/>
                </a:solidFill>
              </a:rPr>
              <a:t>s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i</a:t>
            </a:r>
            <a:r>
              <a:rPr sz="2800" lang="en-US">
                <a:solidFill>
                  <a:srgbClr val="000000"/>
                </a:solidFill>
              </a:rPr>
              <a:t>n</a:t>
            </a:r>
            <a:r>
              <a:rPr sz="2800" lang="en-US">
                <a:solidFill>
                  <a:srgbClr val="000000"/>
                </a:solidFill>
              </a:rPr>
              <a:t>c</a:t>
            </a:r>
            <a:r>
              <a:rPr sz="2800" lang="en-US">
                <a:solidFill>
                  <a:srgbClr val="000000"/>
                </a:solidFill>
              </a:rPr>
              <a:t>l</a:t>
            </a:r>
            <a:r>
              <a:rPr sz="2800" lang="en-US">
                <a:solidFill>
                  <a:srgbClr val="000000"/>
                </a:solidFill>
              </a:rPr>
              <a:t>u</a:t>
            </a:r>
            <a:r>
              <a:rPr sz="2800" lang="en-US">
                <a:solidFill>
                  <a:srgbClr val="000000"/>
                </a:solidFill>
              </a:rPr>
              <a:t>d</a:t>
            </a:r>
            <a:r>
              <a:rPr sz="2800" lang="en-US">
                <a:solidFill>
                  <a:srgbClr val="000000"/>
                </a:solidFill>
              </a:rPr>
              <a:t>e</a:t>
            </a:r>
            <a:r>
              <a:rPr sz="2800" lang="en-US">
                <a:solidFill>
                  <a:srgbClr val="000000"/>
                </a:solidFill>
              </a:rPr>
              <a:t>s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i</a:t>
            </a:r>
            <a:r>
              <a:rPr sz="2800" lang="en-US">
                <a:solidFill>
                  <a:srgbClr val="000000"/>
                </a:solidFill>
              </a:rPr>
              <a:t>s</a:t>
            </a:r>
            <a:r>
              <a:rPr sz="2800" lang="en-US">
                <a:solidFill>
                  <a:srgbClr val="000000"/>
                </a:solidFill>
              </a:rPr>
              <a:t>c</a:t>
            </a:r>
            <a:r>
              <a:rPr sz="2800" lang="en-US">
                <a:solidFill>
                  <a:srgbClr val="000000"/>
                </a:solidFill>
              </a:rPr>
              <a:t>h</a:t>
            </a:r>
            <a:r>
              <a:rPr sz="2800" lang="en-US">
                <a:solidFill>
                  <a:srgbClr val="000000"/>
                </a:solidFill>
              </a:rPr>
              <a:t>e</a:t>
            </a:r>
            <a:r>
              <a:rPr sz="2800" lang="en-US">
                <a:solidFill>
                  <a:srgbClr val="000000"/>
                </a:solidFill>
              </a:rPr>
              <a:t>m</a:t>
            </a:r>
            <a:r>
              <a:rPr sz="2800" lang="en-US">
                <a:solidFill>
                  <a:srgbClr val="000000"/>
                </a:solidFill>
              </a:rPr>
              <a:t>i</a:t>
            </a:r>
            <a:r>
              <a:rPr sz="2800" lang="en-US">
                <a:solidFill>
                  <a:srgbClr val="000000"/>
                </a:solidFill>
              </a:rPr>
              <a:t>a </a:t>
            </a:r>
            <a:r>
              <a:rPr sz="2800" lang="en-US">
                <a:solidFill>
                  <a:srgbClr val="000000"/>
                </a:solidFill>
              </a:rPr>
              <a:t>h</a:t>
            </a:r>
            <a:r>
              <a:rPr sz="2800" lang="en-US">
                <a:solidFill>
                  <a:srgbClr val="000000"/>
                </a:solidFill>
              </a:rPr>
              <a:t>e</a:t>
            </a:r>
            <a:r>
              <a:rPr sz="2800" lang="en-US">
                <a:solidFill>
                  <a:srgbClr val="000000"/>
                </a:solidFill>
              </a:rPr>
              <a:t>a</a:t>
            </a:r>
            <a:r>
              <a:rPr sz="2800" lang="en-US">
                <a:solidFill>
                  <a:srgbClr val="000000"/>
                </a:solidFill>
              </a:rPr>
              <a:t>rt </a:t>
            </a:r>
            <a:r>
              <a:rPr sz="2800" lang="en-US">
                <a:solidFill>
                  <a:srgbClr val="000000"/>
                </a:solidFill>
              </a:rPr>
              <a:t>disease </a:t>
            </a:r>
            <a:r>
              <a:rPr sz="2800" lang="en-US">
                <a:solidFill>
                  <a:srgbClr val="000000"/>
                </a:solidFill>
              </a:rPr>
              <a:t>a</a:t>
            </a:r>
            <a:r>
              <a:rPr sz="2800" lang="en-US">
                <a:solidFill>
                  <a:srgbClr val="000000"/>
                </a:solidFill>
              </a:rPr>
              <a:t>n</a:t>
            </a:r>
            <a:r>
              <a:rPr sz="2800" lang="en-US">
                <a:solidFill>
                  <a:srgbClr val="000000"/>
                </a:solidFill>
              </a:rPr>
              <a:t>d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c</a:t>
            </a:r>
            <a:r>
              <a:rPr sz="2800" lang="en-US">
                <a:solidFill>
                  <a:srgbClr val="000000"/>
                </a:solidFill>
              </a:rPr>
              <a:t>a</a:t>
            </a:r>
            <a:r>
              <a:rPr sz="2800" lang="en-US">
                <a:solidFill>
                  <a:srgbClr val="000000"/>
                </a:solidFill>
              </a:rPr>
              <a:t>r</a:t>
            </a:r>
            <a:r>
              <a:rPr sz="2800" lang="en-US">
                <a:solidFill>
                  <a:srgbClr val="000000"/>
                </a:solidFill>
              </a:rPr>
              <a:t>d</a:t>
            </a:r>
            <a:r>
              <a:rPr sz="2800" lang="en-US">
                <a:solidFill>
                  <a:srgbClr val="000000"/>
                </a:solidFill>
              </a:rPr>
              <a:t>i</a:t>
            </a:r>
            <a:r>
              <a:rPr sz="2800" lang="en-US">
                <a:solidFill>
                  <a:srgbClr val="000000"/>
                </a:solidFill>
              </a:rPr>
              <a:t>omyopathy</a:t>
            </a:r>
            <a:r>
              <a:rPr sz="2800" lang="en-US">
                <a:solidFill>
                  <a:srgbClr val="000000"/>
                </a:solidFill>
              </a:rPr>
              <a:t>.</a:t>
            </a:r>
            <a:endParaRPr sz="2800" lang="en-US">
              <a:solidFill>
                <a:srgbClr val="000000"/>
              </a:solidFill>
            </a:endParaRPr>
          </a:p>
          <a:p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•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A</a:t>
            </a:r>
            <a:r>
              <a:rPr sz="2800" lang="en-US">
                <a:solidFill>
                  <a:srgbClr val="000000"/>
                </a:solidFill>
              </a:rPr>
              <a:t>ntiarrhythmics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d</a:t>
            </a:r>
            <a:r>
              <a:rPr sz="2800" lang="en-US">
                <a:solidFill>
                  <a:srgbClr val="000000"/>
                </a:solidFill>
              </a:rPr>
              <a:t>r</a:t>
            </a:r>
            <a:r>
              <a:rPr sz="2800" lang="en-US">
                <a:solidFill>
                  <a:srgbClr val="000000"/>
                </a:solidFill>
              </a:rPr>
              <a:t>u</a:t>
            </a:r>
            <a:r>
              <a:rPr sz="2800" lang="en-US">
                <a:solidFill>
                  <a:srgbClr val="000000"/>
                </a:solidFill>
              </a:rPr>
              <a:t>gs </a:t>
            </a:r>
            <a:r>
              <a:rPr sz="2800" lang="en-US">
                <a:solidFill>
                  <a:srgbClr val="000000"/>
                </a:solidFill>
              </a:rPr>
              <a:t>s</a:t>
            </a:r>
            <a:r>
              <a:rPr sz="2800" lang="en-US">
                <a:solidFill>
                  <a:srgbClr val="000000"/>
                </a:solidFill>
              </a:rPr>
              <a:t>u</a:t>
            </a:r>
            <a:r>
              <a:rPr sz="2800" lang="en-US">
                <a:solidFill>
                  <a:srgbClr val="000000"/>
                </a:solidFill>
              </a:rPr>
              <a:t>c</a:t>
            </a:r>
            <a:r>
              <a:rPr sz="2800" lang="en-US">
                <a:solidFill>
                  <a:srgbClr val="000000"/>
                </a:solidFill>
              </a:rPr>
              <a:t>h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a</a:t>
            </a:r>
            <a:r>
              <a:rPr sz="2800" lang="en-US">
                <a:solidFill>
                  <a:srgbClr val="000000"/>
                </a:solidFill>
              </a:rPr>
              <a:t>s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Amiodaron </a:t>
            </a:r>
            <a:r>
              <a:rPr sz="2800" lang="en-US">
                <a:solidFill>
                  <a:srgbClr val="000000"/>
                </a:solidFill>
              </a:rPr>
              <a:t>a</a:t>
            </a:r>
            <a:r>
              <a:rPr sz="2800" lang="en-US">
                <a:solidFill>
                  <a:srgbClr val="000000"/>
                </a:solidFill>
              </a:rPr>
              <a:t>r</a:t>
            </a:r>
            <a:r>
              <a:rPr sz="2800" lang="en-US">
                <a:solidFill>
                  <a:srgbClr val="000000"/>
                </a:solidFill>
              </a:rPr>
              <a:t>e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u</a:t>
            </a:r>
            <a:r>
              <a:rPr sz="2800" lang="en-US">
                <a:solidFill>
                  <a:srgbClr val="000000"/>
                </a:solidFill>
              </a:rPr>
              <a:t>s</a:t>
            </a:r>
            <a:r>
              <a:rPr sz="2800" lang="en-US">
                <a:solidFill>
                  <a:srgbClr val="000000"/>
                </a:solidFill>
              </a:rPr>
              <a:t>e</a:t>
            </a:r>
            <a:r>
              <a:rPr sz="2800" lang="en-US">
                <a:solidFill>
                  <a:srgbClr val="000000"/>
                </a:solidFill>
              </a:rPr>
              <a:t>d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t</a:t>
            </a:r>
            <a:r>
              <a:rPr sz="2800" lang="en-US">
                <a:solidFill>
                  <a:srgbClr val="000000"/>
                </a:solidFill>
              </a:rPr>
              <a:t>o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r</a:t>
            </a:r>
            <a:r>
              <a:rPr sz="2800" lang="en-US">
                <a:solidFill>
                  <a:srgbClr val="000000"/>
                </a:solidFill>
              </a:rPr>
              <a:t>e</a:t>
            </a:r>
            <a:r>
              <a:rPr sz="2800" lang="en-US">
                <a:solidFill>
                  <a:srgbClr val="000000"/>
                </a:solidFill>
              </a:rPr>
              <a:t>s</a:t>
            </a:r>
            <a:r>
              <a:rPr sz="2800" lang="en-US">
                <a:solidFill>
                  <a:srgbClr val="000000"/>
                </a:solidFill>
              </a:rPr>
              <a:t>t</a:t>
            </a:r>
            <a:r>
              <a:rPr sz="2800" lang="en-US">
                <a:solidFill>
                  <a:srgbClr val="000000"/>
                </a:solidFill>
              </a:rPr>
              <a:t>o</a:t>
            </a:r>
            <a:r>
              <a:rPr sz="2800" lang="en-US">
                <a:solidFill>
                  <a:srgbClr val="000000"/>
                </a:solidFill>
              </a:rPr>
              <a:t>re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n</a:t>
            </a:r>
            <a:r>
              <a:rPr sz="2800" lang="en-US">
                <a:solidFill>
                  <a:srgbClr val="000000"/>
                </a:solidFill>
              </a:rPr>
              <a:t>o</a:t>
            </a:r>
            <a:r>
              <a:rPr sz="2800" lang="en-US">
                <a:solidFill>
                  <a:srgbClr val="000000"/>
                </a:solidFill>
              </a:rPr>
              <a:t>mal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h</a:t>
            </a:r>
            <a:r>
              <a:rPr sz="2800" lang="en-US">
                <a:solidFill>
                  <a:srgbClr val="000000"/>
                </a:solidFill>
              </a:rPr>
              <a:t>e</a:t>
            </a:r>
            <a:r>
              <a:rPr sz="2800" lang="en-US">
                <a:solidFill>
                  <a:srgbClr val="000000"/>
                </a:solidFill>
              </a:rPr>
              <a:t>a</a:t>
            </a:r>
            <a:r>
              <a:rPr sz="2800" lang="en-US">
                <a:solidFill>
                  <a:srgbClr val="000000"/>
                </a:solidFill>
              </a:rPr>
              <a:t>rt </a:t>
            </a:r>
            <a:r>
              <a:rPr sz="2800" lang="en-US">
                <a:solidFill>
                  <a:srgbClr val="000000"/>
                </a:solidFill>
              </a:rPr>
              <a:t>rate</a:t>
            </a:r>
            <a:r>
              <a:rPr sz="2800" lang="en-US">
                <a:solidFill>
                  <a:srgbClr val="000000"/>
                </a:solidFill>
              </a:rPr>
              <a:t>.</a:t>
            </a:r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0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0" y="971484"/>
            <a:ext cx="9144000" cy="5373175"/>
          </a:xfrm>
          <a:prstGeom prst="rect"/>
        </p:spPr>
      </p:pic>
      <p:sp>
        <p:nvSpPr>
          <p:cNvPr id="1048618" name=""/>
          <p:cNvSpPr txBox="1"/>
          <p:nvPr/>
        </p:nvSpPr>
        <p:spPr>
          <a:xfrm>
            <a:off x="0" y="284937"/>
            <a:ext cx="9291671" cy="510540"/>
          </a:xfrm>
          <a:prstGeom prst="rect"/>
        </p:spPr>
        <p:txBody>
          <a:bodyPr rtlCol="0" wrap="square">
            <a:spAutoFit/>
          </a:bodyPr>
          <a:p>
            <a:r>
              <a:rPr b="1" sz="2800" lang="en-US">
                <a:solidFill>
                  <a:srgbClr val="000000"/>
                </a:solidFill>
              </a:rPr>
              <a:t>E</a:t>
            </a:r>
            <a:r>
              <a:rPr b="1" sz="2800" lang="en-US">
                <a:solidFill>
                  <a:srgbClr val="000000"/>
                </a:solidFill>
              </a:rPr>
              <a:t>X</a:t>
            </a:r>
            <a:r>
              <a:rPr b="1" sz="2800" lang="en-US">
                <a:solidFill>
                  <a:srgbClr val="000000"/>
                </a:solidFill>
              </a:rPr>
              <a:t>A</a:t>
            </a:r>
            <a:r>
              <a:rPr b="1" sz="2800" lang="en-US">
                <a:solidFill>
                  <a:srgbClr val="000000"/>
                </a:solidFill>
              </a:rPr>
              <a:t>M</a:t>
            </a:r>
            <a:r>
              <a:rPr b="1" sz="2800" lang="en-US">
                <a:solidFill>
                  <a:srgbClr val="000000"/>
                </a:solidFill>
              </a:rPr>
              <a:t>PLE </a:t>
            </a:r>
            <a:r>
              <a:rPr b="1" sz="2800" lang="en-US">
                <a:solidFill>
                  <a:srgbClr val="000000"/>
                </a:solidFill>
              </a:rPr>
              <a:t>O</a:t>
            </a:r>
            <a:r>
              <a:rPr b="1" sz="2800" lang="en-US">
                <a:solidFill>
                  <a:srgbClr val="000000"/>
                </a:solidFill>
              </a:rPr>
              <a:t>F</a:t>
            </a:r>
            <a:r>
              <a:rPr b="1" sz="2800" lang="en-US">
                <a:solidFill>
                  <a:srgbClr val="000000"/>
                </a:solidFill>
              </a:rPr>
              <a:t> </a:t>
            </a:r>
            <a:r>
              <a:rPr b="1" sz="2800" lang="en-US">
                <a:solidFill>
                  <a:srgbClr val="000000"/>
                </a:solidFill>
              </a:rPr>
              <a:t>V</a:t>
            </a:r>
            <a:r>
              <a:rPr b="1" sz="2800" lang="en-US">
                <a:solidFill>
                  <a:srgbClr val="000000"/>
                </a:solidFill>
              </a:rPr>
              <a:t>E</a:t>
            </a:r>
            <a:r>
              <a:rPr b="1" sz="2800" lang="en-US">
                <a:solidFill>
                  <a:srgbClr val="000000"/>
                </a:solidFill>
              </a:rPr>
              <a:t>N</a:t>
            </a:r>
            <a:r>
              <a:rPr b="1" sz="2800" lang="en-US">
                <a:solidFill>
                  <a:srgbClr val="000000"/>
                </a:solidFill>
              </a:rPr>
              <a:t>T</a:t>
            </a:r>
            <a:r>
              <a:rPr b="1" sz="2800" lang="en-US">
                <a:solidFill>
                  <a:srgbClr val="000000"/>
                </a:solidFill>
              </a:rPr>
              <a:t>R</a:t>
            </a:r>
            <a:r>
              <a:rPr b="1" sz="2800" lang="en-US">
                <a:solidFill>
                  <a:srgbClr val="000000"/>
                </a:solidFill>
              </a:rPr>
              <a:t>I</a:t>
            </a:r>
            <a:r>
              <a:rPr b="1" sz="2800" lang="en-US">
                <a:solidFill>
                  <a:srgbClr val="000000"/>
                </a:solidFill>
              </a:rPr>
              <a:t>C</a:t>
            </a:r>
            <a:r>
              <a:rPr b="1" sz="2800" lang="en-US">
                <a:solidFill>
                  <a:srgbClr val="000000"/>
                </a:solidFill>
              </a:rPr>
              <a:t>U</a:t>
            </a:r>
            <a:r>
              <a:rPr b="1" sz="2800" lang="en-US">
                <a:solidFill>
                  <a:srgbClr val="000000"/>
                </a:solidFill>
              </a:rPr>
              <a:t>LAR </a:t>
            </a:r>
            <a:r>
              <a:rPr b="1" sz="2800" lang="en-US">
                <a:solidFill>
                  <a:srgbClr val="000000"/>
                </a:solidFill>
              </a:rPr>
              <a:t>T</a:t>
            </a:r>
            <a:r>
              <a:rPr b="1" sz="2800" lang="en-US">
                <a:solidFill>
                  <a:srgbClr val="000000"/>
                </a:solidFill>
              </a:rPr>
              <a:t>A</a:t>
            </a:r>
            <a:r>
              <a:rPr b="1" sz="2800" lang="en-US">
                <a:solidFill>
                  <a:srgbClr val="000000"/>
                </a:solidFill>
              </a:rPr>
              <a:t>C</a:t>
            </a:r>
            <a:r>
              <a:rPr b="1" sz="2800" lang="en-US">
                <a:solidFill>
                  <a:srgbClr val="000000"/>
                </a:solidFill>
              </a:rPr>
              <a:t>H</a:t>
            </a:r>
            <a:r>
              <a:rPr b="1" sz="2800" lang="en-US">
                <a:solidFill>
                  <a:srgbClr val="000000"/>
                </a:solidFill>
              </a:rPr>
              <a:t>Y</a:t>
            </a:r>
            <a:r>
              <a:rPr b="1" sz="2800" lang="en-US">
                <a:solidFill>
                  <a:srgbClr val="000000"/>
                </a:solidFill>
              </a:rPr>
              <a:t>C</a:t>
            </a:r>
            <a:r>
              <a:rPr b="1" sz="2800" lang="en-US">
                <a:solidFill>
                  <a:srgbClr val="000000"/>
                </a:solidFill>
              </a:rPr>
              <a:t>ARDIA </a:t>
            </a:r>
            <a:r>
              <a:rPr b="1" sz="2800" lang="en-US">
                <a:solidFill>
                  <a:srgbClr val="000000"/>
                </a:solidFill>
              </a:rPr>
              <a:t>(</a:t>
            </a:r>
            <a:r>
              <a:rPr b="1" sz="2800" lang="en-US">
                <a:solidFill>
                  <a:srgbClr val="000000"/>
                </a:solidFill>
              </a:rPr>
              <a:t>V</a:t>
            </a:r>
            <a:r>
              <a:rPr b="1" sz="2800" lang="en-US">
                <a:solidFill>
                  <a:srgbClr val="000000"/>
                </a:solidFill>
              </a:rPr>
              <a:t>-</a:t>
            </a:r>
            <a:r>
              <a:rPr b="1" sz="2800" lang="en-US">
                <a:solidFill>
                  <a:srgbClr val="000000"/>
                </a:solidFill>
              </a:rPr>
              <a:t>T</a:t>
            </a:r>
            <a:r>
              <a:rPr b="1" sz="2800" lang="en-US">
                <a:solidFill>
                  <a:srgbClr val="000000"/>
                </a:solidFill>
              </a:rPr>
              <a:t>A</a:t>
            </a:r>
            <a:r>
              <a:rPr b="1" sz="2800" lang="en-US">
                <a:solidFill>
                  <a:srgbClr val="000000"/>
                </a:solidFill>
              </a:rPr>
              <a:t>C</a:t>
            </a:r>
            <a:r>
              <a:rPr b="1" sz="2800" lang="en-US">
                <a:solidFill>
                  <a:srgbClr val="000000"/>
                </a:solidFill>
              </a:rPr>
              <a:t>H</a:t>
            </a:r>
            <a:r>
              <a:rPr b="1" sz="2800" lang="en-US">
                <a:solidFill>
                  <a:srgbClr val="000000"/>
                </a:solidFill>
              </a:rPr>
              <a:t>)</a:t>
            </a:r>
            <a:endParaRPr b="1"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"/>
          <p:cNvSpPr txBox="1"/>
          <p:nvPr/>
        </p:nvSpPr>
        <p:spPr>
          <a:xfrm>
            <a:off x="156828" y="281504"/>
            <a:ext cx="4000000" cy="574039"/>
          </a:xfrm>
          <a:prstGeom prst="rect"/>
        </p:spPr>
        <p:txBody>
          <a:bodyPr rtlCol="0" wrap="square">
            <a:spAutoFit/>
          </a:bodyPr>
          <a:p>
            <a:r>
              <a:rPr b="1" sz="3200" lang="en-US">
                <a:solidFill>
                  <a:srgbClr val="000000"/>
                </a:solidFill>
              </a:rPr>
              <a:t>E</a:t>
            </a:r>
            <a:r>
              <a:rPr b="1" sz="3200" lang="en-US">
                <a:solidFill>
                  <a:srgbClr val="000000"/>
                </a:solidFill>
              </a:rPr>
              <a:t>XAMPLE </a:t>
            </a:r>
            <a:r>
              <a:rPr b="1" sz="3200" lang="en-US">
                <a:solidFill>
                  <a:srgbClr val="000000"/>
                </a:solidFill>
              </a:rPr>
              <a:t>2</a:t>
            </a:r>
            <a:r>
              <a:rPr b="1" sz="3200" lang="en-US">
                <a:solidFill>
                  <a:srgbClr val="000000"/>
                </a:solidFill>
              </a:rPr>
              <a:t>.</a:t>
            </a:r>
            <a:r>
              <a:rPr b="1" sz="3200" lang="en-US">
                <a:solidFill>
                  <a:srgbClr val="000000"/>
                </a:solidFill>
              </a:rPr>
              <a:t> </a:t>
            </a:r>
            <a:r>
              <a:rPr b="1" sz="3200" lang="en-US">
                <a:solidFill>
                  <a:srgbClr val="000000"/>
                </a:solidFill>
              </a:rPr>
              <a:t>V</a:t>
            </a:r>
            <a:r>
              <a:rPr b="1" sz="3200" lang="en-US">
                <a:solidFill>
                  <a:srgbClr val="000000"/>
                </a:solidFill>
              </a:rPr>
              <a:t>-</a:t>
            </a:r>
            <a:r>
              <a:rPr b="1" sz="3200" lang="en-US">
                <a:solidFill>
                  <a:srgbClr val="000000"/>
                </a:solidFill>
              </a:rPr>
              <a:t>tach </a:t>
            </a:r>
            <a:endParaRPr b="1" sz="2800" lang="en-US">
              <a:solidFill>
                <a:srgbClr val="000000"/>
              </a:solidFill>
            </a:endParaRPr>
          </a:p>
        </p:txBody>
      </p:sp>
      <p:pic>
        <p:nvPicPr>
          <p:cNvPr id="2097161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115331" y="993521"/>
            <a:ext cx="8901118" cy="5182351"/>
          </a:xfrm>
          <a:prstGeom prst="rect"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0" name=""/>
          <p:cNvSpPr txBox="1"/>
          <p:nvPr/>
        </p:nvSpPr>
        <p:spPr>
          <a:xfrm>
            <a:off x="1303356" y="251973"/>
            <a:ext cx="6537289" cy="624840"/>
          </a:xfrm>
          <a:prstGeom prst="rect"/>
        </p:spPr>
        <p:txBody>
          <a:bodyPr rtlCol="0" wrap="square">
            <a:spAutoFit/>
          </a:bodyPr>
          <a:p>
            <a:r>
              <a:rPr b="1" sz="3600" lang="en-US">
                <a:solidFill>
                  <a:srgbClr val="000000"/>
                </a:solidFill>
              </a:rPr>
              <a:t>V</a:t>
            </a:r>
            <a:r>
              <a:rPr b="1" sz="3600" lang="en-US">
                <a:solidFill>
                  <a:srgbClr val="000000"/>
                </a:solidFill>
              </a:rPr>
              <a:t>E</a:t>
            </a:r>
            <a:r>
              <a:rPr b="1" sz="3600" lang="en-US">
                <a:solidFill>
                  <a:srgbClr val="000000"/>
                </a:solidFill>
              </a:rPr>
              <a:t>N</a:t>
            </a:r>
            <a:r>
              <a:rPr b="1" sz="3600" lang="en-US">
                <a:solidFill>
                  <a:srgbClr val="000000"/>
                </a:solidFill>
              </a:rPr>
              <a:t>T</a:t>
            </a:r>
            <a:r>
              <a:rPr b="1" sz="3600" lang="en-US">
                <a:solidFill>
                  <a:srgbClr val="000000"/>
                </a:solidFill>
              </a:rPr>
              <a:t>R</a:t>
            </a:r>
            <a:r>
              <a:rPr b="1" sz="3600" lang="en-US">
                <a:solidFill>
                  <a:srgbClr val="000000"/>
                </a:solidFill>
              </a:rPr>
              <a:t>I</a:t>
            </a:r>
            <a:r>
              <a:rPr b="1" sz="3600" lang="en-US">
                <a:solidFill>
                  <a:srgbClr val="000000"/>
                </a:solidFill>
              </a:rPr>
              <a:t>C</a:t>
            </a:r>
            <a:r>
              <a:rPr b="1" sz="3600" lang="en-US">
                <a:solidFill>
                  <a:srgbClr val="000000"/>
                </a:solidFill>
              </a:rPr>
              <a:t>U</a:t>
            </a:r>
            <a:r>
              <a:rPr b="1" sz="3600" lang="en-US">
                <a:solidFill>
                  <a:srgbClr val="000000"/>
                </a:solidFill>
              </a:rPr>
              <a:t>LAR </a:t>
            </a:r>
            <a:r>
              <a:rPr b="1" sz="3600" lang="en-US">
                <a:solidFill>
                  <a:srgbClr val="000000"/>
                </a:solidFill>
              </a:rPr>
              <a:t>F</a:t>
            </a:r>
            <a:r>
              <a:rPr b="1" sz="3600" lang="en-US">
                <a:solidFill>
                  <a:srgbClr val="000000"/>
                </a:solidFill>
              </a:rPr>
              <a:t>I</a:t>
            </a:r>
            <a:r>
              <a:rPr b="1" sz="3600" lang="en-US">
                <a:solidFill>
                  <a:srgbClr val="000000"/>
                </a:solidFill>
              </a:rPr>
              <a:t>B</a:t>
            </a:r>
            <a:r>
              <a:rPr b="1" sz="3600" lang="en-US">
                <a:solidFill>
                  <a:srgbClr val="000000"/>
                </a:solidFill>
              </a:rPr>
              <a:t>R</a:t>
            </a:r>
            <a:r>
              <a:rPr b="1" sz="3600" lang="en-US">
                <a:solidFill>
                  <a:srgbClr val="000000"/>
                </a:solidFill>
              </a:rPr>
              <a:t>I</a:t>
            </a:r>
            <a:r>
              <a:rPr b="1" sz="3600" lang="en-US">
                <a:solidFill>
                  <a:srgbClr val="000000"/>
                </a:solidFill>
              </a:rPr>
              <a:t>L</a:t>
            </a:r>
            <a:r>
              <a:rPr b="1" sz="3600" lang="en-US">
                <a:solidFill>
                  <a:srgbClr val="000000"/>
                </a:solidFill>
              </a:rPr>
              <a:t>L</a:t>
            </a:r>
            <a:r>
              <a:rPr b="1" sz="3600" lang="en-US">
                <a:solidFill>
                  <a:srgbClr val="000000"/>
                </a:solidFill>
              </a:rPr>
              <a:t>A</a:t>
            </a:r>
            <a:r>
              <a:rPr b="1" sz="3600" lang="en-US">
                <a:solidFill>
                  <a:srgbClr val="000000"/>
                </a:solidFill>
              </a:rPr>
              <a:t>T</a:t>
            </a:r>
            <a:r>
              <a:rPr b="1" sz="3600" lang="en-US">
                <a:solidFill>
                  <a:srgbClr val="000000"/>
                </a:solidFill>
              </a:rPr>
              <a:t>I</a:t>
            </a:r>
            <a:r>
              <a:rPr b="1" sz="3600" lang="en-US">
                <a:solidFill>
                  <a:srgbClr val="000000"/>
                </a:solidFill>
              </a:rPr>
              <a:t>ON </a:t>
            </a:r>
            <a:endParaRPr b="1" sz="2800" lang="en-US">
              <a:solidFill>
                <a:srgbClr val="000000"/>
              </a:solidFill>
            </a:endParaRPr>
          </a:p>
        </p:txBody>
      </p:sp>
      <p:sp>
        <p:nvSpPr>
          <p:cNvPr id="1048621" name=""/>
          <p:cNvSpPr txBox="1"/>
          <p:nvPr/>
        </p:nvSpPr>
        <p:spPr>
          <a:xfrm>
            <a:off x="248203" y="1384284"/>
            <a:ext cx="8895797" cy="3025140"/>
          </a:xfrm>
          <a:prstGeom prst="rect"/>
        </p:spPr>
        <p:txBody>
          <a:bodyPr rtlCol="0" wrap="square">
            <a:spAutoFit/>
          </a:bodyPr>
          <a:p>
            <a:r>
              <a:rPr sz="2800" lang="en-US">
                <a:solidFill>
                  <a:srgbClr val="000000"/>
                </a:solidFill>
              </a:rPr>
              <a:t>Ventricular fibrillation (VF) is the most important shockable cardiac arrest rhythm.</a:t>
            </a:r>
            <a:endParaRPr sz="2800" lang="en-US">
              <a:solidFill>
                <a:srgbClr val="000000"/>
              </a:solidFill>
            </a:endParaRPr>
          </a:p>
          <a:p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R</a:t>
            </a:r>
            <a:r>
              <a:rPr sz="2800" lang="en-US">
                <a:solidFill>
                  <a:srgbClr val="000000"/>
                </a:solidFill>
              </a:rPr>
              <a:t>a</a:t>
            </a:r>
            <a:r>
              <a:rPr sz="2800" lang="en-US">
                <a:solidFill>
                  <a:srgbClr val="000000"/>
                </a:solidFill>
              </a:rPr>
              <a:t>t</a:t>
            </a:r>
            <a:r>
              <a:rPr sz="2800" lang="en-US">
                <a:solidFill>
                  <a:srgbClr val="000000"/>
                </a:solidFill>
              </a:rPr>
              <a:t>e</a:t>
            </a:r>
            <a:r>
              <a:rPr sz="2800" lang="en-US">
                <a:solidFill>
                  <a:srgbClr val="000000"/>
                </a:solidFill>
              </a:rPr>
              <a:t>: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3</a:t>
            </a:r>
            <a:r>
              <a:rPr sz="2800" lang="en-US">
                <a:solidFill>
                  <a:srgbClr val="000000"/>
                </a:solidFill>
              </a:rPr>
              <a:t>0</a:t>
            </a:r>
            <a:r>
              <a:rPr sz="2800" lang="en-US">
                <a:solidFill>
                  <a:srgbClr val="000000"/>
                </a:solidFill>
              </a:rPr>
              <a:t>0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t</a:t>
            </a:r>
            <a:r>
              <a:rPr sz="2800" lang="en-US">
                <a:solidFill>
                  <a:srgbClr val="000000"/>
                </a:solidFill>
              </a:rPr>
              <a:t>o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5</a:t>
            </a:r>
            <a:r>
              <a:rPr sz="2800" lang="en-US">
                <a:solidFill>
                  <a:srgbClr val="000000"/>
                </a:solidFill>
              </a:rPr>
              <a:t>0</a:t>
            </a:r>
            <a:r>
              <a:rPr sz="2800" lang="en-US">
                <a:solidFill>
                  <a:srgbClr val="000000"/>
                </a:solidFill>
              </a:rPr>
              <a:t>0</a:t>
            </a:r>
            <a:r>
              <a:rPr sz="2800" lang="en-US">
                <a:solidFill>
                  <a:srgbClr val="000000"/>
                </a:solidFill>
              </a:rPr>
              <a:t>b</a:t>
            </a:r>
            <a:r>
              <a:rPr sz="2800" lang="en-US">
                <a:solidFill>
                  <a:srgbClr val="000000"/>
                </a:solidFill>
              </a:rPr>
              <a:t>p</a:t>
            </a:r>
            <a:r>
              <a:rPr sz="2800" lang="en-US">
                <a:solidFill>
                  <a:srgbClr val="000000"/>
                </a:solidFill>
              </a:rPr>
              <a:t>m</a:t>
            </a:r>
            <a:r>
              <a:rPr sz="2800" lang="en-US">
                <a:solidFill>
                  <a:srgbClr val="000000"/>
                </a:solidFill>
              </a:rPr>
              <a:t>.</a:t>
            </a:r>
            <a:endParaRPr sz="2800" lang="en-US">
              <a:solidFill>
                <a:srgbClr val="000000"/>
              </a:solidFill>
            </a:endParaRPr>
          </a:p>
          <a:p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The ventricles suddenly attempt to contract at rates of up to 500 bpm</a:t>
            </a:r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"/>
          <p:cNvSpPr txBox="1"/>
          <p:nvPr/>
        </p:nvSpPr>
        <p:spPr>
          <a:xfrm>
            <a:off x="344283" y="169453"/>
            <a:ext cx="8949840" cy="510540"/>
          </a:xfrm>
          <a:prstGeom prst="rect"/>
        </p:spPr>
        <p:txBody>
          <a:bodyPr rtlCol="0" wrap="square">
            <a:spAutoFit/>
          </a:bodyPr>
          <a:p>
            <a:r>
              <a:rPr b="1" sz="2800" lang="en-US">
                <a:solidFill>
                  <a:srgbClr val="000000"/>
                </a:solidFill>
              </a:rPr>
              <a:t>E</a:t>
            </a:r>
            <a:r>
              <a:rPr b="1" sz="2800" lang="en-US">
                <a:solidFill>
                  <a:srgbClr val="000000"/>
                </a:solidFill>
              </a:rPr>
              <a:t>XAMPLE </a:t>
            </a:r>
            <a:r>
              <a:rPr b="1" sz="2800" lang="en-US">
                <a:solidFill>
                  <a:srgbClr val="000000"/>
                </a:solidFill>
              </a:rPr>
              <a:t>OF </a:t>
            </a:r>
            <a:r>
              <a:rPr b="1" sz="2800" lang="en-US">
                <a:solidFill>
                  <a:srgbClr val="000000"/>
                </a:solidFill>
              </a:rPr>
              <a:t>VENTRICULAR </a:t>
            </a:r>
            <a:r>
              <a:rPr b="1" sz="2800" lang="en-US">
                <a:solidFill>
                  <a:srgbClr val="000000"/>
                </a:solidFill>
              </a:rPr>
              <a:t>FIBRILLATION </a:t>
            </a:r>
            <a:endParaRPr b="1" sz="2800" lang="en-US">
              <a:solidFill>
                <a:srgbClr val="000000"/>
              </a:solidFill>
            </a:endParaRPr>
          </a:p>
        </p:txBody>
      </p:sp>
      <p:pic>
        <p:nvPicPr>
          <p:cNvPr id="2097162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150122" y="679992"/>
            <a:ext cx="8884963" cy="5167901"/>
          </a:xfrm>
          <a:prstGeom prst="rect"/>
        </p:spPr>
      </p:pic>
      <p:sp>
        <p:nvSpPr>
          <p:cNvPr id="1048623" name=""/>
          <p:cNvSpPr txBox="1"/>
          <p:nvPr/>
        </p:nvSpPr>
        <p:spPr>
          <a:xfrm>
            <a:off x="150121" y="6106366"/>
            <a:ext cx="8935978" cy="447041"/>
          </a:xfrm>
          <a:prstGeom prst="rect"/>
        </p:spPr>
        <p:txBody>
          <a:bodyPr rtlCol="0" wrap="square">
            <a:spAutoFit/>
          </a:bodyPr>
          <a:p>
            <a:r>
              <a:rPr b="1" sz="2400" lang="en-US">
                <a:solidFill>
                  <a:srgbClr val="000000"/>
                </a:solidFill>
              </a:rPr>
              <a:t>Chaotic irregular deflections without identifiable P-QRS-T waves</a:t>
            </a:r>
            <a:endParaRPr b="1"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"/>
          <p:cNvSpPr txBox="1"/>
          <p:nvPr/>
        </p:nvSpPr>
        <p:spPr>
          <a:xfrm>
            <a:off x="214763" y="169454"/>
            <a:ext cx="8546097" cy="510540"/>
          </a:xfrm>
          <a:prstGeom prst="rect"/>
        </p:spPr>
        <p:txBody>
          <a:bodyPr rtlCol="0" wrap="square">
            <a:spAutoFit/>
          </a:bodyPr>
          <a:p>
            <a:r>
              <a:rPr b="1" sz="2800" lang="en-US">
                <a:solidFill>
                  <a:srgbClr val="000000"/>
                </a:solidFill>
              </a:rPr>
              <a:t>E</a:t>
            </a:r>
            <a:r>
              <a:rPr b="1" sz="2800" lang="en-US">
                <a:solidFill>
                  <a:srgbClr val="000000"/>
                </a:solidFill>
              </a:rPr>
              <a:t>XAMPLE </a:t>
            </a:r>
            <a:r>
              <a:rPr b="1" sz="2800" lang="en-US">
                <a:solidFill>
                  <a:srgbClr val="000000"/>
                </a:solidFill>
              </a:rPr>
              <a:t>2</a:t>
            </a:r>
            <a:r>
              <a:rPr b="1" sz="2800" lang="en-US">
                <a:solidFill>
                  <a:srgbClr val="000000"/>
                </a:solidFill>
              </a:rPr>
              <a:t>.</a:t>
            </a:r>
            <a:r>
              <a:rPr b="1" sz="2800" lang="en-US">
                <a:solidFill>
                  <a:srgbClr val="000000"/>
                </a:solidFill>
              </a:rPr>
              <a:t> </a:t>
            </a:r>
            <a:r>
              <a:rPr b="1" sz="2800" lang="en-US">
                <a:solidFill>
                  <a:srgbClr val="000000"/>
                </a:solidFill>
              </a:rPr>
              <a:t>V</a:t>
            </a:r>
            <a:r>
              <a:rPr b="1" sz="2800" lang="en-US">
                <a:solidFill>
                  <a:srgbClr val="000000"/>
                </a:solidFill>
              </a:rPr>
              <a:t>ENTRICULAR </a:t>
            </a:r>
            <a:r>
              <a:rPr b="1" sz="2800" lang="en-US">
                <a:solidFill>
                  <a:srgbClr val="000000"/>
                </a:solidFill>
              </a:rPr>
              <a:t>FIBRILLATION </a:t>
            </a:r>
            <a:endParaRPr b="1" sz="2800" lang="en-US">
              <a:solidFill>
                <a:srgbClr val="000000"/>
              </a:solidFill>
            </a:endParaRPr>
          </a:p>
        </p:txBody>
      </p:sp>
      <p:pic>
        <p:nvPicPr>
          <p:cNvPr id="2097156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0" y="1284590"/>
            <a:ext cx="9144000" cy="4288819"/>
          </a:xfrm>
          <a:prstGeom prst="rect"/>
        </p:spPr>
      </p:pic>
      <p:sp>
        <p:nvSpPr>
          <p:cNvPr id="1048597" name=""/>
          <p:cNvSpPr txBox="1"/>
          <p:nvPr/>
        </p:nvSpPr>
        <p:spPr>
          <a:xfrm>
            <a:off x="0" y="5728493"/>
            <a:ext cx="8636760" cy="929640"/>
          </a:xfrm>
          <a:prstGeom prst="rect"/>
        </p:spPr>
        <p:txBody>
          <a:bodyPr rtlCol="0" wrap="square">
            <a:spAutoFit/>
          </a:bodyPr>
          <a:p>
            <a:r>
              <a:rPr sz="2800" lang="en-US">
                <a:solidFill>
                  <a:srgbClr val="000000"/>
                </a:solidFill>
              </a:rPr>
              <a:t>Chaotic irregular deflections without identifiable P-QRS-T waves</a:t>
            </a:r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4" name=""/>
          <p:cNvSpPr>
            <a:spLocks noGrp="1"/>
          </p:cNvSpPr>
          <p:nvPr>
            <p:ph type="ctrTitle"/>
          </p:nvPr>
        </p:nvSpPr>
        <p:spPr>
          <a:xfrm>
            <a:off x="685799" y="217703"/>
            <a:ext cx="7772400" cy="785060"/>
          </a:xfrm>
        </p:spPr>
        <p:txBody>
          <a:bodyPr>
            <a:normAutofit fontScale="90000"/>
          </a:bodyPr>
          <a:p>
            <a:r>
              <a:rPr lang="en-US"/>
              <a:t>A</a:t>
            </a:r>
            <a:r>
              <a:rPr lang="en-US"/>
              <a:t>g</a:t>
            </a:r>
            <a:r>
              <a:rPr lang="en-US"/>
              <a:t>o</a:t>
            </a:r>
            <a:r>
              <a:rPr lang="en-US"/>
              <a:t>n</a:t>
            </a:r>
            <a:r>
              <a:rPr lang="en-US"/>
              <a:t>a</a:t>
            </a:r>
            <a:r>
              <a:rPr lang="en-US"/>
              <a:t>l</a:t>
            </a:r>
            <a:r>
              <a:rPr lang="en-US"/>
              <a:t> </a:t>
            </a:r>
            <a:r>
              <a:rPr lang="en-US"/>
              <a:t>R</a:t>
            </a:r>
            <a:r>
              <a:rPr lang="en-US"/>
              <a:t>h</a:t>
            </a:r>
            <a:r>
              <a:rPr lang="en-US"/>
              <a:t>y</a:t>
            </a:r>
            <a:r>
              <a:rPr lang="en-US"/>
              <a:t>thm </a:t>
            </a:r>
            <a:endParaRPr lang="en-US"/>
          </a:p>
        </p:txBody>
      </p:sp>
      <p:sp>
        <p:nvSpPr>
          <p:cNvPr id="1048595" name=""/>
          <p:cNvSpPr txBox="1"/>
          <p:nvPr/>
        </p:nvSpPr>
        <p:spPr>
          <a:xfrm>
            <a:off x="192494" y="1179020"/>
            <a:ext cx="8759010" cy="1767840"/>
          </a:xfrm>
          <a:prstGeom prst="rect"/>
        </p:spPr>
        <p:txBody>
          <a:bodyPr rtlCol="0" wrap="square">
            <a:spAutoFit/>
          </a:bodyPr>
          <a:p>
            <a:pPr algn="l"/>
            <a:r>
              <a:rPr sz="2800" lang="en-US">
                <a:solidFill>
                  <a:srgbClr val="000000"/>
                </a:solidFill>
              </a:rPr>
              <a:t>Agonal rhythm is when the Idioventricular rhythm is 20 beats or less </a:t>
            </a:r>
            <a:r>
              <a:rPr sz="2800" lang="en-US">
                <a:solidFill>
                  <a:srgbClr val="000000"/>
                </a:solidFill>
              </a:rPr>
              <a:t>per minute. Frequently is seen as the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last-ordered semblance of a </a:t>
            </a:r>
            <a:r>
              <a:rPr sz="2800" lang="en-US">
                <a:solidFill>
                  <a:srgbClr val="000000"/>
                </a:solidFill>
              </a:rPr>
              <a:t>heart rhythm when resuscitation efforts are unsuccessful.</a:t>
            </a:r>
            <a:endParaRPr sz="2800" lang="en-US">
              <a:solidFill>
                <a:srgbClr val="000000"/>
              </a:solidFill>
            </a:endParaRPr>
          </a:p>
        </p:txBody>
      </p:sp>
      <p:pic>
        <p:nvPicPr>
          <p:cNvPr id="2097155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155422" y="3123117"/>
            <a:ext cx="8833156" cy="3498004"/>
          </a:xfrm>
          <a:prstGeom prst="rect"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4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0" y="1180311"/>
            <a:ext cx="9144000" cy="4187211"/>
          </a:xfrm>
          <a:prstGeom prst="rect"/>
        </p:spPr>
      </p:pic>
      <p:sp>
        <p:nvSpPr>
          <p:cNvPr id="1048591" name=""/>
          <p:cNvSpPr txBox="1"/>
          <p:nvPr/>
        </p:nvSpPr>
        <p:spPr>
          <a:xfrm>
            <a:off x="256743" y="250672"/>
            <a:ext cx="7548805" cy="574040"/>
          </a:xfrm>
          <a:prstGeom prst="rect"/>
        </p:spPr>
        <p:txBody>
          <a:bodyPr rtlCol="0" wrap="square">
            <a:spAutoFit/>
          </a:bodyPr>
          <a:p>
            <a:r>
              <a:rPr b="1" sz="3200" lang="en-US">
                <a:solidFill>
                  <a:srgbClr val="000000"/>
                </a:solidFill>
              </a:rPr>
              <a:t>Another </a:t>
            </a:r>
            <a:r>
              <a:rPr b="1" sz="3200" lang="en-US">
                <a:solidFill>
                  <a:srgbClr val="000000"/>
                </a:solidFill>
              </a:rPr>
              <a:t>E</a:t>
            </a:r>
            <a:r>
              <a:rPr b="1" sz="3200" lang="en-US">
                <a:solidFill>
                  <a:srgbClr val="000000"/>
                </a:solidFill>
              </a:rPr>
              <a:t>xample </a:t>
            </a:r>
            <a:r>
              <a:rPr b="1" sz="3200" lang="en-US">
                <a:solidFill>
                  <a:srgbClr val="000000"/>
                </a:solidFill>
              </a:rPr>
              <a:t>O</a:t>
            </a:r>
            <a:r>
              <a:rPr b="1" sz="3200" lang="en-US">
                <a:solidFill>
                  <a:srgbClr val="000000"/>
                </a:solidFill>
              </a:rPr>
              <a:t>f Agonal Rhythm </a:t>
            </a:r>
            <a:endParaRPr b="1" sz="2800" lang="en-US">
              <a:solidFill>
                <a:srgbClr val="000000"/>
              </a:solidFill>
            </a:endParaRPr>
          </a:p>
        </p:txBody>
      </p:sp>
      <p:sp>
        <p:nvSpPr>
          <p:cNvPr id="1048592" name=""/>
          <p:cNvSpPr txBox="1"/>
          <p:nvPr/>
        </p:nvSpPr>
        <p:spPr>
          <a:xfrm>
            <a:off x="105733" y="5723121"/>
            <a:ext cx="9038267" cy="510540"/>
          </a:xfrm>
          <a:prstGeom prst="rect"/>
        </p:spPr>
        <p:txBody>
          <a:bodyPr rtlCol="0" wrap="square">
            <a:spAutoFit/>
          </a:bodyPr>
          <a:p>
            <a:r>
              <a:rPr b="1" sz="2800" lang="en-US" u="sng">
                <a:solidFill>
                  <a:srgbClr val="000000"/>
                </a:solidFill>
              </a:rPr>
              <a:t>M</a:t>
            </a:r>
            <a:r>
              <a:rPr b="1" sz="2800" lang="en-US" u="sng">
                <a:solidFill>
                  <a:srgbClr val="000000"/>
                </a:solidFill>
              </a:rPr>
              <a:t>e</a:t>
            </a:r>
            <a:r>
              <a:rPr b="1" sz="2800" lang="en-US" u="sng">
                <a:solidFill>
                  <a:srgbClr val="000000"/>
                </a:solidFill>
              </a:rPr>
              <a:t>d</a:t>
            </a:r>
            <a:r>
              <a:rPr b="1" sz="2800" lang="en-US" u="sng">
                <a:solidFill>
                  <a:srgbClr val="000000"/>
                </a:solidFill>
              </a:rPr>
              <a:t>i</a:t>
            </a:r>
            <a:r>
              <a:rPr b="1" sz="2800" lang="en-US" u="sng">
                <a:solidFill>
                  <a:srgbClr val="000000"/>
                </a:solidFill>
              </a:rPr>
              <a:t>c</a:t>
            </a:r>
            <a:r>
              <a:rPr b="1" sz="2800" lang="en-US" u="sng">
                <a:solidFill>
                  <a:srgbClr val="000000"/>
                </a:solidFill>
              </a:rPr>
              <a:t>al </a:t>
            </a:r>
            <a:r>
              <a:rPr b="1" sz="2800" lang="en-US" u="sng">
                <a:solidFill>
                  <a:srgbClr val="000000"/>
                </a:solidFill>
              </a:rPr>
              <a:t>T</a:t>
            </a:r>
            <a:r>
              <a:rPr b="1" sz="2800" lang="en-US" u="sng">
                <a:solidFill>
                  <a:srgbClr val="000000"/>
                </a:solidFill>
              </a:rPr>
              <a:t>r</a:t>
            </a:r>
            <a:r>
              <a:rPr b="1" sz="2800" lang="en-US" u="sng">
                <a:solidFill>
                  <a:srgbClr val="000000"/>
                </a:solidFill>
              </a:rPr>
              <a:t>e</a:t>
            </a:r>
            <a:r>
              <a:rPr b="1" sz="2800" lang="en-US" u="sng">
                <a:solidFill>
                  <a:srgbClr val="000000"/>
                </a:solidFill>
              </a:rPr>
              <a:t>a</a:t>
            </a:r>
            <a:r>
              <a:rPr b="1" sz="2800" lang="en-US" u="sng">
                <a:solidFill>
                  <a:srgbClr val="000000"/>
                </a:solidFill>
              </a:rPr>
              <a:t>t</a:t>
            </a:r>
            <a:r>
              <a:rPr b="1" sz="2800" lang="en-US" u="sng">
                <a:solidFill>
                  <a:srgbClr val="000000"/>
                </a:solidFill>
              </a:rPr>
              <a:t>ment</a:t>
            </a:r>
            <a:r>
              <a:rPr b="1" sz="2800" lang="en-US">
                <a:solidFill>
                  <a:srgbClr val="000000"/>
                </a:solidFill>
              </a:rPr>
              <a:t> </a:t>
            </a:r>
            <a:r>
              <a:rPr b="1" sz="2800" lang="en-US">
                <a:solidFill>
                  <a:srgbClr val="000000"/>
                </a:solidFill>
              </a:rPr>
              <a:t>i</a:t>
            </a:r>
            <a:r>
              <a:rPr b="1" sz="2800" lang="en-US">
                <a:solidFill>
                  <a:srgbClr val="000000"/>
                </a:solidFill>
              </a:rPr>
              <a:t>s</a:t>
            </a:r>
            <a:r>
              <a:rPr b="1" sz="2800" lang="en-US">
                <a:solidFill>
                  <a:srgbClr val="000000"/>
                </a:solidFill>
              </a:rPr>
              <a:t> </a:t>
            </a:r>
            <a:r>
              <a:rPr b="1" sz="2800" lang="en-US">
                <a:solidFill>
                  <a:srgbClr val="000000"/>
                </a:solidFill>
              </a:rPr>
              <a:t>H</a:t>
            </a:r>
            <a:r>
              <a:rPr b="1" sz="2800" lang="en-US">
                <a:solidFill>
                  <a:srgbClr val="000000"/>
                </a:solidFill>
              </a:rPr>
              <a:t>i</a:t>
            </a:r>
            <a:r>
              <a:rPr b="1" sz="2800" lang="en-US">
                <a:solidFill>
                  <a:srgbClr val="000000"/>
                </a:solidFill>
              </a:rPr>
              <a:t>g</a:t>
            </a:r>
            <a:r>
              <a:rPr b="1" sz="2800" lang="en-US">
                <a:solidFill>
                  <a:srgbClr val="000000"/>
                </a:solidFill>
              </a:rPr>
              <a:t>h</a:t>
            </a:r>
            <a:r>
              <a:rPr b="1" sz="2800" lang="en-US">
                <a:solidFill>
                  <a:srgbClr val="000000"/>
                </a:solidFill>
              </a:rPr>
              <a:t> </a:t>
            </a:r>
            <a:r>
              <a:rPr b="1" sz="2800" lang="en-US">
                <a:solidFill>
                  <a:srgbClr val="000000"/>
                </a:solidFill>
              </a:rPr>
              <a:t>Chest </a:t>
            </a:r>
            <a:r>
              <a:rPr b="1" sz="2800" lang="en-US">
                <a:solidFill>
                  <a:srgbClr val="000000"/>
                </a:solidFill>
              </a:rPr>
              <a:t>C</a:t>
            </a:r>
            <a:r>
              <a:rPr b="1" sz="2800" lang="en-US">
                <a:solidFill>
                  <a:srgbClr val="000000"/>
                </a:solidFill>
              </a:rPr>
              <a:t>o</a:t>
            </a:r>
            <a:r>
              <a:rPr b="1" sz="2800" lang="en-US">
                <a:solidFill>
                  <a:srgbClr val="000000"/>
                </a:solidFill>
              </a:rPr>
              <a:t>m</a:t>
            </a:r>
            <a:r>
              <a:rPr b="1" sz="2800" lang="en-US">
                <a:solidFill>
                  <a:srgbClr val="000000"/>
                </a:solidFill>
              </a:rPr>
              <a:t>p</a:t>
            </a:r>
            <a:r>
              <a:rPr b="1" sz="2800" lang="en-US">
                <a:solidFill>
                  <a:srgbClr val="000000"/>
                </a:solidFill>
              </a:rPr>
              <a:t>r</a:t>
            </a:r>
            <a:r>
              <a:rPr b="1" sz="2800" lang="en-US">
                <a:solidFill>
                  <a:srgbClr val="000000"/>
                </a:solidFill>
              </a:rPr>
              <a:t>e</a:t>
            </a:r>
            <a:r>
              <a:rPr b="1" sz="2800" lang="en-US">
                <a:solidFill>
                  <a:srgbClr val="000000"/>
                </a:solidFill>
              </a:rPr>
              <a:t>s</a:t>
            </a:r>
            <a:r>
              <a:rPr b="1" sz="2800" lang="en-US">
                <a:solidFill>
                  <a:srgbClr val="000000"/>
                </a:solidFill>
              </a:rPr>
              <a:t>sion </a:t>
            </a:r>
            <a:r>
              <a:rPr b="1" sz="2800" lang="en-US">
                <a:solidFill>
                  <a:srgbClr val="000000"/>
                </a:solidFill>
              </a:rPr>
              <a:t>C</a:t>
            </a:r>
            <a:r>
              <a:rPr b="1" sz="2800" lang="en-US">
                <a:solidFill>
                  <a:srgbClr val="000000"/>
                </a:solidFill>
              </a:rPr>
              <a:t>P</a:t>
            </a:r>
            <a:r>
              <a:rPr b="1" sz="2800" lang="en-US">
                <a:solidFill>
                  <a:srgbClr val="000000"/>
                </a:solidFill>
              </a:rPr>
              <a:t>R</a:t>
            </a:r>
            <a:r>
              <a:rPr b="1" sz="2800" lang="en-US">
                <a:solidFill>
                  <a:srgbClr val="000000"/>
                </a:solidFill>
              </a:rPr>
              <a:t>.</a:t>
            </a:r>
            <a:endParaRPr b="1"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"/>
          <p:cNvSpPr>
            <a:spLocks noGrp="1"/>
          </p:cNvSpPr>
          <p:nvPr>
            <p:ph type="ctrTitle"/>
          </p:nvPr>
        </p:nvSpPr>
        <p:spPr>
          <a:xfrm>
            <a:off x="685800" y="0"/>
            <a:ext cx="7772400" cy="1049023"/>
          </a:xfrm>
        </p:spPr>
        <p:txBody>
          <a:bodyPr/>
          <a:p>
            <a:r>
              <a:rPr lang="en-US"/>
              <a:t>A</a:t>
            </a:r>
            <a:r>
              <a:rPr lang="en-US"/>
              <a:t>s</a:t>
            </a:r>
            <a:r>
              <a:rPr lang="en-US"/>
              <a:t>y</a:t>
            </a:r>
            <a:r>
              <a:rPr lang="en-US"/>
              <a:t>s</a:t>
            </a:r>
            <a:r>
              <a:rPr lang="en-US"/>
              <a:t>tole </a:t>
            </a:r>
            <a:endParaRPr lang="en-US"/>
          </a:p>
        </p:txBody>
      </p:sp>
      <p:sp>
        <p:nvSpPr>
          <p:cNvPr id="1048587" name=""/>
          <p:cNvSpPr txBox="1"/>
          <p:nvPr/>
        </p:nvSpPr>
        <p:spPr>
          <a:xfrm>
            <a:off x="124098" y="1049023"/>
            <a:ext cx="8610857" cy="1767841"/>
          </a:xfrm>
          <a:prstGeom prst="rect"/>
        </p:spPr>
        <p:txBody>
          <a:bodyPr rtlCol="0" wrap="square">
            <a:spAutoFit/>
          </a:bodyPr>
          <a:p>
            <a:r>
              <a:rPr sz="2800" lang="en-US">
                <a:solidFill>
                  <a:srgbClr val="000000"/>
                </a:solidFill>
              </a:rPr>
              <a:t>▪ Ventricular standstill</a:t>
            </a:r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▪ No palpable pulse</a:t>
            </a:r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▪ No measurable BP</a:t>
            </a:r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▪ Loss of consciousness</a:t>
            </a:r>
            <a:endParaRPr sz="2800" lang="en-US">
              <a:solidFill>
                <a:srgbClr val="000000"/>
              </a:solidFill>
            </a:endParaRPr>
          </a:p>
        </p:txBody>
      </p:sp>
      <p:pic>
        <p:nvPicPr>
          <p:cNvPr id="2097152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-142474" y="2983233"/>
            <a:ext cx="9144000" cy="2885507"/>
          </a:xfrm>
          <a:prstGeom prst="rect"/>
        </p:spPr>
      </p:pic>
      <p:sp>
        <p:nvSpPr>
          <p:cNvPr id="1048588" name=""/>
          <p:cNvSpPr txBox="1"/>
          <p:nvPr/>
        </p:nvSpPr>
        <p:spPr>
          <a:xfrm>
            <a:off x="54573" y="5928360"/>
            <a:ext cx="8403626" cy="929640"/>
          </a:xfrm>
          <a:prstGeom prst="rect"/>
        </p:spPr>
        <p:txBody>
          <a:bodyPr rtlCol="0" wrap="square">
            <a:spAutoFit/>
          </a:bodyPr>
          <a:p>
            <a:r>
              <a:rPr sz="2800" lang="en-US">
                <a:solidFill>
                  <a:srgbClr val="000000"/>
                </a:solidFill>
              </a:rPr>
              <a:t>Z</a:t>
            </a:r>
            <a:r>
              <a:rPr sz="2800" lang="en-US">
                <a:solidFill>
                  <a:srgbClr val="000000"/>
                </a:solidFill>
              </a:rPr>
              <a:t>e</a:t>
            </a:r>
            <a:r>
              <a:rPr sz="2800" lang="en-US">
                <a:solidFill>
                  <a:srgbClr val="000000"/>
                </a:solidFill>
              </a:rPr>
              <a:t>r</a:t>
            </a:r>
            <a:r>
              <a:rPr sz="2800" lang="en-US">
                <a:solidFill>
                  <a:srgbClr val="000000"/>
                </a:solidFill>
              </a:rPr>
              <a:t>o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H</a:t>
            </a:r>
            <a:r>
              <a:rPr sz="2800" lang="en-US">
                <a:solidFill>
                  <a:srgbClr val="000000"/>
                </a:solidFill>
              </a:rPr>
              <a:t>e</a:t>
            </a:r>
            <a:r>
              <a:rPr sz="2800" lang="en-US">
                <a:solidFill>
                  <a:srgbClr val="000000"/>
                </a:solidFill>
              </a:rPr>
              <a:t>a</a:t>
            </a:r>
            <a:r>
              <a:rPr sz="2800" lang="en-US">
                <a:solidFill>
                  <a:srgbClr val="000000"/>
                </a:solidFill>
              </a:rPr>
              <a:t>r</a:t>
            </a:r>
            <a:r>
              <a:rPr sz="2800" lang="en-US">
                <a:solidFill>
                  <a:srgbClr val="000000"/>
                </a:solidFill>
              </a:rPr>
              <a:t>t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r</a:t>
            </a:r>
            <a:r>
              <a:rPr sz="2800" lang="en-US">
                <a:solidFill>
                  <a:srgbClr val="000000"/>
                </a:solidFill>
              </a:rPr>
              <a:t>a</a:t>
            </a:r>
            <a:r>
              <a:rPr sz="2800" lang="en-US">
                <a:solidFill>
                  <a:srgbClr val="000000"/>
                </a:solidFill>
              </a:rPr>
              <a:t>t</a:t>
            </a:r>
            <a:r>
              <a:rPr sz="2800" lang="en-US">
                <a:solidFill>
                  <a:srgbClr val="000000"/>
                </a:solidFill>
              </a:rPr>
              <a:t>e</a:t>
            </a:r>
            <a:r>
              <a:rPr sz="2800" lang="en-US">
                <a:solidFill>
                  <a:srgbClr val="000000"/>
                </a:solidFill>
              </a:rPr>
              <a:t>: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A</a:t>
            </a:r>
            <a:r>
              <a:rPr sz="2800" lang="en-US">
                <a:solidFill>
                  <a:srgbClr val="000000"/>
                </a:solidFill>
              </a:rPr>
              <a:t>s</a:t>
            </a:r>
            <a:r>
              <a:rPr sz="2800" lang="en-US">
                <a:solidFill>
                  <a:srgbClr val="000000"/>
                </a:solidFill>
              </a:rPr>
              <a:t>y</a:t>
            </a:r>
            <a:r>
              <a:rPr sz="2800" lang="en-US">
                <a:solidFill>
                  <a:srgbClr val="000000"/>
                </a:solidFill>
              </a:rPr>
              <a:t>s</a:t>
            </a:r>
            <a:r>
              <a:rPr sz="2800" lang="en-US">
                <a:solidFill>
                  <a:srgbClr val="000000"/>
                </a:solidFill>
              </a:rPr>
              <a:t>tole </a:t>
            </a:r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T</a:t>
            </a:r>
            <a:r>
              <a:rPr sz="2800" lang="en-US">
                <a:solidFill>
                  <a:srgbClr val="000000"/>
                </a:solidFill>
              </a:rPr>
              <a:t>r</a:t>
            </a:r>
            <a:r>
              <a:rPr sz="2800" lang="en-US">
                <a:solidFill>
                  <a:srgbClr val="000000"/>
                </a:solidFill>
              </a:rPr>
              <a:t>e</a:t>
            </a:r>
            <a:r>
              <a:rPr sz="2800" lang="en-US">
                <a:solidFill>
                  <a:srgbClr val="000000"/>
                </a:solidFill>
              </a:rPr>
              <a:t>a</a:t>
            </a:r>
            <a:r>
              <a:rPr sz="2800" lang="en-US">
                <a:solidFill>
                  <a:srgbClr val="000000"/>
                </a:solidFill>
              </a:rPr>
              <a:t>t</a:t>
            </a:r>
            <a:r>
              <a:rPr sz="2800" lang="en-US">
                <a:solidFill>
                  <a:srgbClr val="000000"/>
                </a:solidFill>
              </a:rPr>
              <a:t>ment</a:t>
            </a:r>
            <a:r>
              <a:rPr sz="2800" lang="en-US">
                <a:solidFill>
                  <a:srgbClr val="000000"/>
                </a:solidFill>
              </a:rPr>
              <a:t>: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C</a:t>
            </a:r>
            <a:r>
              <a:rPr sz="2800" lang="en-US">
                <a:solidFill>
                  <a:srgbClr val="000000"/>
                </a:solidFill>
              </a:rPr>
              <a:t>P</a:t>
            </a:r>
            <a:r>
              <a:rPr sz="2800" lang="en-US">
                <a:solidFill>
                  <a:srgbClr val="000000"/>
                </a:solidFill>
              </a:rPr>
              <a:t>R</a:t>
            </a:r>
            <a:r>
              <a:rPr sz="2800" lang="en-US">
                <a:solidFill>
                  <a:srgbClr val="000000"/>
                </a:solidFill>
              </a:rPr>
              <a:t>.</a:t>
            </a:r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9" name=""/>
          <p:cNvSpPr>
            <a:spLocks noGrp="1"/>
          </p:cNvSpPr>
          <p:nvPr>
            <p:ph type="ctrTitle"/>
          </p:nvPr>
        </p:nvSpPr>
        <p:spPr>
          <a:xfrm>
            <a:off x="685799" y="269398"/>
            <a:ext cx="7772400" cy="746820"/>
          </a:xfrm>
        </p:spPr>
        <p:txBody>
          <a:bodyPr>
            <a:normAutofit/>
          </a:bodyPr>
          <a:p>
            <a:r>
              <a:rPr sz="4800" lang="en-US"/>
              <a:t>A</a:t>
            </a:r>
            <a:r>
              <a:rPr sz="4800" lang="en-US"/>
              <a:t>s</a:t>
            </a:r>
            <a:r>
              <a:rPr sz="4800" lang="en-US"/>
              <a:t>y</a:t>
            </a:r>
            <a:r>
              <a:rPr sz="4800" lang="en-US"/>
              <a:t>s</a:t>
            </a:r>
            <a:r>
              <a:rPr sz="4800" lang="en-US"/>
              <a:t>tole </a:t>
            </a:r>
            <a:r>
              <a:rPr sz="4800" lang="en-US"/>
              <a:t>(</a:t>
            </a:r>
            <a:r>
              <a:rPr sz="4800" lang="en-US"/>
              <a:t>C</a:t>
            </a:r>
            <a:r>
              <a:rPr sz="4800" lang="en-US"/>
              <a:t>a</a:t>
            </a:r>
            <a:r>
              <a:rPr sz="4800" lang="en-US"/>
              <a:t>r</a:t>
            </a:r>
            <a:r>
              <a:rPr sz="4800" lang="en-US"/>
              <a:t>d</a:t>
            </a:r>
            <a:r>
              <a:rPr sz="4800" lang="en-US"/>
              <a:t>i</a:t>
            </a:r>
            <a:r>
              <a:rPr sz="4800" lang="en-US"/>
              <a:t>a</a:t>
            </a:r>
            <a:r>
              <a:rPr sz="4800" lang="en-US"/>
              <a:t>c</a:t>
            </a:r>
            <a:r>
              <a:rPr sz="4800" lang="en-US"/>
              <a:t> </a:t>
            </a:r>
            <a:r>
              <a:rPr sz="4800" lang="en-US"/>
              <a:t>S</a:t>
            </a:r>
            <a:r>
              <a:rPr sz="4800" lang="en-US"/>
              <a:t>t</a:t>
            </a:r>
            <a:r>
              <a:rPr sz="4800" lang="en-US"/>
              <a:t>a</a:t>
            </a:r>
            <a:r>
              <a:rPr sz="4800" lang="en-US"/>
              <a:t>n</a:t>
            </a:r>
            <a:r>
              <a:rPr sz="4800" lang="en-US"/>
              <a:t>d</a:t>
            </a:r>
            <a:r>
              <a:rPr sz="4800" lang="en-US"/>
              <a:t>s</a:t>
            </a:r>
            <a:r>
              <a:rPr sz="4800" lang="en-US"/>
              <a:t>t</a:t>
            </a:r>
            <a:r>
              <a:rPr sz="4800" lang="en-US"/>
              <a:t>i</a:t>
            </a:r>
            <a:r>
              <a:rPr sz="4800" lang="en-US"/>
              <a:t>ll</a:t>
            </a:r>
            <a:r>
              <a:rPr sz="4800" lang="en-US"/>
              <a:t>)</a:t>
            </a:r>
            <a:endParaRPr lang="en-US"/>
          </a:p>
        </p:txBody>
      </p:sp>
      <p:pic>
        <p:nvPicPr>
          <p:cNvPr id="2097153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343976" y="1580908"/>
            <a:ext cx="8456048" cy="3140460"/>
          </a:xfrm>
          <a:prstGeom prst="rect"/>
        </p:spPr>
      </p:pic>
      <p:sp>
        <p:nvSpPr>
          <p:cNvPr id="1048590" name=""/>
          <p:cNvSpPr txBox="1"/>
          <p:nvPr/>
        </p:nvSpPr>
        <p:spPr>
          <a:xfrm>
            <a:off x="343976" y="5041694"/>
            <a:ext cx="7380431" cy="929641"/>
          </a:xfrm>
          <a:prstGeom prst="rect"/>
        </p:spPr>
        <p:txBody>
          <a:bodyPr rtlCol="0" wrap="square">
            <a:spAutoFit/>
          </a:bodyPr>
          <a:p>
            <a:r>
              <a:rPr sz="2800" lang="en-US">
                <a:solidFill>
                  <a:srgbClr val="000000"/>
                </a:solidFill>
              </a:rPr>
              <a:t>Zero Heart rate: </a:t>
            </a:r>
            <a:r>
              <a:rPr b="1" sz="2800" lang="en-US">
                <a:solidFill>
                  <a:srgbClr val="000000"/>
                </a:solidFill>
              </a:rPr>
              <a:t>Asystole</a:t>
            </a:r>
            <a:r>
              <a:rPr sz="2800" lang="en-US">
                <a:solidFill>
                  <a:srgbClr val="000000"/>
                </a:solidFill>
              </a:rPr>
              <a:t> </a:t>
            </a:r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Treatment: </a:t>
            </a:r>
            <a:r>
              <a:rPr b="1" sz="2800" lang="en-US">
                <a:solidFill>
                  <a:srgbClr val="000000"/>
                </a:solidFill>
              </a:rPr>
              <a:t>C</a:t>
            </a:r>
            <a:r>
              <a:rPr b="1" sz="2800" lang="en-US">
                <a:solidFill>
                  <a:srgbClr val="000000"/>
                </a:solidFill>
              </a:rPr>
              <a:t>a</a:t>
            </a:r>
            <a:r>
              <a:rPr b="1" sz="2800" lang="en-US">
                <a:solidFill>
                  <a:srgbClr val="000000"/>
                </a:solidFill>
              </a:rPr>
              <a:t>r</a:t>
            </a:r>
            <a:r>
              <a:rPr b="1" sz="2800" lang="en-US">
                <a:solidFill>
                  <a:srgbClr val="000000"/>
                </a:solidFill>
              </a:rPr>
              <a:t>d</a:t>
            </a:r>
            <a:r>
              <a:rPr b="1" sz="2800" lang="en-US">
                <a:solidFill>
                  <a:srgbClr val="000000"/>
                </a:solidFill>
              </a:rPr>
              <a:t>i</a:t>
            </a:r>
            <a:r>
              <a:rPr b="1" sz="2800" lang="en-US">
                <a:solidFill>
                  <a:srgbClr val="000000"/>
                </a:solidFill>
              </a:rPr>
              <a:t>o</a:t>
            </a:r>
            <a:r>
              <a:rPr b="1" sz="2800" lang="en-US">
                <a:solidFill>
                  <a:srgbClr val="000000"/>
                </a:solidFill>
              </a:rPr>
              <a:t>p</a:t>
            </a:r>
            <a:r>
              <a:rPr b="1" sz="2800" lang="en-US">
                <a:solidFill>
                  <a:srgbClr val="000000"/>
                </a:solidFill>
              </a:rPr>
              <a:t>u</a:t>
            </a:r>
            <a:r>
              <a:rPr b="1" sz="2800" lang="en-US">
                <a:solidFill>
                  <a:srgbClr val="000000"/>
                </a:solidFill>
              </a:rPr>
              <a:t>lmonary </a:t>
            </a:r>
            <a:r>
              <a:rPr b="1" sz="2800" lang="en-US">
                <a:solidFill>
                  <a:srgbClr val="000000"/>
                </a:solidFill>
              </a:rPr>
              <a:t>r</a:t>
            </a:r>
            <a:r>
              <a:rPr b="1" sz="2800" lang="en-US">
                <a:solidFill>
                  <a:srgbClr val="000000"/>
                </a:solidFill>
              </a:rPr>
              <a:t>e</a:t>
            </a:r>
            <a:r>
              <a:rPr b="1" sz="2800" lang="en-US">
                <a:solidFill>
                  <a:srgbClr val="000000"/>
                </a:solidFill>
              </a:rPr>
              <a:t>s</a:t>
            </a:r>
            <a:r>
              <a:rPr b="1" sz="2800" lang="en-US">
                <a:solidFill>
                  <a:srgbClr val="000000"/>
                </a:solidFill>
              </a:rPr>
              <a:t>u</a:t>
            </a:r>
            <a:r>
              <a:rPr b="1" sz="2800" lang="en-US">
                <a:solidFill>
                  <a:srgbClr val="000000"/>
                </a:solidFill>
              </a:rPr>
              <a:t>s</a:t>
            </a:r>
            <a:r>
              <a:rPr b="1" sz="2800" lang="en-US">
                <a:solidFill>
                  <a:srgbClr val="000000"/>
                </a:solidFill>
              </a:rPr>
              <a:t>c</a:t>
            </a:r>
            <a:r>
              <a:rPr b="1" sz="2800" lang="en-US">
                <a:solidFill>
                  <a:srgbClr val="000000"/>
                </a:solidFill>
              </a:rPr>
              <a:t>i</a:t>
            </a:r>
            <a:r>
              <a:rPr b="1" sz="2800" lang="en-US">
                <a:solidFill>
                  <a:srgbClr val="000000"/>
                </a:solidFill>
              </a:rPr>
              <a:t>tation </a:t>
            </a:r>
            <a:endParaRPr b="1"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"/>
          <p:cNvSpPr>
            <a:spLocks noGrp="1"/>
          </p:cNvSpPr>
          <p:nvPr>
            <p:ph type="ctrTitle"/>
          </p:nvPr>
        </p:nvSpPr>
        <p:spPr>
          <a:xfrm>
            <a:off x="685799" y="1548845"/>
            <a:ext cx="7772400" cy="2387600"/>
          </a:xfrm>
        </p:spPr>
        <p:txBody>
          <a:bodyPr/>
          <a:p>
            <a:r>
              <a:rPr lang="en-US"/>
              <a:t>T</a:t>
            </a:r>
            <a:r>
              <a:rPr lang="en-US"/>
              <a:t>HANK </a:t>
            </a:r>
            <a:r>
              <a:rPr lang="en-US"/>
              <a:t>YOU 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WPS Office</Application>
  <ScaleCrop>0</ScaleCrop>
  <LinksUpToDate>0</LinksUpToDate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SM-A426U</dc:creator>
  <dcterms:created xsi:type="dcterms:W3CDTF">2015-05-11T09:30:45Z</dcterms:created>
  <dcterms:modified xsi:type="dcterms:W3CDTF">2025-07-11T20:10:01Z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76f8c3649c5d4bfdbe45efb332cdb3d8</vt:lpwstr>
  </property>
</Properties>
</file>