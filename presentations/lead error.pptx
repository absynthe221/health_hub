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65" r:id="rId3"/>
    <p:sldId id="263" r:id="rId4"/>
    <p:sldId id="264" r:id="rId5"/>
    <p:sldId id="262" r:id="rId6"/>
    <p:sldId id="261" r:id="rId7"/>
    <p:sldId id="257" r:id="rId8"/>
    <p:sldId id="258" r:id="rId9"/>
    <p:sldId id="260" r:id="rId10"/>
    <p:sldId id="259" r:id="rId11"/>
    <p:sldId id="272" r:id="rId12"/>
    <p:sldId id="271" r:id="rId13"/>
    <p:sldId id="270" r:id="rId14"/>
    <p:sldId id="269" r:id="rId15"/>
    <p:sldId id="268" r:id="rId16"/>
    <p:sldId id="267" r:id="rId17"/>
    <p:sldId id="266" r:id="rId18"/>
    <p:sldId id="285" r:id="rId19"/>
    <p:sldId id="284" r:id="rId20"/>
    <p:sldId id="286" r:id="rId21"/>
    <p:sldId id="283" r:id="rId22"/>
    <p:sldId id="282" r:id="rId23"/>
    <p:sldId id="281" r:id="rId24"/>
    <p:sldId id="280" r:id="rId25"/>
    <p:sldId id="279" r:id="rId26"/>
    <p:sldId id="278" r:id="rId27"/>
    <p:sldId id="277" r:id="rId28"/>
    <p:sldId id="276" r:id="rId29"/>
    <p:sldId id="275" r:id="rId30"/>
    <p:sldId id="27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4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DFC36-4133-482D-BF67-91659C55D188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9F1C06-1AEF-4F2E-938C-B32E3C461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781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F1C06-1AEF-4F2E-938C-B32E3C4619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85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155-93FF-69BD-AE85-72139848D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63C53-F81F-B5C3-03B1-59AA08A71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47265-D899-F3EB-E8FF-D01CA669D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7814-7255-4012-8911-C56A02C4E86C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6E8E6-9716-AD9A-3318-1BD13FB48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038C2-26B3-599A-DBFF-5BEF16684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C7A1B-4E9F-46B2-AEB9-E8DBEA03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655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3242D-C845-E081-5D0A-DCBEA7588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0A73B-118A-3EB8-243E-CED728EC8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A9A58-4599-1066-695D-D52F319DA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7814-7255-4012-8911-C56A02C4E86C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17250-8184-C38A-8926-05578C1B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49F5B-DFC9-6D7D-0014-B11A6DC3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C7A1B-4E9F-46B2-AEB9-E8DBEA03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161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C3B7-FC28-D7AD-931D-7BC55B6B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8CFD4-FFAC-084B-2D16-F5B304778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D1ED5-47D4-CF29-BBB5-E468558D6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7814-7255-4012-8911-C56A02C4E86C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BD45E-FED5-ABAE-AD2F-9BB4ED1F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18961-393A-D7C7-A67F-610A26218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C7A1B-4E9F-46B2-AEB9-E8DBEA03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781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F61AA-07A4-E0D8-CC60-8A162EDD0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4158E-D276-5EB2-444F-4731CE101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DB351-A4C2-2CBA-C5A7-BE6AC58B1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4B2BC-CBEE-CE1D-E932-001C9436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7814-7255-4012-8911-C56A02C4E86C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E48B4-B530-2206-9210-041D8987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E7414-E4A2-FF3F-AF0C-D82E99244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C7A1B-4E9F-46B2-AEB9-E8DBEA03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068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7EB6C-2986-EABB-3422-00C25EF87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99FF6-8D55-18C9-FDF8-629180540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AF932-C298-3E67-AACD-7E1BBACF5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D2BD6B-28A4-4C66-A948-B77A1C365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40C18E-CD06-0F34-C50F-AE02A4BAA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35DD7-ACD4-14C9-7735-1EA2090A8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7814-7255-4012-8911-C56A02C4E86C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FF10C8-1611-CA72-A8C3-448005AA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AD3956-48CB-FA33-92AB-F86F85EAD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C7A1B-4E9F-46B2-AEB9-E8DBEA03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007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11CF4-080E-0FFF-3EC8-964D3891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7C3DF6-7F07-3117-B936-5D00A039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7814-7255-4012-8911-C56A02C4E86C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8BB484-B27B-261B-9EE2-2569830EE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A7421-DF57-3614-B661-2A70DE62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C7A1B-4E9F-46B2-AEB9-E8DBEA03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5577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255FAA-4091-F67E-B28E-CCBEBB1A9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7814-7255-4012-8911-C56A02C4E86C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90418E-7CD8-DB32-F91A-41DDE83B7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BFFC9-E30B-3B44-2EA4-51106892D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C7A1B-4E9F-46B2-AEB9-E8DBEA03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285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D4E82-EF3A-DFF4-74FF-48EC2FE4D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39129-D2E5-6E26-BCD9-3C0EE79D2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0725F-3836-5AA2-CF13-862FFF75D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23EA0-BF86-0306-0BFF-D8BFC7F50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7814-7255-4012-8911-C56A02C4E86C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F8B8C-2560-93B9-C343-4838D2EE5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E7D18-0E1B-254B-1273-61B13A188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C7A1B-4E9F-46B2-AEB9-E8DBEA03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531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EA07E-4D64-E651-5441-868E51B4F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4B730C-5368-7058-083E-59CFF71266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6E5119-41C0-AF4F-CC2E-FB1BDF380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200CD-CE4D-F74E-DFA6-E07A34B0E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7814-7255-4012-8911-C56A02C4E86C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7E652-9249-4E4D-584D-29C3668E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890EF-96AE-28A2-F2C6-BB3561364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C7A1B-4E9F-46B2-AEB9-E8DBEA03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4089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6B026-3C43-881C-3529-C9D589C5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91613-4D26-D931-6894-A05CB1C1A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018E8-3586-D59E-C4BE-4D5DC17BB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7814-7255-4012-8911-C56A02C4E86C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E6E04-B095-3AC3-5BFD-A335FE8A0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F3F93-A352-4226-8EF8-D55882AB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C7A1B-4E9F-46B2-AEB9-E8DBEA03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877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1AF076-3128-8435-097C-C37889754C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9B81C-03A1-AA5D-309A-74871C484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9660E-874D-8F40-D40B-7A2F98B88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B7814-7255-4012-8911-C56A02C4E86C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66BA5-E190-B604-BBF2-77137888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88CB9-4620-A969-35D1-D1A207C9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C7A1B-4E9F-46B2-AEB9-E8DBEA03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755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640D59-3A62-5E95-6952-A9CC3F4CB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6E67A-AFAA-5D59-D650-EE0C0F71A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4CA2B-9177-F958-E665-06A2D26EA3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B7814-7255-4012-8911-C56A02C4E86C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FBE7B-0874-8151-BC2A-8C5A21B33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A3D16-73C6-1006-61C7-85B7F1476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C7A1B-4E9F-46B2-AEB9-E8DBEA03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9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3A4D07-17D9-C4D9-2171-454E4EE3FD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EE8530-7124-2C86-8FB3-76823F48B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4" t="13567" b="17503"/>
          <a:stretch/>
        </p:blipFill>
        <p:spPr>
          <a:xfrm>
            <a:off x="28945" y="41223"/>
            <a:ext cx="1485062" cy="12629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098757-3E54-9B57-5E32-1EC66DE9DB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4" t="13567" b="17503"/>
          <a:stretch/>
        </p:blipFill>
        <p:spPr>
          <a:xfrm>
            <a:off x="172558" y="5555027"/>
            <a:ext cx="1483684" cy="12617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4BA9D6D-2DF3-914D-B00C-B194C2A5E5CA}"/>
              </a:ext>
            </a:extLst>
          </p:cNvPr>
          <p:cNvSpPr/>
          <p:nvPr/>
        </p:nvSpPr>
        <p:spPr>
          <a:xfrm>
            <a:off x="1523106" y="-14287"/>
            <a:ext cx="1067799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B8CD48F4-B959-0792-8E89-58E0C7484A06}"/>
              </a:ext>
            </a:extLst>
          </p:cNvPr>
          <p:cNvSpPr/>
          <p:nvPr/>
        </p:nvSpPr>
        <p:spPr>
          <a:xfrm rot="1112546">
            <a:off x="11139979" y="5956758"/>
            <a:ext cx="1938728" cy="1274164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815197-58B6-BCDE-0854-E913AC1281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4" t="13567" b="17503"/>
          <a:stretch/>
        </p:blipFill>
        <p:spPr>
          <a:xfrm>
            <a:off x="3897421" y="891060"/>
            <a:ext cx="6646330" cy="565214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B72D03E-AA64-CF63-4C73-8393835AB13D}"/>
              </a:ext>
            </a:extLst>
          </p:cNvPr>
          <p:cNvSpPr/>
          <p:nvPr/>
        </p:nvSpPr>
        <p:spPr>
          <a:xfrm>
            <a:off x="1777309" y="103214"/>
            <a:ext cx="10151387" cy="759581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12E631-5085-90BA-F46D-50407A3CC7ED}"/>
              </a:ext>
            </a:extLst>
          </p:cNvPr>
          <p:cNvSpPr/>
          <p:nvPr/>
        </p:nvSpPr>
        <p:spPr>
          <a:xfrm>
            <a:off x="1656242" y="966009"/>
            <a:ext cx="10370443" cy="5577198"/>
          </a:xfrm>
          <a:custGeom>
            <a:avLst/>
            <a:gdLst>
              <a:gd name="connsiteX0" fmla="*/ 0 w 10363200"/>
              <a:gd name="connsiteY0" fmla="*/ 0 h 6439993"/>
              <a:gd name="connsiteX1" fmla="*/ 10363200 w 10363200"/>
              <a:gd name="connsiteY1" fmla="*/ 0 h 6439993"/>
              <a:gd name="connsiteX2" fmla="*/ 10363200 w 10363200"/>
              <a:gd name="connsiteY2" fmla="*/ 6439993 h 6439993"/>
              <a:gd name="connsiteX3" fmla="*/ 0 w 10363200"/>
              <a:gd name="connsiteY3" fmla="*/ 6439993 h 6439993"/>
              <a:gd name="connsiteX4" fmla="*/ 0 w 10363200"/>
              <a:gd name="connsiteY4" fmla="*/ 0 h 6439993"/>
              <a:gd name="connsiteX0" fmla="*/ 0 w 10370443"/>
              <a:gd name="connsiteY0" fmla="*/ 0 h 6439993"/>
              <a:gd name="connsiteX1" fmla="*/ 10363200 w 10370443"/>
              <a:gd name="connsiteY1" fmla="*/ 0 h 6439993"/>
              <a:gd name="connsiteX2" fmla="*/ 10370443 w 10370443"/>
              <a:gd name="connsiteY2" fmla="*/ 5708650 h 6439993"/>
              <a:gd name="connsiteX3" fmla="*/ 10363200 w 10370443"/>
              <a:gd name="connsiteY3" fmla="*/ 6439993 h 6439993"/>
              <a:gd name="connsiteX4" fmla="*/ 0 w 10370443"/>
              <a:gd name="connsiteY4" fmla="*/ 6439993 h 6439993"/>
              <a:gd name="connsiteX5" fmla="*/ 0 w 10370443"/>
              <a:gd name="connsiteY5" fmla="*/ 0 h 6439993"/>
              <a:gd name="connsiteX0" fmla="*/ 0 w 10370443"/>
              <a:gd name="connsiteY0" fmla="*/ 0 h 6439993"/>
              <a:gd name="connsiteX1" fmla="*/ 10363200 w 10370443"/>
              <a:gd name="connsiteY1" fmla="*/ 0 h 6439993"/>
              <a:gd name="connsiteX2" fmla="*/ 10370443 w 10370443"/>
              <a:gd name="connsiteY2" fmla="*/ 5708650 h 6439993"/>
              <a:gd name="connsiteX3" fmla="*/ 10363200 w 10370443"/>
              <a:gd name="connsiteY3" fmla="*/ 6439993 h 6439993"/>
              <a:gd name="connsiteX4" fmla="*/ 9564531 w 10370443"/>
              <a:gd name="connsiteY4" fmla="*/ 6421572 h 6439993"/>
              <a:gd name="connsiteX5" fmla="*/ 0 w 10370443"/>
              <a:gd name="connsiteY5" fmla="*/ 6439993 h 6439993"/>
              <a:gd name="connsiteX6" fmla="*/ 0 w 10370443"/>
              <a:gd name="connsiteY6" fmla="*/ 0 h 6439993"/>
              <a:gd name="connsiteX0" fmla="*/ 0 w 10370443"/>
              <a:gd name="connsiteY0" fmla="*/ 0 h 6439993"/>
              <a:gd name="connsiteX1" fmla="*/ 10363200 w 10370443"/>
              <a:gd name="connsiteY1" fmla="*/ 0 h 6439993"/>
              <a:gd name="connsiteX2" fmla="*/ 10370443 w 10370443"/>
              <a:gd name="connsiteY2" fmla="*/ 5708650 h 6439993"/>
              <a:gd name="connsiteX3" fmla="*/ 10130726 w 10370443"/>
              <a:gd name="connsiteY3" fmla="*/ 6068034 h 6439993"/>
              <a:gd name="connsiteX4" fmla="*/ 9564531 w 10370443"/>
              <a:gd name="connsiteY4" fmla="*/ 6421572 h 6439993"/>
              <a:gd name="connsiteX5" fmla="*/ 0 w 10370443"/>
              <a:gd name="connsiteY5" fmla="*/ 6439993 h 6439993"/>
              <a:gd name="connsiteX6" fmla="*/ 0 w 10370443"/>
              <a:gd name="connsiteY6" fmla="*/ 0 h 6439993"/>
              <a:gd name="connsiteX0" fmla="*/ 0 w 10370443"/>
              <a:gd name="connsiteY0" fmla="*/ 0 h 6439993"/>
              <a:gd name="connsiteX1" fmla="*/ 10363200 w 10370443"/>
              <a:gd name="connsiteY1" fmla="*/ 0 h 6439993"/>
              <a:gd name="connsiteX2" fmla="*/ 10370443 w 10370443"/>
              <a:gd name="connsiteY2" fmla="*/ 5708650 h 6439993"/>
              <a:gd name="connsiteX3" fmla="*/ 10130726 w 10370443"/>
              <a:gd name="connsiteY3" fmla="*/ 6068034 h 6439993"/>
              <a:gd name="connsiteX4" fmla="*/ 9564531 w 10370443"/>
              <a:gd name="connsiteY4" fmla="*/ 6421572 h 6439993"/>
              <a:gd name="connsiteX5" fmla="*/ 0 w 10370443"/>
              <a:gd name="connsiteY5" fmla="*/ 6439993 h 6439993"/>
              <a:gd name="connsiteX6" fmla="*/ 0 w 10370443"/>
              <a:gd name="connsiteY6" fmla="*/ 0 h 6439993"/>
              <a:gd name="connsiteX0" fmla="*/ 0 w 10370443"/>
              <a:gd name="connsiteY0" fmla="*/ 0 h 6439993"/>
              <a:gd name="connsiteX1" fmla="*/ 10363200 w 10370443"/>
              <a:gd name="connsiteY1" fmla="*/ 0 h 6439993"/>
              <a:gd name="connsiteX2" fmla="*/ 10370443 w 10370443"/>
              <a:gd name="connsiteY2" fmla="*/ 5708650 h 6439993"/>
              <a:gd name="connsiteX3" fmla="*/ 10068733 w 10370443"/>
              <a:gd name="connsiteY3" fmla="*/ 5975044 h 6439993"/>
              <a:gd name="connsiteX4" fmla="*/ 9564531 w 10370443"/>
              <a:gd name="connsiteY4" fmla="*/ 6421572 h 6439993"/>
              <a:gd name="connsiteX5" fmla="*/ 0 w 10370443"/>
              <a:gd name="connsiteY5" fmla="*/ 6439993 h 6439993"/>
              <a:gd name="connsiteX6" fmla="*/ 0 w 10370443"/>
              <a:gd name="connsiteY6" fmla="*/ 0 h 6439993"/>
              <a:gd name="connsiteX0" fmla="*/ 0 w 10370443"/>
              <a:gd name="connsiteY0" fmla="*/ 0 h 6439993"/>
              <a:gd name="connsiteX1" fmla="*/ 10363200 w 10370443"/>
              <a:gd name="connsiteY1" fmla="*/ 0 h 6439993"/>
              <a:gd name="connsiteX2" fmla="*/ 10370443 w 10370443"/>
              <a:gd name="connsiteY2" fmla="*/ 5708650 h 6439993"/>
              <a:gd name="connsiteX3" fmla="*/ 10068733 w 10370443"/>
              <a:gd name="connsiteY3" fmla="*/ 5975044 h 6439993"/>
              <a:gd name="connsiteX4" fmla="*/ 9471541 w 10370443"/>
              <a:gd name="connsiteY4" fmla="*/ 6421572 h 6439993"/>
              <a:gd name="connsiteX5" fmla="*/ 0 w 10370443"/>
              <a:gd name="connsiteY5" fmla="*/ 6439993 h 6439993"/>
              <a:gd name="connsiteX6" fmla="*/ 0 w 10370443"/>
              <a:gd name="connsiteY6" fmla="*/ 0 h 6439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70443" h="6439993">
                <a:moveTo>
                  <a:pt x="0" y="0"/>
                </a:moveTo>
                <a:lnTo>
                  <a:pt x="10363200" y="0"/>
                </a:lnTo>
                <a:cubicBezTo>
                  <a:pt x="10365614" y="1902883"/>
                  <a:pt x="10368029" y="3805767"/>
                  <a:pt x="10370443" y="5708650"/>
                </a:cubicBezTo>
                <a:lnTo>
                  <a:pt x="10068733" y="5975044"/>
                </a:lnTo>
                <a:lnTo>
                  <a:pt x="9471541" y="6421572"/>
                </a:lnTo>
                <a:lnTo>
                  <a:pt x="0" y="643999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E8A141E-1434-34C5-A0E1-66BA09B9F9FA}"/>
              </a:ext>
            </a:extLst>
          </p:cNvPr>
          <p:cNvSpPr txBox="1">
            <a:spLocks/>
          </p:cNvSpPr>
          <p:nvPr/>
        </p:nvSpPr>
        <p:spPr>
          <a:xfrm>
            <a:off x="2061504" y="-301583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ECG INTERPRETATION 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207855B-318D-CEF0-1F6F-E3E4B8FBF6B3}"/>
              </a:ext>
            </a:extLst>
          </p:cNvPr>
          <p:cNvSpPr txBox="1">
            <a:spLocks/>
          </p:cNvSpPr>
          <p:nvPr/>
        </p:nvSpPr>
        <p:spPr>
          <a:xfrm>
            <a:off x="2613400" y="1938621"/>
            <a:ext cx="8533566" cy="3272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i="1" dirty="0">
                <a:solidFill>
                  <a:schemeClr val="bg1"/>
                </a:solidFill>
                <a:latin typeface="Franklin Gothic Heavy" panose="020B0903020102020204" pitchFamily="34" charset="0"/>
              </a:rPr>
              <a:t>COMMON RECORDING ERRORS</a:t>
            </a:r>
          </a:p>
          <a:p>
            <a:r>
              <a:rPr lang="en-US" sz="4000" b="1" i="1" dirty="0">
                <a:solidFill>
                  <a:schemeClr val="bg1"/>
                </a:solidFill>
                <a:latin typeface="Franklin Gothic Heavy" panose="020B0903020102020204" pitchFamily="34" charset="0"/>
              </a:rPr>
              <a:t> BASIC ECG INTERPRETATION</a:t>
            </a:r>
          </a:p>
          <a:p>
            <a:r>
              <a:rPr lang="en-US" sz="4000" b="1" i="1" dirty="0">
                <a:solidFill>
                  <a:schemeClr val="bg1"/>
                </a:solidFill>
                <a:latin typeface="Franklin Gothic Heavy" panose="020B0903020102020204" pitchFamily="34" charset="0"/>
              </a:rPr>
              <a:t> </a:t>
            </a:r>
          </a:p>
          <a:p>
            <a:r>
              <a:rPr lang="en-US" sz="4000" b="1" i="1" dirty="0">
                <a:solidFill>
                  <a:schemeClr val="bg1">
                    <a:lumMod val="50000"/>
                  </a:schemeClr>
                </a:solidFill>
                <a:latin typeface="Franklin Gothic Heavy" panose="020B0903020102020204" pitchFamily="34" charset="0"/>
              </a:rPr>
              <a:t>BY</a:t>
            </a:r>
          </a:p>
          <a:p>
            <a:r>
              <a:rPr lang="en-US" sz="4000" b="1" i="1" dirty="0">
                <a:solidFill>
                  <a:schemeClr val="accent2">
                    <a:lumMod val="50000"/>
                  </a:schemeClr>
                </a:solidFill>
                <a:latin typeface="Franklin Gothic Heavy" panose="020B0903020102020204" pitchFamily="34" charset="0"/>
              </a:rPr>
              <a:t>GBADAMOSI TAURID .A 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2F5A48-929B-5396-3DE0-DDF039D34621}"/>
              </a:ext>
            </a:extLst>
          </p:cNvPr>
          <p:cNvCxnSpPr>
            <a:cxnSpLocks/>
          </p:cNvCxnSpPr>
          <p:nvPr/>
        </p:nvCxnSpPr>
        <p:spPr>
          <a:xfrm>
            <a:off x="1756937" y="2818152"/>
            <a:ext cx="0" cy="819716"/>
          </a:xfrm>
          <a:prstGeom prst="line">
            <a:avLst/>
          </a:prstGeom>
          <a:ln w="57150" cap="rnd">
            <a:solidFill>
              <a:schemeClr val="bg1"/>
            </a:solidFill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15668EA-94ED-8731-CEFE-92E421639521}"/>
              </a:ext>
            </a:extLst>
          </p:cNvPr>
          <p:cNvSpPr/>
          <p:nvPr/>
        </p:nvSpPr>
        <p:spPr>
          <a:xfrm rot="2546149">
            <a:off x="1654479" y="3522219"/>
            <a:ext cx="147610" cy="7577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203F1C2-97E5-7EAC-B99A-34A405CF39B2}"/>
              </a:ext>
            </a:extLst>
          </p:cNvPr>
          <p:cNvSpPr/>
          <p:nvPr/>
        </p:nvSpPr>
        <p:spPr>
          <a:xfrm rot="19053851" flipV="1">
            <a:off x="1654477" y="2842255"/>
            <a:ext cx="147610" cy="7577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03A7A8-7CB7-7AB9-9D41-792A332B2D5B}"/>
              </a:ext>
            </a:extLst>
          </p:cNvPr>
          <p:cNvSpPr/>
          <p:nvPr/>
        </p:nvSpPr>
        <p:spPr>
          <a:xfrm>
            <a:off x="-44970" y="2893102"/>
            <a:ext cx="1777307" cy="644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957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3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3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0"/>
                            </p:stCondLst>
                            <p:childTnLst>
                              <p:par>
                                <p:cTn id="1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30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000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30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0"/>
                            </p:stCondLst>
                            <p:childTnLst>
                              <p:par>
                                <p:cTn id="2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30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E7640-9946-954E-225E-91B5B802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E295085C-B889-BBB2-95DD-32D9502ACD75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7843E09-0CD6-9849-36DC-8F1F222A167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D7FCB07-3976-53EA-9A3E-E77BDFD72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F0B2BF0-ECB3-5049-FCA2-0CEDDC36B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6769C05-44DA-43F0-E0A5-15B5DDC2C94F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3395F005-4724-1DA4-6B80-7544E3737A1E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15524E2-040D-E89B-AA41-AE7988DB5F1E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2A6AF44-3F81-ADC8-7169-FC129F10E77F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A4B5483-48DF-A67F-FCC3-8D0C58A2F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1A3D377-1566-F5F3-7F7F-1B2A04D23148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A0C330-2841-7CF1-9313-2163E6109237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AF637B94-C066-3554-C2BC-F4A53B5932CD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C4B8F93B-15DA-1592-DA62-5B35F27FB175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49A4B-4111-12C1-31C6-F4FBA5ECE59C}"/>
              </a:ext>
            </a:extLst>
          </p:cNvPr>
          <p:cNvSpPr txBox="1">
            <a:spLocks/>
          </p:cNvSpPr>
          <p:nvPr/>
        </p:nvSpPr>
        <p:spPr>
          <a:xfrm>
            <a:off x="1816311" y="1298436"/>
            <a:ext cx="10112381" cy="33189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QRS COMPLEX REPRESENTS VENTRICULAR DEPOLARIZATION</a:t>
            </a:r>
          </a:p>
          <a:p>
            <a:pPr algn="l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A. YES          B. NO    C. NOT SURE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2.A P WAVES OF 0.12SEC IS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PROLONGED   B. WIDENED  C. NORMAL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3.THE AMPLITUDE OF P WAVES IS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&gt;2.5MM    B. &gt;2.5MS     C. &lt;2.5MM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4.WHICH LEAD SHOWS THE TALLEST R WAVES IN ECG.</a:t>
            </a:r>
          </a:p>
          <a:p>
            <a:pPr algn="l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LEAD II       B. LEAD V5         CI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5.NORMAL QTc in FEMALES</a:t>
            </a:r>
          </a:p>
          <a:p>
            <a:pPr algn="l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A.&lt;0.50 SEC       B.&lt;0.46SEC	    C.&gt;.46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				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FA65317-3B6C-F2FF-E726-31D44333C51D}"/>
              </a:ext>
            </a:extLst>
          </p:cNvPr>
          <p:cNvSpPr txBox="1">
            <a:spLocks/>
          </p:cNvSpPr>
          <p:nvPr/>
        </p:nvSpPr>
        <p:spPr>
          <a:xfrm>
            <a:off x="2040865" y="-321735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1616803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5" presetClass="emph" presetSubtype="0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" dur="5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466F7-BB87-870C-E1AA-7CB3E7379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881A62D-66EC-BB98-1658-0EAFF908FD8B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C2B43DC-70CF-35AD-5E6E-3D65B33F272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4ACED4A-5267-576D-C0FF-7442F546A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061CECC-191C-280D-A893-7AAC3C8C9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47A92C4-6C38-0083-F1B7-C7506414CFEE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D9019A29-0151-5B4C-B54C-AE638B5EEF08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F7C7A6-39E5-C4A0-E045-1AA342C9D57A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14EC3E8-13A2-4797-A33D-3A8A0BC3D896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8A6ADE0-4712-D7FC-BA2A-9ED348B2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E6C337B-4518-FEC3-5622-08D4054790E6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54B931F-2260-8630-2963-ACA67A826CA7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922AF73E-44EC-2FD4-A323-62007D299E4D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C75529CA-C11F-1CED-59F9-E2B7EBDBF9A1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C4FBCA-8961-8E2E-3C17-8640B4482637}"/>
              </a:ext>
            </a:extLst>
          </p:cNvPr>
          <p:cNvSpPr txBox="1">
            <a:spLocks/>
          </p:cNvSpPr>
          <p:nvPr/>
        </p:nvSpPr>
        <p:spPr>
          <a:xfrm>
            <a:off x="1808318" y="-321735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75D7D-46A2-F8ED-7672-3BE73D1F9674}"/>
              </a:ext>
            </a:extLst>
          </p:cNvPr>
          <p:cNvSpPr txBox="1">
            <a:spLocks/>
          </p:cNvSpPr>
          <p:nvPr/>
        </p:nvSpPr>
        <p:spPr>
          <a:xfrm>
            <a:off x="2040865" y="1304145"/>
            <a:ext cx="9601196" cy="49079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THE LESSON,WE SHOULD BE ABLE TO:</a:t>
            </a:r>
          </a:p>
          <a:p>
            <a:pPr algn="l">
              <a:lnSpc>
                <a:spcPct val="2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KNOW AND RECOGNISE THE DIFFERENT ECG WAVES AND THEIR NORMAL VALUES.</a:t>
            </a:r>
          </a:p>
          <a:p>
            <a:pPr algn="l">
              <a:lnSpc>
                <a:spcPct val="2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KNOW YOUR INTERPRETATION PATTERN.</a:t>
            </a:r>
          </a:p>
          <a:p>
            <a:pPr algn="l">
              <a:lnSpc>
                <a:spcPct val="2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KNOW THE IMPORTANCE OF SOME WAVES AND INTERVALS</a:t>
            </a:r>
          </a:p>
        </p:txBody>
      </p:sp>
    </p:spTree>
    <p:extLst>
      <p:ext uri="{BB962C8B-B14F-4D97-AF65-F5344CB8AC3E}">
        <p14:creationId xmlns:p14="http://schemas.microsoft.com/office/powerpoint/2010/main" val="25538972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8271E-D9FB-A00B-17DE-D2882573A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B82A6D8-5E47-9056-7490-F33210D1E4D1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5F10357-2A2A-84BB-7DC3-AF260B5CF11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FC62234-9FBF-6181-2AFD-E9B8D465A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3F3464B-FA81-A95E-C906-63EA40BB8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D47FBAE-2599-B5DF-2550-2BB05D7EB401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C5B59929-8C99-A94D-A8E7-4068344979D7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2241BD-AAFC-19EF-8509-A94DEA1FA8B5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DD1E0D4-23C4-4257-9009-577BD9843A3C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9FEEA2-0D4B-2C15-CB57-5DC2588C5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A268F4B-1D5F-124E-7283-C7CA43152FC6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05B4E9-2D1D-ACA6-C2FB-0B7ABEC4C6C9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704CC967-A1B9-1630-1F9B-42937917395E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BDCAEA2-5E36-EF77-F769-1A3540B6414B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ACE4CE8-7674-833C-4426-70F2C548F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1331" y="-549525"/>
            <a:ext cx="9881541" cy="151553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COMMON LEAD ERRORS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06AEE-0FCE-E8F1-59E1-5588A9D59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4933" y="1258395"/>
            <a:ext cx="10163764" cy="3087967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ERROR THAT OCCURS DURING ECG RECORDING ARE MAJORLY THAT OF LIMB REVERSAL.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REVERSAL CAN BE LIMB LEAD OR CHEST LEAD AND THIS MIGHT LEAD TO A CHANGE IN THE MORPHOLOGY OF THE RECORDING IN WHICH CASE THE P,QRS OR T WAVES MIGHT BE REVERSED.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HAVE ALL LEADS REVERSED THEN YOU HAVE GLOBAL LIMB LEAD INVERSION.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AXIS BECOMES ABNORMAL.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612F8E-5A51-0C72-E9C1-AE9B020C0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61" r="10633" b="29753"/>
          <a:stretch/>
        </p:blipFill>
        <p:spPr>
          <a:xfrm>
            <a:off x="3453469" y="4097268"/>
            <a:ext cx="5868469" cy="240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5422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4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0"/>
                            </p:stCondLst>
                            <p:childTnLst>
                              <p:par>
                                <p:cTn id="2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4B8C3-6AC1-EB2A-9682-12B11801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334C1F0-DB85-0EE3-E362-D1A63280D86F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0E252C1-1D45-CE42-0FE5-F82474E281F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ED50169-8BAE-FDF2-A3A7-3363C4B30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055907C-FC68-7DAA-CDA6-5DDE3EEA7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C2A9830-5E76-670F-AE88-9501FFC45F8C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1ED9D122-61E1-1182-ED73-F1538BE56DE1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A6CCAB-121C-039D-F8E8-385044B21AAA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CEB6F22-7D35-8FCE-2B87-2C09C3189EB7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2E2E296-4ED3-2C01-93CC-ABDC8D14B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F5CF6CB-661B-A711-E27E-B2C0C102F3A2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4CE5310-7B48-4628-F344-83A8A29C8BC4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6A760F57-6B88-A642-6FE2-9EAF136FCDAC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7738BFE5-9985-3080-CBAD-A880A37AFFB1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175A3F3-07B3-4083-FF5D-9ED5C75A6B2C}"/>
              </a:ext>
            </a:extLst>
          </p:cNvPr>
          <p:cNvSpPr txBox="1">
            <a:spLocks/>
          </p:cNvSpPr>
          <p:nvPr/>
        </p:nvSpPr>
        <p:spPr>
          <a:xfrm>
            <a:off x="1728282" y="-284382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LEAD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37324-678D-1738-7D31-E61C961E4AF7}"/>
              </a:ext>
            </a:extLst>
          </p:cNvPr>
          <p:cNvSpPr txBox="1">
            <a:spLocks/>
          </p:cNvSpPr>
          <p:nvPr/>
        </p:nvSpPr>
        <p:spPr>
          <a:xfrm>
            <a:off x="1656241" y="1664319"/>
            <a:ext cx="9955187" cy="2080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CHEST LEADS ARE REVERSED ,THE ECG RECORDING FOR THE CHEST LEADS WILL BE AFFECTED</a:t>
            </a:r>
          </a:p>
        </p:txBody>
      </p:sp>
    </p:spTree>
    <p:extLst>
      <p:ext uri="{BB962C8B-B14F-4D97-AF65-F5344CB8AC3E}">
        <p14:creationId xmlns:p14="http://schemas.microsoft.com/office/powerpoint/2010/main" val="13445677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6057E-D8BA-F864-4FEA-4E08748D4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68D50D8-533E-2D40-7A80-642962A638D3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E1C2D5E-9C0D-1DBD-D0F7-D18155B5CB8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D7C4FD5-C3D2-1D8E-F51B-86EA725FD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F33A641-9515-A61F-2D2C-51062BB04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3EE753C-87B8-1EB7-6223-005A00C7F53F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F70A9D56-B1FF-7D7F-6B13-25ADE6254C58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2F1C1D2-0C3C-B9EA-9F75-550C4CD04B66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1FC5F04-E01C-BB41-4AB9-46BABFD4FD0F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D6EE9C2-CACD-2970-B16F-F30AE85CC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6FB108E-1688-C5BD-2C89-CD4E0829B2D4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8607AC-1E6B-9295-8F1D-DB449429ABC5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48F0D405-96E0-6E7F-C496-041B789CD2D3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B7608A7-B56B-F563-37EF-B423C9D5D618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157A7F8-5099-406F-45A4-37B902EA5C65}"/>
              </a:ext>
            </a:extLst>
          </p:cNvPr>
          <p:cNvSpPr txBox="1">
            <a:spLocks/>
          </p:cNvSpPr>
          <p:nvPr/>
        </p:nvSpPr>
        <p:spPr>
          <a:xfrm>
            <a:off x="2061504" y="-337142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</a:rPr>
              <a:t>BASIC ECG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131F1-8ED2-1EC3-9281-9B65D3A3DC2D}"/>
              </a:ext>
            </a:extLst>
          </p:cNvPr>
          <p:cNvSpPr txBox="1">
            <a:spLocks/>
          </p:cNvSpPr>
          <p:nvPr/>
        </p:nvSpPr>
        <p:spPr>
          <a:xfrm>
            <a:off x="2058349" y="1069938"/>
            <a:ext cx="9824882" cy="53308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HEARTRATE-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RATE AT WHICH THE HEART BEATS AND THE UNIT IS BEAT PER MINUTES(BPM).</a:t>
            </a: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RATE IS BETWEEN 60-100bpm</a:t>
            </a: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beat can be regular or irregular as such the calculation for the rate differs.</a:t>
            </a: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EASY ECG  AND STEP BY STEP INTERPRETATION,THE FOLLOWING PATTERN MAY BE ADOPTED:</a:t>
            </a: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RHYTHMS-</a:t>
            </a: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the R-R intervals are consistent: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USING THE LARGE BOX METHOD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the number of large boxes between 2 successive R waves(R-R interval)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it by 300 that is 300/number of large boxes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e.g. Number of large boxes is 4,heartrate 300/4=75bpm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7083269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3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E0C55-6591-07A6-32F0-329485154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2C0B746-B832-83AE-0788-D228965AABE2}"/>
              </a:ext>
            </a:extLst>
          </p:cNvPr>
          <p:cNvGrpSpPr/>
          <p:nvPr/>
        </p:nvGrpSpPr>
        <p:grpSpPr>
          <a:xfrm>
            <a:off x="0" y="0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70D296-2574-1379-388C-E78958FA63B5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6526F13-3C8F-9FDC-4DE1-34CE82122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CD3337D-35E2-98A6-72BC-8E5438FE0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DC4EBF-B97D-AC07-45F5-72F742D22619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13A3241D-8EA7-F176-E3AA-1A53D7DB4D56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9A21E7E-BD02-350F-8D38-D364B895BB39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F329CCA-BF01-C6F4-9691-DF86354B69DF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FD85380-3B57-A7E6-B9A5-95E94911C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4B2A1AD-22C2-E506-8032-44EECDB020F3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01E2718-1AB3-D4E0-7701-03C4C90CF237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33FC5AF-189D-2BF8-5703-724E0CBC35F7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8C3ED34-7233-6896-4C32-CC31B9A59E8E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93F5534-1177-3345-D8EC-58ACD76951FE}"/>
              </a:ext>
            </a:extLst>
          </p:cNvPr>
          <p:cNvSpPr txBox="1">
            <a:spLocks/>
          </p:cNvSpPr>
          <p:nvPr/>
        </p:nvSpPr>
        <p:spPr>
          <a:xfrm>
            <a:off x="1773252" y="-290888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HEART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287BF-749F-4DA0-1703-4C48AA38695E}"/>
              </a:ext>
            </a:extLst>
          </p:cNvPr>
          <p:cNvSpPr txBox="1">
            <a:spLocks/>
          </p:cNvSpPr>
          <p:nvPr/>
        </p:nvSpPr>
        <p:spPr>
          <a:xfrm>
            <a:off x="1873770" y="1322152"/>
            <a:ext cx="9601196" cy="4504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SMALL BOX METHOD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the number of small squares between R-R waves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your value by 1500 that is 1500/R-R interval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R-R is 20 small squares then rate =1500/20=75bpm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6 SECONDS STRIP METHOD: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Though mostly used for irregular rhythm.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how many R waves in a 6 seconds strip(30 large boxes)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Multiply your value by 10 that gives you the heartrate 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R waves in 6seconds ,HR=7x10=70bpm</a:t>
            </a:r>
          </a:p>
        </p:txBody>
      </p:sp>
    </p:spTree>
    <p:extLst>
      <p:ext uri="{BB962C8B-B14F-4D97-AF65-F5344CB8AC3E}">
        <p14:creationId xmlns:p14="http://schemas.microsoft.com/office/powerpoint/2010/main" val="10924326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B42A4-8412-7744-41FE-68F6D097E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2EFAE6B9-6E09-B287-03AB-FE51ADD5416A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0AAF9F1-44FD-0D18-8C07-F295581A537C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650928C-DC70-DC2A-11E5-27DD65E78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9EE6260-E17B-5B45-8507-FE71F795E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5A4284-D57E-3C7A-89C0-010A2A2729C6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904BAF0F-4C62-D345-B12A-DEFCACB6A970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E69DBE-AD4D-58DD-FCA5-166D1B769E40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891B561-8050-916D-E976-75EF47F2151E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7DFD768-6D4A-0DA6-B837-95D195A8B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E7E4F9B-2B3A-66D2-2CDB-E65BE5150018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572B286-E9CC-C8AA-CB3B-CA0F2EAE4F3F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E1CB12A6-E347-6098-0471-1ECB4CA849A6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55D13CE9-A108-E088-B726-732FDC8E6D1C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C8F5F7-DC8D-1F92-5AB0-DC60A7C08C58}"/>
              </a:ext>
            </a:extLst>
          </p:cNvPr>
          <p:cNvSpPr txBox="1">
            <a:spLocks/>
          </p:cNvSpPr>
          <p:nvPr/>
        </p:nvSpPr>
        <p:spPr>
          <a:xfrm>
            <a:off x="1514005" y="-301141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HEART RATE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831CF-C668-95C8-524A-6C48D6CA05D4}"/>
              </a:ext>
            </a:extLst>
          </p:cNvPr>
          <p:cNvSpPr txBox="1">
            <a:spLocks/>
          </p:cNvSpPr>
          <p:nvPr/>
        </p:nvSpPr>
        <p:spPr>
          <a:xfrm>
            <a:off x="1816312" y="994878"/>
            <a:ext cx="9458632" cy="4672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     </a:t>
            </a:r>
            <a:r>
              <a:rPr lang="en-US" sz="2800" b="1" dirty="0"/>
              <a:t>     IRREGULAR RHYTHM </a:t>
            </a:r>
            <a:r>
              <a:rPr lang="en-US" sz="2800" b="1" dirty="0" err="1"/>
              <a:t>e.g</a:t>
            </a:r>
            <a:r>
              <a:rPr lang="en-US" sz="2800" b="1" dirty="0"/>
              <a:t> Atrial fibrillation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/>
              <a:t>Small or large box method cannot be used here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/>
              <a:t>Use a large long strip especially lead II.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/>
              <a:t>Count the number of QRS  in </a:t>
            </a:r>
          </a:p>
          <a:p>
            <a:pPr algn="l"/>
            <a:r>
              <a:rPr lang="en-US" dirty="0"/>
              <a:t>    6 seconds(30 boxes) on paper run at 25mm/s.</a:t>
            </a:r>
          </a:p>
          <a:p>
            <a:pPr algn="l"/>
            <a:r>
              <a:rPr lang="en-US" dirty="0"/>
              <a:t>     Multiply the number by 10 to get heartbeat </a:t>
            </a:r>
          </a:p>
          <a:p>
            <a:pPr algn="l"/>
            <a:r>
              <a:rPr lang="en-US" dirty="0"/>
              <a:t>(6secx10=60sec=1min)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 err="1"/>
              <a:t>E.g</a:t>
            </a:r>
            <a:r>
              <a:rPr lang="en-US" dirty="0"/>
              <a:t> say in 6-seconds you count 9 QRS complexes: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/>
              <a:t>Heartrate =9x10=90bpm.</a:t>
            </a:r>
          </a:p>
          <a:p>
            <a:pPr algn="l"/>
            <a:r>
              <a:rPr lang="en-US" dirty="0"/>
              <a:t>     </a:t>
            </a:r>
          </a:p>
          <a:p>
            <a:pPr algn="l"/>
            <a:r>
              <a:rPr lang="en-US" dirty="0"/>
              <a:t>      </a:t>
            </a:r>
          </a:p>
          <a:p>
            <a:pPr algn="l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8432C6-73F8-9929-CD21-600E0A6078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49" b="1698"/>
          <a:stretch/>
        </p:blipFill>
        <p:spPr>
          <a:xfrm>
            <a:off x="8310810" y="1536271"/>
            <a:ext cx="3617886" cy="420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402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3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062F-D474-230D-82F6-1BCEBB49B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0625699B-5CD0-AEEB-BC68-A467F5E3477C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1C7EA64-3521-1CCE-E928-EB07AEAD2F6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546A924-E7D1-B0E3-4C1F-B6F569EE9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BAA9D1E-4ABD-9130-2FAC-6D08C86EF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1F8F23C-BD87-0F03-4EBC-46CCE964FCEE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7B8AE896-010C-480C-F65D-84E4AB85C995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78C830-5432-7CB6-0339-7D2EF9C3F575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FC472DA-163A-5B59-B059-BD160A350B83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D9D9E16-1B46-FB6C-959F-1720C10AE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E259314-1082-5CE7-50C2-D7823947898F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8BBDA2-E9FC-068D-ED7A-A46520629E72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176FBF3C-71CA-12A4-5ADA-69631C62C923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B1783460-46D4-9F58-CE03-3532AFA1C7C9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C18ED5-DA7F-7038-F89C-05C8B3E57F9E}"/>
              </a:ext>
            </a:extLst>
          </p:cNvPr>
          <p:cNvSpPr txBox="1">
            <a:spLocks/>
          </p:cNvSpPr>
          <p:nvPr/>
        </p:nvSpPr>
        <p:spPr>
          <a:xfrm>
            <a:off x="1656242" y="-269868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HEARTRATE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28DEA-FC72-8905-C2B8-4B8F33578549}"/>
              </a:ext>
            </a:extLst>
          </p:cNvPr>
          <p:cNvSpPr txBox="1">
            <a:spLocks/>
          </p:cNvSpPr>
          <p:nvPr/>
        </p:nvSpPr>
        <p:spPr>
          <a:xfrm>
            <a:off x="1801908" y="1304144"/>
            <a:ext cx="9601196" cy="3964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dirty="0"/>
              <a:t>   1O seconds method .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1 large box =5mm=250 small boxes in 10 seconds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1 large box=5mm=250/5=50 large boxes in 10 seconds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In this method you count 50 large boxes and count the number of QRS in them and multiply by 6.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E.g</a:t>
            </a:r>
            <a:r>
              <a:rPr lang="en-US" dirty="0"/>
              <a:t> heartrate 14 QRSx6=84bpm        </a:t>
            </a:r>
          </a:p>
        </p:txBody>
      </p:sp>
    </p:spTree>
    <p:extLst>
      <p:ext uri="{BB962C8B-B14F-4D97-AF65-F5344CB8AC3E}">
        <p14:creationId xmlns:p14="http://schemas.microsoft.com/office/powerpoint/2010/main" val="38629048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A6AE1-A9E8-0C8C-9B4C-37A88B7B9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50E175C-256C-CEAB-EA65-0FA9C6CF0CA3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71C3E0-6240-5D86-4194-D50825E6647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C81B9DF-B35E-C980-E050-DFB08D0F7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47939E6-0FEF-2D32-F7DE-A6225422A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BF6D59-0EB7-0414-40B7-AE0C8FF01F02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ECA04D1E-C763-48A5-B7F8-0F6356EC04B7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217132-384E-7181-19A3-4A7A960860E6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193DE04-A91B-EAE9-5013-6CB2580FDCF9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AC78342-DCF9-C091-C48B-DA0D61EE7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8C363C8-122D-977F-E30A-79A9E17B9EB0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B5219D3-6AC7-A4F3-BD45-85F1F3795988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AAEDF5EC-9706-EF94-5574-C0B1EE3E19A8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78211CF2-D4FD-AD69-F464-94B4EE288A7D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A13F34-FE38-7D68-853B-96A45A01FFEA}"/>
              </a:ext>
            </a:extLst>
          </p:cNvPr>
          <p:cNvSpPr txBox="1">
            <a:spLocks/>
          </p:cNvSpPr>
          <p:nvPr/>
        </p:nvSpPr>
        <p:spPr>
          <a:xfrm>
            <a:off x="1611994" y="-265388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HEARTRATE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E1B3D-2242-8E90-9C85-E6BA654FDAA2}"/>
              </a:ext>
            </a:extLst>
          </p:cNvPr>
          <p:cNvSpPr txBox="1">
            <a:spLocks/>
          </p:cNvSpPr>
          <p:nvPr/>
        </p:nvSpPr>
        <p:spPr>
          <a:xfrm>
            <a:off x="1941454" y="1304144"/>
            <a:ext cx="9601196" cy="39991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2600" dirty="0"/>
              <a:t>NORMAL HEARTRATE IS BETWEEN 60</a:t>
            </a:r>
          </a:p>
          <a:p>
            <a:pPr algn="l">
              <a:lnSpc>
                <a:spcPct val="150000"/>
              </a:lnSpc>
            </a:pPr>
            <a:r>
              <a:rPr lang="en-US" sz="2600" dirty="0"/>
              <a:t>RATE LESS THAN 60BPM IS BRADYCARDIA</a:t>
            </a:r>
          </a:p>
          <a:p>
            <a:pPr algn="l">
              <a:lnSpc>
                <a:spcPct val="150000"/>
              </a:lnSpc>
            </a:pPr>
            <a:r>
              <a:rPr lang="en-US" sz="2600" dirty="0"/>
              <a:t>RATE HIGHER THAN 100BPM IS TACHYCARDIA</a:t>
            </a:r>
          </a:p>
          <a:p>
            <a:pPr algn="l">
              <a:lnSpc>
                <a:spcPct val="150000"/>
              </a:lnSpc>
            </a:pPr>
            <a:r>
              <a:rPr lang="en-US" sz="2600" dirty="0"/>
              <a:t>TYPE OF BRADY OR TACHYCARDIA DEPENDS ON TYPE OF RHYTHM E.G SINUS TACHYCARDIA,ATRIAL TACHYCARDIA,V-TACH,JUNCTIONAL TACHYCARDIA ETC </a:t>
            </a:r>
          </a:p>
        </p:txBody>
      </p:sp>
    </p:spTree>
    <p:extLst>
      <p:ext uri="{BB962C8B-B14F-4D97-AF65-F5344CB8AC3E}">
        <p14:creationId xmlns:p14="http://schemas.microsoft.com/office/powerpoint/2010/main" val="21124413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BE33D-F440-7A96-83A1-1C47FB8B5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140BE2C-FB1C-7639-685D-BD4BDB69C68D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1D2BE3-DAAA-C4E8-0930-9DE07AC9650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2B61A62-7F2E-CBA2-9A21-8ACEC2F69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A3AC757-9886-9AB6-D5F7-70DB0F204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FB45E76-1623-B052-8B6D-31FAA8291C21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15C103D3-C6B1-DB13-4014-C1D3E8AF74BB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3204373-1178-13AA-29F1-7934B9D53998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EDB796-9FE7-E9C8-946B-E3FF37138766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A904EF-3E89-D3D1-72F7-CEB3413A6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3C3C6E0-94BF-F6E9-373E-0713B3951BED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AF1D214-7AC9-5C9F-F83C-17633B4B4D5E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B4DADADC-7C3F-FB06-4B9B-0EEB5629E213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0C3E336-D4B3-25A9-4721-54A0DF60B005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04B151-7C54-BFED-CA54-2A1BF805A672}"/>
              </a:ext>
            </a:extLst>
          </p:cNvPr>
          <p:cNvSpPr txBox="1">
            <a:spLocks/>
          </p:cNvSpPr>
          <p:nvPr/>
        </p:nvSpPr>
        <p:spPr>
          <a:xfrm>
            <a:off x="1741712" y="-268322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RHYTHM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81C9E-74CC-6FFA-FAFE-1C388D5D44BE}"/>
              </a:ext>
            </a:extLst>
          </p:cNvPr>
          <p:cNvSpPr txBox="1">
            <a:spLocks/>
          </p:cNvSpPr>
          <p:nvPr/>
        </p:nvSpPr>
        <p:spPr>
          <a:xfrm>
            <a:off x="1656242" y="1087121"/>
            <a:ext cx="6457244" cy="3637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Char char="§"/>
            </a:pPr>
            <a:r>
              <a:rPr lang="en-US" dirty="0"/>
              <a:t>REGULAR RHYTHM IS ONE IN WHICH :</a:t>
            </a:r>
          </a:p>
          <a:p>
            <a:pPr algn="l"/>
            <a:r>
              <a:rPr lang="en-US" dirty="0"/>
              <a:t>     The P waves is followed by a QRS complex which is in turned followed by a </a:t>
            </a:r>
          </a:p>
          <a:p>
            <a:pPr algn="l"/>
            <a:r>
              <a:rPr lang="en-US" dirty="0"/>
              <a:t>      T waves </a:t>
            </a:r>
          </a:p>
          <a:p>
            <a:pPr algn="l"/>
            <a:r>
              <a:rPr lang="en-US" dirty="0"/>
              <a:t>      The R-R interval is regular</a:t>
            </a:r>
          </a:p>
          <a:p>
            <a:pPr algn="l"/>
            <a:r>
              <a:rPr lang="en-US" dirty="0"/>
              <a:t>      The P waves is upright in </a:t>
            </a:r>
            <a:r>
              <a:rPr lang="en-US" dirty="0" err="1"/>
              <a:t>I,II,Avf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       The rate is between 60-100bpm</a:t>
            </a:r>
          </a:p>
          <a:p>
            <a:pPr algn="l"/>
            <a:r>
              <a:rPr lang="en-US" dirty="0"/>
              <a:t>       Normal PR interval (0.12-0.20sec)</a:t>
            </a:r>
          </a:p>
          <a:p>
            <a:pPr algn="l"/>
            <a:r>
              <a:rPr lang="en-US" dirty="0"/>
              <a:t>       Narrow QRS ,about 0.10sec and less.</a:t>
            </a:r>
          </a:p>
          <a:p>
            <a:pPr algn="l"/>
            <a:r>
              <a:rPr lang="en-US" dirty="0"/>
              <a:t>Note: Normal sinus rhythm shows that the SA Node started the cardiac excitation which is always represented by the presence of An upright P waves </a:t>
            </a:r>
          </a:p>
          <a:p>
            <a:pPr algn="l"/>
            <a:r>
              <a:rPr lang="en-US" dirty="0"/>
              <a:t>       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94067C-8AC0-4B1D-D61D-DAE79B636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62"/>
          <a:stretch/>
        </p:blipFill>
        <p:spPr>
          <a:xfrm>
            <a:off x="7647345" y="1330625"/>
            <a:ext cx="4289312" cy="422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224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0"/>
                            </p:stCondLst>
                            <p:childTnLst>
                              <p:par>
                                <p:cTn id="1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4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A6641-ED31-8988-88B5-8A3F0F1D0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0F9B14E-E7B0-85CD-ED21-5CEE282770A3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09994CF-4E84-1002-766E-8AA96F53445C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DEB339C-657F-7724-5C13-37B7BC84C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A97DA7D-2F44-8850-2C15-53D74760C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4B2E21-0459-F990-611A-887197EDC6C1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FF93672C-0BA4-2751-CAD2-296204136BF6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92AAD6-B23E-0726-AC2C-08720FAAA371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3FB5D46-32AC-0706-B8CB-494819C31C05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2CCEEA2-2C88-7C62-A878-B66137D39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167D97F-F79D-579C-F068-57C7ED0BDC4C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17D7443-0A64-E422-0130-C8329A3C1FDA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C1A220D2-4DEA-BA8C-9E00-9A41D74BEBC3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5F108281-2F4C-CD5C-CBD0-D0DD8CEE6E21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7250DA-B353-DC03-138B-4F85E64304AC}"/>
              </a:ext>
            </a:extLst>
          </p:cNvPr>
          <p:cNvSpPr txBox="1">
            <a:spLocks/>
          </p:cNvSpPr>
          <p:nvPr/>
        </p:nvSpPr>
        <p:spPr>
          <a:xfrm>
            <a:off x="1611994" y="-255354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AXIS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DD674-6E2D-CC47-4E06-CCF5233A1004}"/>
              </a:ext>
            </a:extLst>
          </p:cNvPr>
          <p:cNvSpPr txBox="1">
            <a:spLocks/>
          </p:cNvSpPr>
          <p:nvPr/>
        </p:nvSpPr>
        <p:spPr>
          <a:xfrm>
            <a:off x="1852566" y="1028357"/>
            <a:ext cx="9601196" cy="52418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60000"/>
              </a:lnSpc>
            </a:pPr>
            <a:r>
              <a:rPr lang="en-US" dirty="0"/>
              <a:t>Axis provides information about the heart’s electrical orientation and can help identify underlying conditions.</a:t>
            </a:r>
          </a:p>
          <a:p>
            <a:pPr algn="l">
              <a:lnSpc>
                <a:spcPct val="160000"/>
              </a:lnSpc>
            </a:pPr>
            <a:r>
              <a:rPr lang="en-US" dirty="0"/>
              <a:t>It can be Normal or Abnormal</a:t>
            </a:r>
          </a:p>
          <a:p>
            <a:pPr algn="l">
              <a:lnSpc>
                <a:spcPct val="160000"/>
              </a:lnSpc>
            </a:pPr>
            <a:r>
              <a:rPr lang="en-US" dirty="0"/>
              <a:t>Simple way to determine the axis is to look at the QRS in lead </a:t>
            </a:r>
            <a:r>
              <a:rPr lang="en-US" dirty="0" err="1"/>
              <a:t>I,IIand</a:t>
            </a:r>
            <a:r>
              <a:rPr lang="en-US" dirty="0"/>
              <a:t> </a:t>
            </a:r>
            <a:r>
              <a:rPr lang="en-US" dirty="0" err="1"/>
              <a:t>aVF</a:t>
            </a:r>
            <a:r>
              <a:rPr lang="en-US" dirty="0"/>
              <a:t>.</a:t>
            </a:r>
          </a:p>
          <a:p>
            <a:pPr algn="l">
              <a:lnSpc>
                <a:spcPct val="160000"/>
              </a:lnSpc>
            </a:pPr>
            <a:r>
              <a:rPr lang="en-US" dirty="0"/>
              <a:t>If QRS in lead I and </a:t>
            </a:r>
            <a:r>
              <a:rPr lang="en-US" dirty="0" err="1"/>
              <a:t>Avf</a:t>
            </a:r>
            <a:r>
              <a:rPr lang="en-US" dirty="0"/>
              <a:t> is positive =NORMAL AXIS.</a:t>
            </a:r>
          </a:p>
          <a:p>
            <a:pPr algn="l">
              <a:lnSpc>
                <a:spcPct val="160000"/>
              </a:lnSpc>
            </a:pPr>
            <a:r>
              <a:rPr lang="en-US" dirty="0"/>
              <a:t>If lead I positive and </a:t>
            </a:r>
            <a:r>
              <a:rPr lang="en-US" dirty="0" err="1"/>
              <a:t>Avf</a:t>
            </a:r>
            <a:r>
              <a:rPr lang="en-US" dirty="0"/>
              <a:t> </a:t>
            </a:r>
            <a:r>
              <a:rPr lang="en-US" dirty="0" err="1"/>
              <a:t>negative,check</a:t>
            </a:r>
            <a:r>
              <a:rPr lang="en-US" dirty="0"/>
              <a:t> lead II</a:t>
            </a:r>
          </a:p>
          <a:p>
            <a:pPr algn="l">
              <a:lnSpc>
                <a:spcPct val="160000"/>
              </a:lnSpc>
            </a:pPr>
            <a:r>
              <a:rPr lang="en-US" dirty="0"/>
              <a:t>       If positive =normal axis</a:t>
            </a:r>
          </a:p>
          <a:p>
            <a:pPr algn="l">
              <a:lnSpc>
                <a:spcPct val="160000"/>
              </a:lnSpc>
            </a:pPr>
            <a:r>
              <a:rPr lang="en-US" dirty="0"/>
              <a:t>        If negative=left axis deviation.</a:t>
            </a:r>
          </a:p>
          <a:p>
            <a:pPr algn="l">
              <a:lnSpc>
                <a:spcPct val="160000"/>
              </a:lnSpc>
            </a:pPr>
            <a:endParaRPr lang="en-US" dirty="0"/>
          </a:p>
          <a:p>
            <a:pPr algn="l">
              <a:lnSpc>
                <a:spcPct val="16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algn="l">
              <a:lnSpc>
                <a:spcPct val="16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9014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4ED45-4B2B-1C94-5B5D-F657B2658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5379240-7C9F-A95E-3D3C-2A17426C1690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06AB528-60BE-CE4B-3611-2C3B40FAA53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8E7D98C-0238-DF7B-2EE7-B4BD2A4E0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9A2643E-9641-17C0-EB1C-E6CB6CC64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E134FD9-98EF-D1F2-6CE7-FC5AFE785CE7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0D69B609-43C0-4C63-4181-BD9BAF942624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92FFD0-010E-1223-5BDB-749CFC85ACD5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2A9DE66-FC2B-CBD8-DD40-7593B2E67AF6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BA4102E-4FCF-B7E6-0263-89E0DDDF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AD403EC-C39D-912B-F2F7-96B340D11D90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7E4C6A2-137B-8E6E-87FC-4AB6152BB8A2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5CB33F4-45C1-FDC9-321C-6775F30DCCC0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32FBDF7-BF05-6873-3A79-77D34B72A90C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08B25FE-0892-5BE6-1E41-66DEF8D63A94}"/>
              </a:ext>
            </a:extLst>
          </p:cNvPr>
          <p:cNvSpPr txBox="1">
            <a:spLocks/>
          </p:cNvSpPr>
          <p:nvPr/>
        </p:nvSpPr>
        <p:spPr>
          <a:xfrm>
            <a:off x="1777309" y="-278193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AXIS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AB6C0-6370-F282-DE3E-751BABAEBBB5}"/>
              </a:ext>
            </a:extLst>
          </p:cNvPr>
          <p:cNvSpPr txBox="1">
            <a:spLocks/>
          </p:cNvSpPr>
          <p:nvPr/>
        </p:nvSpPr>
        <p:spPr>
          <a:xfrm>
            <a:off x="1853287" y="1304144"/>
            <a:ext cx="10173397" cy="42145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2600" dirty="0"/>
              <a:t>If lead I is negative and </a:t>
            </a:r>
            <a:r>
              <a:rPr lang="en-US" sz="2600" dirty="0" err="1"/>
              <a:t>Avf</a:t>
            </a:r>
            <a:r>
              <a:rPr lang="en-US" sz="2600" dirty="0"/>
              <a:t> is positive=RIGHT AXIS DEVIATION</a:t>
            </a:r>
          </a:p>
          <a:p>
            <a:pPr algn="l">
              <a:lnSpc>
                <a:spcPct val="150000"/>
              </a:lnSpc>
            </a:pPr>
            <a:r>
              <a:rPr lang="en-US" sz="2600" dirty="0"/>
              <a:t>If lead I is negative and </a:t>
            </a:r>
            <a:r>
              <a:rPr lang="en-US" sz="2600" dirty="0" err="1"/>
              <a:t>avf</a:t>
            </a:r>
            <a:r>
              <a:rPr lang="en-US" sz="2600" dirty="0"/>
              <a:t> is negat0oi[]98ukilo0;pive =EXTREME AXIS(rare)</a:t>
            </a:r>
          </a:p>
          <a:p>
            <a:pPr algn="l">
              <a:lnSpc>
                <a:spcPct val="150000"/>
              </a:lnSpc>
            </a:pPr>
            <a:r>
              <a:rPr lang="en-US" sz="2600" dirty="0"/>
              <a:t>Possible causes of LAD-left anterior fascicular hemi block, LVH, Inferior MI.</a:t>
            </a:r>
          </a:p>
          <a:p>
            <a:pPr algn="l">
              <a:lnSpc>
                <a:spcPct val="150000"/>
              </a:lnSpc>
            </a:pPr>
            <a:r>
              <a:rPr lang="en-US" sz="2600" dirty="0"/>
              <a:t>Possible causes of RAD-RVH, pulmonary conditions(PE,COPD),lateral MI</a:t>
            </a:r>
          </a:p>
          <a:p>
            <a:pPr algn="l">
              <a:lnSpc>
                <a:spcPct val="150000"/>
              </a:lnSpc>
            </a:pPr>
            <a:r>
              <a:rPr lang="en-US" sz="2600" dirty="0"/>
              <a:t>Possible causes of Extreme axis-severe ventricular rhythm disturbance, advance conduction block</a:t>
            </a:r>
          </a:p>
        </p:txBody>
      </p:sp>
    </p:spTree>
    <p:extLst>
      <p:ext uri="{BB962C8B-B14F-4D97-AF65-F5344CB8AC3E}">
        <p14:creationId xmlns:p14="http://schemas.microsoft.com/office/powerpoint/2010/main" val="15697508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C5D15-159A-1FE7-15C6-924C0EE9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D28D1E9-AFCE-6AFF-ECEB-0F244515CEB9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AC3B29-398B-C515-D42F-FF740CF532F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A69E1A3-1F59-5F4E-1B3A-E821CB17A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BE9F428-1954-5DF6-321C-F18DD63DE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6DF2420-A23F-8993-4486-5AB22A5DB9E8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22A657F0-7FB0-6835-4D68-E8F66BD9291A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8CED940-C98D-D74D-5D58-CE71F1A50E9F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0DCEAF5-C62A-06F5-4F72-0E08C1F7A0E7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BD3D502-149D-8002-5FA8-A4FAAFB55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82FEA49-C4A6-1A21-268E-08FC2ADC8974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EFA00F-2B87-BF3B-2F71-E30AEC0F192A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1EAF33C-115F-F2AA-9DFF-7D2073E46370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A475BA4-C9F1-4304-23D9-AD6C421D174B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9D1E85-D988-37CF-7144-193A3775D762}"/>
              </a:ext>
            </a:extLst>
          </p:cNvPr>
          <p:cNvSpPr txBox="1">
            <a:spLocks/>
          </p:cNvSpPr>
          <p:nvPr/>
        </p:nvSpPr>
        <p:spPr>
          <a:xfrm>
            <a:off x="1723155" y="-263428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THE ECG GRAPH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A2091D3-8896-02CA-4A2D-75C39DAC3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317" y="1204127"/>
            <a:ext cx="6524483" cy="517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1228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3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07872-7891-202E-B3B5-D2D49BB66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2D2BFCFF-2CB1-D327-3E3E-F8FFF8DD156A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591BA8A-A62B-BF89-807D-388F35AC6AB1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20627B7-9E89-48FA-FFF4-26EE32C2D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1BF0FDC-9A7E-CE7B-4549-A342C2744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37484C-0D43-C261-E80F-A96C25220112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9B30E14A-975C-A582-D482-6BA6934AF7B1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365F5A0-5DED-5FC8-19A7-A747C940B4CD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BC6DE76-FD13-D7CC-1D56-A1CB28F2E107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90D02ED-C63C-1F40-4589-7A6B93406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698F69E-3754-2BE1-ECF9-F94011E23774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7BA0810-43D8-ABAC-0B1B-DF5768906AE7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9F39D106-182C-01B1-4FF9-DC64A5ED13E0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0E1ED50-D13F-ACFE-4938-0C70CDA12C91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EF5C4DB-9939-841F-5155-241DFE3AA054}"/>
              </a:ext>
            </a:extLst>
          </p:cNvPr>
          <p:cNvSpPr txBox="1">
            <a:spLocks/>
          </p:cNvSpPr>
          <p:nvPr/>
        </p:nvSpPr>
        <p:spPr>
          <a:xfrm>
            <a:off x="1808318" y="-254585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P  WAVES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B4D2-CBD5-06BC-0456-0458DB4524C4}"/>
              </a:ext>
            </a:extLst>
          </p:cNvPr>
          <p:cNvSpPr txBox="1">
            <a:spLocks/>
          </p:cNvSpPr>
          <p:nvPr/>
        </p:nvSpPr>
        <p:spPr>
          <a:xfrm>
            <a:off x="1796914" y="1333558"/>
            <a:ext cx="7494638" cy="46333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IT REPRESENTS ATRIAL DEPOLARIZATION</a:t>
            </a:r>
          </a:p>
          <a:p>
            <a:pPr algn="l"/>
            <a:r>
              <a:rPr lang="en-US" dirty="0"/>
              <a:t>IT IS THE FIRST POSITIVE DEFLECTION ON AN ECG </a:t>
            </a:r>
          </a:p>
          <a:p>
            <a:pPr algn="l"/>
            <a:r>
              <a:rPr lang="en-US" dirty="0"/>
              <a:t>IT IS GENERATED WHEN THERE IS AN IMPULSE </a:t>
            </a:r>
          </a:p>
          <a:p>
            <a:pPr algn="l"/>
            <a:r>
              <a:rPr lang="en-US" dirty="0"/>
              <a:t>  FROM SA NODE.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THE NORMAL VALUE FOR THE P WAVE IS </a:t>
            </a:r>
          </a:p>
          <a:p>
            <a:pPr algn="l"/>
            <a:r>
              <a:rPr lang="en-US" dirty="0"/>
              <a:t>      0.08sec -12sec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IT IS SMOOTH,ROUNDED.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UPRIGHT IN LEAD </a:t>
            </a:r>
            <a:r>
              <a:rPr lang="en-US" dirty="0" err="1"/>
              <a:t>LEAD</a:t>
            </a:r>
            <a:r>
              <a:rPr lang="en-US" dirty="0"/>
              <a:t> I, II, </a:t>
            </a:r>
            <a:r>
              <a:rPr lang="en-US" dirty="0" err="1"/>
              <a:t>aVF</a:t>
            </a:r>
            <a:r>
              <a:rPr lang="en-US" dirty="0"/>
              <a:t>; INVERTED IN </a:t>
            </a:r>
            <a:r>
              <a:rPr lang="en-US" dirty="0" err="1"/>
              <a:t>Avr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BEST PLACE TO CHECK FOR P WAVES IS LEAD II </a:t>
            </a:r>
          </a:p>
          <a:p>
            <a:pPr algn="l"/>
            <a:r>
              <a:rPr lang="en-US" dirty="0"/>
              <a:t>  AND V1.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IN V1 IT IS MOSTLY BIPHASIC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4A8647-69BD-936F-C136-D17890E2A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2" t="5036" r="12338"/>
          <a:stretch/>
        </p:blipFill>
        <p:spPr>
          <a:xfrm>
            <a:off x="8544393" y="1558977"/>
            <a:ext cx="3147936" cy="425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193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0"/>
                            </p:stCondLst>
                            <p:childTnLst>
                              <p:par>
                                <p:cTn id="12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4F65E-E92E-4727-1CC5-8F491ABF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050CC707-00AA-8F13-403D-3244BC152D42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3948E89-7868-2364-FDAE-393A1DF004AA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2EB1C5E-381D-7E01-261C-1A5E21867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65B9C0C-2BAC-F0BF-8FE2-F602423A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8F1AB6-6597-8F60-3364-E2F88C517DBE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16A66A14-64ED-D8E3-90F1-2F0B5AE94780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75E3993-E7A3-A684-E490-8B0BFF49595A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F5F2E06-AED2-7E49-E031-33434A36AA28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0F821C1-7187-FDE7-714D-A18E20BB1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3DBB33F-496B-F273-435B-2B59C81EFC04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DF6DBE8-C8D4-7C1C-95AA-885802B5A714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29F17D8D-DC3C-7ADB-0CF5-D0D1CC83F278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9C89EF0-427C-8BDA-58D0-7885A69ADC42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6E747E-DE3B-D74D-B65B-A8B2F0456688}"/>
              </a:ext>
            </a:extLst>
          </p:cNvPr>
          <p:cNvSpPr txBox="1">
            <a:spLocks/>
          </p:cNvSpPr>
          <p:nvPr/>
        </p:nvSpPr>
        <p:spPr>
          <a:xfrm>
            <a:off x="1808318" y="-292707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P WAVES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12A0B-E4B7-8A21-3906-CC25A9EF6E3E}"/>
              </a:ext>
            </a:extLst>
          </p:cNvPr>
          <p:cNvSpPr txBox="1">
            <a:spLocks/>
          </p:cNvSpPr>
          <p:nvPr/>
        </p:nvSpPr>
        <p:spPr>
          <a:xfrm>
            <a:off x="1777307" y="1114374"/>
            <a:ext cx="9888767" cy="33189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dirty="0"/>
              <a:t>TO CALCULATE THE P WAVES YOU COUNT FROM BEGINNING OF THE P TO THE END THEN MULTIPLY BY THE CONSTANT 0.04.</a:t>
            </a:r>
          </a:p>
          <a:p>
            <a:pPr algn="l">
              <a:lnSpc>
                <a:spcPct val="100000"/>
              </a:lnSpc>
            </a:pPr>
            <a:r>
              <a:rPr lang="en-US" dirty="0"/>
              <a:t>NORMAL AMPLITUDE IS 2.5mm.</a:t>
            </a:r>
          </a:p>
          <a:p>
            <a:pPr algn="l">
              <a:lnSpc>
                <a:spcPct val="100000"/>
              </a:lnSpc>
            </a:pPr>
            <a:r>
              <a:rPr lang="en-US" dirty="0"/>
              <a:t>ABSENT P WAVES +IRREGULAR RHYTHM=ATRIAL FIBRILLATION</a:t>
            </a:r>
          </a:p>
          <a:p>
            <a:pPr algn="l">
              <a:lnSpc>
                <a:spcPct val="100000"/>
              </a:lnSpc>
            </a:pPr>
            <a:r>
              <a:rPr lang="en-US" dirty="0"/>
              <a:t>LONG P WAVES&gt;0.12sec(LAE) AND “m” PATTERNED P WAVES (P-MITRALE) OR AMPLITUDE MORE THAN 2.5MM (RAE OR P-PULMONALE).</a:t>
            </a:r>
          </a:p>
          <a:p>
            <a:pPr algn="l">
              <a:lnSpc>
                <a:spcPct val="100000"/>
              </a:lnSpc>
            </a:pPr>
            <a:r>
              <a:rPr lang="en-US" dirty="0"/>
              <a:t>ABSENT, INVERTED( BEFORE, HIDDEN OR AFTER QRS) IS JUNCTIONAL OR NODAL RHYTHM</a:t>
            </a:r>
          </a:p>
          <a:p>
            <a:pPr algn="l">
              <a:lnSpc>
                <a:spcPct val="100000"/>
              </a:lnSpc>
            </a:pPr>
            <a:r>
              <a:rPr lang="en-US" dirty="0"/>
              <a:t>SA TOOTH APPEARANCE=ATRIAL FLUTTER</a:t>
            </a:r>
          </a:p>
          <a:p>
            <a:pPr algn="l">
              <a:lnSpc>
                <a:spcPct val="100000"/>
              </a:lnSpc>
            </a:pPr>
            <a:r>
              <a:rPr lang="en-US" dirty="0"/>
              <a:t>P WAVES UNRELATED TO QRS COMPLEXE=AV DISSOCIATION(COMPLETE HEART BLOCK)</a:t>
            </a:r>
          </a:p>
          <a:p>
            <a:pPr algn="l">
              <a:lnSpc>
                <a:spcPct val="100000"/>
              </a:lnSpc>
            </a:pPr>
            <a:endParaRPr lang="en-US" dirty="0"/>
          </a:p>
          <a:p>
            <a:pPr algn="l"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3224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D4F60-7C30-B9EF-1876-27021DD26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3079D7C-D276-79ED-FA36-70CCFB12369A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EAAD2DF-0812-7AAB-506A-2E32256904F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9C4F435-ACFA-360C-310E-8D64EA61D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361CC5F-66AE-AA3E-BCF7-AD32A9AF8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DC204E5-0299-7C27-498C-99BF7D7723D1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8DCC9567-A95D-5815-2063-09D07C8000C9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5C5AE3-FCB5-53BE-56ED-D827B8D83165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3F65C4-9B05-EB22-2049-C9C6C2DED629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71F6FAD-1C5E-1248-7EEC-BD3AF6560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629F8B8-3894-786C-A320-D6EFCE26EF78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D9EAB3-E22C-1201-5F1B-03B020EA3B03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6484E5A-4444-2A1C-B90D-681399205A39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E2E55224-10FE-62A7-DFF8-7CB33FDD89CC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0735307-7ED9-8E01-2756-22D71CB10864}"/>
              </a:ext>
            </a:extLst>
          </p:cNvPr>
          <p:cNvSpPr txBox="1">
            <a:spLocks/>
          </p:cNvSpPr>
          <p:nvPr/>
        </p:nvSpPr>
        <p:spPr>
          <a:xfrm>
            <a:off x="1492046" y="-259283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P WAVES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BBBF446B-8D7D-2A89-8221-A2E6A32E8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908" y="1064356"/>
            <a:ext cx="5362311" cy="3401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B10A7B-0986-410F-7C9D-DCC004AC49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45" b="3397"/>
          <a:stretch/>
        </p:blipFill>
        <p:spPr>
          <a:xfrm>
            <a:off x="7325115" y="2010594"/>
            <a:ext cx="4694327" cy="374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0564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7969C-2591-9EA8-46C9-F19F4A7B6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9AFD7895-5BD4-B63D-6A7D-7C226EF45E5F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A9BDD7F-D85A-AEBB-0848-A6DCC0D9BA4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1865CA3-8DB7-D869-B8F9-753C2EE09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A5DF24C-CF8E-9C65-D6F3-92A8E7634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D2AE71C-89D4-A5BE-381E-124DE32C9E81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D0A635C2-EE19-04A2-7A60-B5992B08511C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66B76E-D47B-B8CB-C3C9-F2E0CDC83969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BBFD72D-A32A-F2C9-4D1F-5203FE7B5230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3F42040-943E-0BCD-4CA3-9195A4254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BCD3033-582D-1E95-6A4B-63C02C8ABE07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1237895-9C11-7F4D-BC4B-564E77CD3801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6812184-10D1-F2AF-477D-C7E6154E76A8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139ACF6C-CCBC-33B0-7EC4-E12DC9BB665D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B53D8D-5148-97B9-61C3-5904ACBDE647}"/>
              </a:ext>
            </a:extLst>
          </p:cNvPr>
          <p:cNvSpPr txBox="1">
            <a:spLocks/>
          </p:cNvSpPr>
          <p:nvPr/>
        </p:nvSpPr>
        <p:spPr>
          <a:xfrm>
            <a:off x="1808318" y="-278193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WORD ON MARBLE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5D5DF-E256-A73C-D861-8A4B1005BB0C}"/>
              </a:ext>
            </a:extLst>
          </p:cNvPr>
          <p:cNvSpPr txBox="1">
            <a:spLocks/>
          </p:cNvSpPr>
          <p:nvPr/>
        </p:nvSpPr>
        <p:spPr>
          <a:xfrm>
            <a:off x="1784362" y="1664318"/>
            <a:ext cx="9601196" cy="4634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i="1" dirty="0">
                <a:latin typeface="Delius" panose="02000603000000000000" pitchFamily="2" charset="0"/>
              </a:rPr>
              <a:t>“ Money follow value ,value comes from skills not your credentials.”</a:t>
            </a:r>
          </a:p>
          <a:p>
            <a:pPr algn="l"/>
            <a:r>
              <a:rPr lang="en-US" b="1" i="1" dirty="0">
                <a:latin typeface="Delius" panose="02000603000000000000" pitchFamily="2" charset="0"/>
              </a:rPr>
              <a:t>   copied</a:t>
            </a:r>
          </a:p>
          <a:p>
            <a:r>
              <a:rPr lang="en-US" b="1" i="1" dirty="0">
                <a:latin typeface="Delius" panose="02000603000000000000" pitchFamily="2" charset="0"/>
              </a:rPr>
              <a:t> </a:t>
            </a:r>
          </a:p>
          <a:p>
            <a:endParaRPr lang="en-US" b="1" i="1" dirty="0">
              <a:latin typeface="Delius" panose="02000603000000000000" pitchFamily="2" charset="0"/>
            </a:endParaRPr>
          </a:p>
          <a:p>
            <a:r>
              <a:rPr lang="en-US" sz="3600" b="1" i="1" dirty="0">
                <a:latin typeface="Delius" panose="02000603000000000000" pitchFamily="2" charset="0"/>
              </a:rPr>
              <a:t>Skill acquisition, training and re-training is  essential to make a living in today’s society.</a:t>
            </a:r>
          </a:p>
        </p:txBody>
      </p:sp>
    </p:spTree>
    <p:extLst>
      <p:ext uri="{BB962C8B-B14F-4D97-AF65-F5344CB8AC3E}">
        <p14:creationId xmlns:p14="http://schemas.microsoft.com/office/powerpoint/2010/main" val="25073527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4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C703B-2290-B7F0-2D4B-DF9C053CE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171389D-22DF-459C-C71D-2B2FE0A8AB18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041760B-803A-6E24-DD6F-BA681246E09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59D22AD-6B9C-12D3-088E-DED2D1444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4198C1F-5F5E-95DC-4E8E-D7483B15B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125D7A1-BA6E-16ED-B6B7-83DFDF4C1408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1055601E-DFA4-90E7-B328-AAE04E62E63C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1C23E79-59D8-F1F7-B60C-56F5F0F8712C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5624665-3855-CE53-B544-DCA2108C0962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1B71546-85AF-DC39-BF51-29DBB5B32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49C5865-B88E-F6B1-EA3F-AB869E98096D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07BFD77-850E-B465-88BD-5E329BD1A73F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C62605A4-A167-20FD-CECE-8E79342EF9C8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BDE81E7-BA91-0F6A-AF45-73CA426B2BB9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143C0-780B-4043-DB0F-5E5DE38FF0F3}"/>
              </a:ext>
            </a:extLst>
          </p:cNvPr>
          <p:cNvSpPr txBox="1">
            <a:spLocks/>
          </p:cNvSpPr>
          <p:nvPr/>
        </p:nvSpPr>
        <p:spPr>
          <a:xfrm>
            <a:off x="1808318" y="-278193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PR INTERVAL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D2787-9399-B615-38F4-1E89E341BC74}"/>
              </a:ext>
            </a:extLst>
          </p:cNvPr>
          <p:cNvSpPr txBox="1">
            <a:spLocks/>
          </p:cNvSpPr>
          <p:nvPr/>
        </p:nvSpPr>
        <p:spPr>
          <a:xfrm>
            <a:off x="1793931" y="1214866"/>
            <a:ext cx="9730403" cy="4953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IT IS THE TIME BETWEEN THE BEGINNING OF THE P WAVES AND THE BEGINNING OF THE QRS COMPLEX.</a:t>
            </a:r>
          </a:p>
          <a:p>
            <a:pPr algn="l"/>
            <a:r>
              <a:rPr lang="en-US" dirty="0"/>
              <a:t>IT IS THE INTERVAL BETWEEN THE BEGINNING OF ELECTRICAL EXCITATION OF THE ATRIAL AND THE BEGINNING OF EXCITATION OF THE VENTRICLE(SA NODE THROUGH THE ATRIUM,AV NODE,AND BUNDLE OF HIS TO THE VENTRICLES)</a:t>
            </a:r>
          </a:p>
          <a:p>
            <a:pPr algn="l"/>
            <a:r>
              <a:rPr lang="en-US" dirty="0"/>
              <a:t>DURATION IS BETWEEN 0.12 - 0.20seconds</a:t>
            </a:r>
          </a:p>
          <a:p>
            <a:pPr algn="l"/>
            <a:r>
              <a:rPr lang="en-US" dirty="0"/>
              <a:t>SHORT PR INTERVAL =WPW(WOLFF –PARKINSON-WHITE ) SYNDROME-ACCESSORY PATHWAY (BUNDLE OF KENT) OR LOWN-GANONG-LEVINE SYNDROME.</a:t>
            </a:r>
          </a:p>
          <a:p>
            <a:pPr algn="l"/>
            <a:r>
              <a:rPr lang="en-US" dirty="0"/>
              <a:t>PROLONGED PR &gt; 0.20SEC = 1</a:t>
            </a:r>
            <a:r>
              <a:rPr lang="en-US" baseline="30000" dirty="0"/>
              <a:t>ST</a:t>
            </a:r>
            <a:r>
              <a:rPr lang="en-US" dirty="0"/>
              <a:t> DEGREE , 2</a:t>
            </a:r>
            <a:r>
              <a:rPr lang="en-US" baseline="30000" dirty="0"/>
              <a:t>ND</a:t>
            </a:r>
            <a:r>
              <a:rPr lang="en-US" dirty="0"/>
              <a:t> DEGREE AV BLOCKS</a:t>
            </a:r>
          </a:p>
        </p:txBody>
      </p:sp>
    </p:spTree>
    <p:extLst>
      <p:ext uri="{BB962C8B-B14F-4D97-AF65-F5344CB8AC3E}">
        <p14:creationId xmlns:p14="http://schemas.microsoft.com/office/powerpoint/2010/main" val="32575537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39545-991A-AE4D-2BB3-0F3322078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0436A15-FBB2-5556-4118-21FE34249D07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82A9ACA-A650-01BA-F02B-A53AFE232BD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F9935D0-2FA7-4622-993E-AC3F3B826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B93BBF0-EA70-8E8D-5B1D-4D725A173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2CD9A2-DA57-78B4-6A92-4618AB3A17C8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C409CF1B-565A-19F5-8D0E-04232BF1EF5E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91A047-24A3-B443-5477-D2BC08EA99FD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C9557D2-4F26-4229-5BA0-4BB142797EBF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E1A3FC-1E27-C8C7-2279-14B799C4E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F9C1ADD-28BD-AC31-05C1-B8291DE6C511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E12484F-8113-0FC1-7419-02DFFD83247B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F7196875-7D32-18D4-A2FA-562CC9351576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5AC1DA5-74FD-26E5-BE15-7740319D4E08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A52F4F-DC7A-3DE9-AC40-E6A92ED2A2BF}"/>
              </a:ext>
            </a:extLst>
          </p:cNvPr>
          <p:cNvSpPr txBox="1">
            <a:spLocks/>
          </p:cNvSpPr>
          <p:nvPr/>
        </p:nvSpPr>
        <p:spPr>
          <a:xfrm>
            <a:off x="2046990" y="-307221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QRS COMPLEX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31F5D-43FF-15E9-1073-4B4A83BBF925}"/>
              </a:ext>
            </a:extLst>
          </p:cNvPr>
          <p:cNvSpPr txBox="1">
            <a:spLocks/>
          </p:cNvSpPr>
          <p:nvPr/>
        </p:nvSpPr>
        <p:spPr>
          <a:xfrm>
            <a:off x="1832918" y="1323175"/>
            <a:ext cx="10281553" cy="4845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dirty="0"/>
              <a:t>IT REPRESENTS VENTRICULAR DEPOLARIZATION (BY PURKINJE FIBRES)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NORMAL DURATION 0.06 - 0.10SEC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PROLONGED QRS&gt;0.12SEC = BUNDLE BRANCH BLOCK,VENTRICULAR RHYTHM,HYPERKALEMIA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TALL QRS = VENTRICULAR HYPERTROPHY, ATHLETE HEART.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LOW QRS = PERICARDIA EFFUSION, OBESITY, COPD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ABNORMAL Q WAVES = MYOCARDIAL INFARCTION IF IT IS DEEP AND WIDE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6668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4F829-E39A-E9BA-72BA-91A4D7E10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24C51C9-5FBF-06A9-84DB-04760CF20708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FA3A684-F822-796F-8D9D-11D282A8C935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BD6F532-4227-E24C-B6C2-2483BD753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61C37D5-6C38-2919-4C67-9B900C9B8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D92FBEA-6375-AAF1-53EB-2B8D7FCB096A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3C4018EA-73C4-0F3E-7CB3-0886DE1A69E6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D3B09CC-4CBD-5CA4-736E-4E8BEA38E2A8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FBD65EC-B9EB-ED84-DBD1-6BFFBB94E37F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5B1CE7A-D2F8-D8C0-887E-1AE1DFB17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4DBF0A2-564D-640F-26E0-2A8151F3F281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85ECCFF-5FFD-5B05-262C-AE2381DB108D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63AC04A2-2D16-A716-4C4E-49811F01FCB6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25CB6B8-4C73-E0AE-FD60-ADB5A9EA85C9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7A7B26-5879-F7AE-AF25-1CB0D04147FD}"/>
              </a:ext>
            </a:extLst>
          </p:cNvPr>
          <p:cNvSpPr txBox="1">
            <a:spLocks/>
          </p:cNvSpPr>
          <p:nvPr/>
        </p:nvSpPr>
        <p:spPr>
          <a:xfrm>
            <a:off x="1777309" y="-307221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ST SEGMENT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66934-056F-C2CC-E21C-97DA1276E571}"/>
              </a:ext>
            </a:extLst>
          </p:cNvPr>
          <p:cNvSpPr txBox="1">
            <a:spLocks/>
          </p:cNvSpPr>
          <p:nvPr/>
        </p:nvSpPr>
        <p:spPr>
          <a:xfrm>
            <a:off x="1941454" y="1155729"/>
            <a:ext cx="9601196" cy="4908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</a:pPr>
            <a:r>
              <a:rPr lang="en-US" dirty="0"/>
              <a:t>IT AN ISOELECTRIC POINT WHERE NO ELECTRICAL ACTIVITY OCCURS.</a:t>
            </a:r>
          </a:p>
          <a:p>
            <a:pPr algn="l">
              <a:lnSpc>
                <a:spcPct val="200000"/>
              </a:lnSpc>
            </a:pPr>
            <a:r>
              <a:rPr lang="en-US" dirty="0"/>
              <a:t>IT SHOWS THE POINT BETWEEN VENTRICULAR DEPOLARIZATION AND REPOLARIZATION</a:t>
            </a:r>
          </a:p>
          <a:p>
            <a:pPr algn="l">
              <a:lnSpc>
                <a:spcPct val="200000"/>
              </a:lnSpc>
            </a:pPr>
            <a:r>
              <a:rPr lang="en-US" dirty="0"/>
              <a:t>ABNORMAL ST SEGMENT CAN BE AN ELEVATED ONE SEEN IN S.T.E.M.I OR DEPRESSION IN N.S.T.E.M.I; DOWNSLOPPING AS SEEN IN ISCHEMIA OR STRAIN PATTERN</a:t>
            </a:r>
          </a:p>
        </p:txBody>
      </p:sp>
    </p:spTree>
    <p:extLst>
      <p:ext uri="{BB962C8B-B14F-4D97-AF65-F5344CB8AC3E}">
        <p14:creationId xmlns:p14="http://schemas.microsoft.com/office/powerpoint/2010/main" val="26659365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960D1-371B-A138-F602-E38ADCE71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2416F925-9ED1-3C40-EB7E-7CF7A5CF5B03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4AD34C3-D179-D273-DE8F-0580788528B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C3C38C-0536-2EDE-2F6C-6333D5DD3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64D13BF-0DBE-2717-B2D5-5F055795E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2339B57-1C29-286A-3A12-3BC3E3D5144A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2F92001F-815B-E04E-EBD4-45B621F7394E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BB80A8-7BD4-D268-A730-6740B24DD07C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EE1CC2B-CC1D-8D7E-4828-693514ADD75D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ABBD66E-BF65-C24C-93B9-E346785C7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B3075D4-8C94-A471-9F83-854F7DB8499B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429164A-A4E4-5D7E-3634-BB2A41574773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A3398E48-D346-5F8B-1ED7-0B53E5926854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068D1D9-BEA2-CA63-A3F4-2744C0F84C79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69B28B6-03A9-60F6-E38C-991CB53FC1D8}"/>
              </a:ext>
            </a:extLst>
          </p:cNvPr>
          <p:cNvSpPr txBox="1">
            <a:spLocks/>
          </p:cNvSpPr>
          <p:nvPr/>
        </p:nvSpPr>
        <p:spPr>
          <a:xfrm>
            <a:off x="1801382" y="-264257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ST SEGMENTS</a:t>
            </a:r>
          </a:p>
        </p:txBody>
      </p:sp>
      <p:pic>
        <p:nvPicPr>
          <p:cNvPr id="3" name="Content Placeholder 8">
            <a:extLst>
              <a:ext uri="{FF2B5EF4-FFF2-40B4-BE49-F238E27FC236}">
                <a16:creationId xmlns:a16="http://schemas.microsoft.com/office/drawing/2014/main" id="{A2FED0C3-6F4C-4EAF-EEFF-60340B4FF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22"/>
          <a:stretch/>
        </p:blipFill>
        <p:spPr>
          <a:xfrm>
            <a:off x="1957959" y="1207480"/>
            <a:ext cx="9726040" cy="501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0875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6962A-9EFC-8393-6257-3A0F7F06C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C5FAF9A-A985-1D9C-CF59-78271D6B64D8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F1F333D-E52D-5DAD-8B08-017506B905FC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3ECF0BF-EB8C-EBC8-EF2D-4E18F9A89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ECBFC53-707F-D9F8-C07C-2766B72BA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82616BC-18AC-B649-DDF0-6317D7EA54BC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7E253FB2-4942-0E20-8D2C-5A5A7866FD37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52AD38-206E-1B1F-7A11-C9F4891A39F6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54319FC-C211-8EED-06E1-2430587335E0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545CC82-2599-E19F-59E5-262487852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89F3883-1F8F-E9EA-3D99-B4B0F87C7709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B5C2121-B621-77FF-4863-D0ABE9DFC608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C847B727-4875-2328-C258-5094EEB547E8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70114F7C-C23C-CF06-6A1F-0E5FD14B5228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206E68-9EA5-C152-4722-97CA4FCCBCD0}"/>
              </a:ext>
            </a:extLst>
          </p:cNvPr>
          <p:cNvSpPr txBox="1">
            <a:spLocks/>
          </p:cNvSpPr>
          <p:nvPr/>
        </p:nvSpPr>
        <p:spPr>
          <a:xfrm>
            <a:off x="1808318" y="-321735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QT INTERVAL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89870-BD0E-367B-574B-2C34F6DCE20D}"/>
              </a:ext>
            </a:extLst>
          </p:cNvPr>
          <p:cNvSpPr txBox="1">
            <a:spLocks/>
          </p:cNvSpPr>
          <p:nvPr/>
        </p:nvSpPr>
        <p:spPr>
          <a:xfrm>
            <a:off x="1728282" y="1142911"/>
            <a:ext cx="10200414" cy="33189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200" dirty="0"/>
              <a:t>IT REPRESENTS TOTAL TIME FOR VENTRICULAR DEPOLARIZATION AND REPOLARIZATION</a:t>
            </a:r>
          </a:p>
          <a:p>
            <a:pPr algn="l"/>
            <a:r>
              <a:rPr lang="en-US" sz="2200" dirty="0"/>
              <a:t>ESSENTIALLY THE PERIOD FROM THE BEGINNING OF VENTRICULAR CONTRACTION TO THE END OF RECOVERY.</a:t>
            </a:r>
          </a:p>
          <a:p>
            <a:pPr algn="l"/>
            <a:r>
              <a:rPr lang="en-US" sz="2200" dirty="0"/>
              <a:t>SPECIFICALLY REPRESENTS THE ELECTRICAL ACTIVITIES OF THE VENTRICLES.</a:t>
            </a:r>
          </a:p>
          <a:p>
            <a:pPr algn="l"/>
            <a:r>
              <a:rPr lang="en-US" sz="2200" dirty="0"/>
              <a:t>IT IS &lt;0.44SEC IN MALE AND &lt;0.46SEC IN FEMALES</a:t>
            </a:r>
          </a:p>
          <a:p>
            <a:pPr algn="l"/>
            <a:r>
              <a:rPr lang="en-US" sz="2200" dirty="0"/>
              <a:t>PROLONGED QT INTERVAL CAN INCREASE THE RISK OF DANGEROUS HEART RHYTHMS ABNORMALITIES SUCH ASN TORSADE DE PONTES A KIND OF V-TACH THAT CAN LEAD TO SUDDEN CARDIAC DEATH.</a:t>
            </a:r>
          </a:p>
          <a:p>
            <a:pPr algn="l"/>
            <a:r>
              <a:rPr lang="en-US" sz="2200" dirty="0"/>
              <a:t>SHORT QT INTERVAL &lt;0.33-0.34SEC IS CONSIDERED SHORT.</a:t>
            </a:r>
          </a:p>
          <a:p>
            <a:pPr algn="l"/>
            <a:r>
              <a:rPr lang="en-US" sz="2200" dirty="0"/>
              <a:t>SHORT QT IS NOT COMMON</a:t>
            </a:r>
          </a:p>
          <a:p>
            <a:pPr algn="l"/>
            <a:r>
              <a:rPr lang="en-US" sz="2200" dirty="0"/>
              <a:t>IT MEANS THAT THE HEART IS REPOLARIZING FASTER THAN NORMAL</a:t>
            </a:r>
          </a:p>
          <a:p>
            <a:pPr algn="l"/>
            <a:r>
              <a:rPr lang="en-US" sz="2200" dirty="0"/>
              <a:t>MAY CAUSE LIFE THREATENING ARRYTHMIAS SUCH AS V-FIBRILLATION OR SUDDEN CARDIAC DEATH</a:t>
            </a:r>
          </a:p>
        </p:txBody>
      </p:sp>
    </p:spTree>
    <p:extLst>
      <p:ext uri="{BB962C8B-B14F-4D97-AF65-F5344CB8AC3E}">
        <p14:creationId xmlns:p14="http://schemas.microsoft.com/office/powerpoint/2010/main" val="1519893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03BF8-4602-721C-31AB-6FDDA7548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B492686-1EB6-321A-AACD-32829174544C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D37B8BE-79AD-DC24-213B-05D41907883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080C992-A0D1-9DBC-184E-15666A93A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4238089-39C3-1C64-7D71-F02BBF0F3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3593941-A6F8-6158-AF29-FD004D615A32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3C385ABE-CA1C-4503-ACCF-C65DCD626326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7DF03D1-1DE9-8E2D-4534-6227F5E1A623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9629B80-4F94-9818-9DA1-D00E845A58E6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001172-160A-0EC4-6EC0-D08844D42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9930D83-77B3-E246-9BBF-F6D59F520BED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421F3-5462-FAB8-2029-A6C2CD07DC54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BB54E0B9-5E73-CD2F-1785-F83EE5940391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6792A04-26A4-478D-78B6-3EDC84CB3503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B12C2B52-7737-0A19-B4CF-8257F9213682}"/>
              </a:ext>
            </a:extLst>
          </p:cNvPr>
          <p:cNvSpPr txBox="1">
            <a:spLocks/>
          </p:cNvSpPr>
          <p:nvPr/>
        </p:nvSpPr>
        <p:spPr>
          <a:xfrm>
            <a:off x="1808318" y="-321735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QT INTERVAL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7DDEED7-B54F-A2B3-7C00-2272EEEBF2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896" y="1127609"/>
            <a:ext cx="9629754" cy="525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2378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D0777-6E1B-527D-102E-1CE316144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E1D5E4DE-F102-9B09-75D8-91319834762C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8C1F1C7-0B17-888E-B81D-575277E69D0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1109A5E-E759-3942-B26D-C3BF545F0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C57818E-3915-81AB-82E6-CA9032A46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886DBB1-F87A-33B2-9FAE-3FB245B1261F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C484CAA2-1EE4-6482-7E60-49EC826C5AEB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D734BA-52D0-5C64-9C6F-321AFBF5CACF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60D6A7F-ED99-35EF-E78F-89E4E786BBAC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033BBF-2DB9-8F99-C508-941C4D1FA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FECC840-D636-8CDC-A599-C23B5300D64F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C1EEE4-1E60-B1F0-4914-A35419B0A705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A0D75E9C-31EB-DBF3-068C-AB13817F8AA4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4DE236C-AAE0-F536-A9E0-3E0228553887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2104A2-286C-0A13-0004-6B84704E6E58}"/>
              </a:ext>
            </a:extLst>
          </p:cNvPr>
          <p:cNvSpPr txBox="1">
            <a:spLocks/>
          </p:cNvSpPr>
          <p:nvPr/>
        </p:nvSpPr>
        <p:spPr>
          <a:xfrm>
            <a:off x="1656242" y="-298896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QTC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48598-27B8-70FE-79DF-D4EB59064E4C}"/>
              </a:ext>
            </a:extLst>
          </p:cNvPr>
          <p:cNvSpPr txBox="1">
            <a:spLocks/>
          </p:cNvSpPr>
          <p:nvPr/>
        </p:nvSpPr>
        <p:spPr>
          <a:xfrm>
            <a:off x="1801908" y="1237200"/>
            <a:ext cx="9601196" cy="480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dirty="0"/>
              <a:t>IT IS CORRECTED QT AND IT IS CALCULATED DUE TO THE RELATIONSHIP BETWEEN QT INTERVAL AND THE HEART RATE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IT ALLOWS FOR MORE ACCURATE ASSESSMENT OF THE QT INTERVAL.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CALCULATED USING BAZETT”S FORMULAR=QT/√R-R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NORMAL VALUE,MEN 0.35-0.445SEC,WOMEN0.35-0.46SEC.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&lt;0.35SEC IS SHORT QTc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SAME EFFECT WITH LONG OR SHORT QT </a:t>
            </a:r>
          </a:p>
          <a:p>
            <a:pPr algn="l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1556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23577-C284-7D3B-BFB1-462CFD45E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05F5C7-9648-7393-E831-A3FAA2FF5C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383E45-3345-2EB9-6B6D-73A71D12F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4" t="13567" b="17503"/>
          <a:stretch/>
        </p:blipFill>
        <p:spPr>
          <a:xfrm>
            <a:off x="28945" y="41223"/>
            <a:ext cx="1485062" cy="12629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3C45F7-F6BD-B7E0-0259-1EA793B4AE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4" t="13567" b="17503"/>
          <a:stretch/>
        </p:blipFill>
        <p:spPr>
          <a:xfrm>
            <a:off x="172558" y="5555027"/>
            <a:ext cx="1483684" cy="126175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D5BB2E0-DF2E-D52A-4F90-F07B1F55D13D}"/>
              </a:ext>
            </a:extLst>
          </p:cNvPr>
          <p:cNvSpPr/>
          <p:nvPr/>
        </p:nvSpPr>
        <p:spPr>
          <a:xfrm>
            <a:off x="1523106" y="-14287"/>
            <a:ext cx="1067799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CE1D1C3C-DDAD-AF01-8504-A423B5AF1A94}"/>
              </a:ext>
            </a:extLst>
          </p:cNvPr>
          <p:cNvSpPr/>
          <p:nvPr/>
        </p:nvSpPr>
        <p:spPr>
          <a:xfrm rot="1112546">
            <a:off x="11139979" y="5956758"/>
            <a:ext cx="1938728" cy="1274164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A3CB14-E472-1A44-B0CB-6C3130FA03EB}"/>
              </a:ext>
            </a:extLst>
          </p:cNvPr>
          <p:cNvSpPr/>
          <p:nvPr/>
        </p:nvSpPr>
        <p:spPr>
          <a:xfrm>
            <a:off x="-44970" y="2893102"/>
            <a:ext cx="1777307" cy="6445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431A22-CBE6-932D-10EB-8CFF0E89379F}"/>
              </a:ext>
            </a:extLst>
          </p:cNvPr>
          <p:cNvCxnSpPr>
            <a:cxnSpLocks/>
          </p:cNvCxnSpPr>
          <p:nvPr/>
        </p:nvCxnSpPr>
        <p:spPr>
          <a:xfrm>
            <a:off x="1756937" y="2818152"/>
            <a:ext cx="0" cy="819716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7231371-9293-08E4-1D18-112828D6F4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4" t="13567" b="17503"/>
          <a:stretch/>
        </p:blipFill>
        <p:spPr>
          <a:xfrm>
            <a:off x="3897421" y="891060"/>
            <a:ext cx="6646330" cy="565214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4FF322A-3871-914C-8AA5-E7718B7F06F1}"/>
              </a:ext>
            </a:extLst>
          </p:cNvPr>
          <p:cNvSpPr/>
          <p:nvPr/>
        </p:nvSpPr>
        <p:spPr>
          <a:xfrm>
            <a:off x="1656242" y="1510295"/>
            <a:ext cx="10370443" cy="5032912"/>
          </a:xfrm>
          <a:custGeom>
            <a:avLst/>
            <a:gdLst>
              <a:gd name="connsiteX0" fmla="*/ 0 w 10363200"/>
              <a:gd name="connsiteY0" fmla="*/ 0 h 6439993"/>
              <a:gd name="connsiteX1" fmla="*/ 10363200 w 10363200"/>
              <a:gd name="connsiteY1" fmla="*/ 0 h 6439993"/>
              <a:gd name="connsiteX2" fmla="*/ 10363200 w 10363200"/>
              <a:gd name="connsiteY2" fmla="*/ 6439993 h 6439993"/>
              <a:gd name="connsiteX3" fmla="*/ 0 w 10363200"/>
              <a:gd name="connsiteY3" fmla="*/ 6439993 h 6439993"/>
              <a:gd name="connsiteX4" fmla="*/ 0 w 10363200"/>
              <a:gd name="connsiteY4" fmla="*/ 0 h 6439993"/>
              <a:gd name="connsiteX0" fmla="*/ 0 w 10370443"/>
              <a:gd name="connsiteY0" fmla="*/ 0 h 6439993"/>
              <a:gd name="connsiteX1" fmla="*/ 10363200 w 10370443"/>
              <a:gd name="connsiteY1" fmla="*/ 0 h 6439993"/>
              <a:gd name="connsiteX2" fmla="*/ 10370443 w 10370443"/>
              <a:gd name="connsiteY2" fmla="*/ 5708650 h 6439993"/>
              <a:gd name="connsiteX3" fmla="*/ 10363200 w 10370443"/>
              <a:gd name="connsiteY3" fmla="*/ 6439993 h 6439993"/>
              <a:gd name="connsiteX4" fmla="*/ 0 w 10370443"/>
              <a:gd name="connsiteY4" fmla="*/ 6439993 h 6439993"/>
              <a:gd name="connsiteX5" fmla="*/ 0 w 10370443"/>
              <a:gd name="connsiteY5" fmla="*/ 0 h 6439993"/>
              <a:gd name="connsiteX0" fmla="*/ 0 w 10370443"/>
              <a:gd name="connsiteY0" fmla="*/ 0 h 6439993"/>
              <a:gd name="connsiteX1" fmla="*/ 10363200 w 10370443"/>
              <a:gd name="connsiteY1" fmla="*/ 0 h 6439993"/>
              <a:gd name="connsiteX2" fmla="*/ 10370443 w 10370443"/>
              <a:gd name="connsiteY2" fmla="*/ 5708650 h 6439993"/>
              <a:gd name="connsiteX3" fmla="*/ 10363200 w 10370443"/>
              <a:gd name="connsiteY3" fmla="*/ 6439993 h 6439993"/>
              <a:gd name="connsiteX4" fmla="*/ 9564531 w 10370443"/>
              <a:gd name="connsiteY4" fmla="*/ 6421572 h 6439993"/>
              <a:gd name="connsiteX5" fmla="*/ 0 w 10370443"/>
              <a:gd name="connsiteY5" fmla="*/ 6439993 h 6439993"/>
              <a:gd name="connsiteX6" fmla="*/ 0 w 10370443"/>
              <a:gd name="connsiteY6" fmla="*/ 0 h 6439993"/>
              <a:gd name="connsiteX0" fmla="*/ 0 w 10370443"/>
              <a:gd name="connsiteY0" fmla="*/ 0 h 6439993"/>
              <a:gd name="connsiteX1" fmla="*/ 10363200 w 10370443"/>
              <a:gd name="connsiteY1" fmla="*/ 0 h 6439993"/>
              <a:gd name="connsiteX2" fmla="*/ 10370443 w 10370443"/>
              <a:gd name="connsiteY2" fmla="*/ 5708650 h 6439993"/>
              <a:gd name="connsiteX3" fmla="*/ 10130726 w 10370443"/>
              <a:gd name="connsiteY3" fmla="*/ 6068034 h 6439993"/>
              <a:gd name="connsiteX4" fmla="*/ 9564531 w 10370443"/>
              <a:gd name="connsiteY4" fmla="*/ 6421572 h 6439993"/>
              <a:gd name="connsiteX5" fmla="*/ 0 w 10370443"/>
              <a:gd name="connsiteY5" fmla="*/ 6439993 h 6439993"/>
              <a:gd name="connsiteX6" fmla="*/ 0 w 10370443"/>
              <a:gd name="connsiteY6" fmla="*/ 0 h 6439993"/>
              <a:gd name="connsiteX0" fmla="*/ 0 w 10370443"/>
              <a:gd name="connsiteY0" fmla="*/ 0 h 6439993"/>
              <a:gd name="connsiteX1" fmla="*/ 10363200 w 10370443"/>
              <a:gd name="connsiteY1" fmla="*/ 0 h 6439993"/>
              <a:gd name="connsiteX2" fmla="*/ 10370443 w 10370443"/>
              <a:gd name="connsiteY2" fmla="*/ 5708650 h 6439993"/>
              <a:gd name="connsiteX3" fmla="*/ 10130726 w 10370443"/>
              <a:gd name="connsiteY3" fmla="*/ 6068034 h 6439993"/>
              <a:gd name="connsiteX4" fmla="*/ 9564531 w 10370443"/>
              <a:gd name="connsiteY4" fmla="*/ 6421572 h 6439993"/>
              <a:gd name="connsiteX5" fmla="*/ 0 w 10370443"/>
              <a:gd name="connsiteY5" fmla="*/ 6439993 h 6439993"/>
              <a:gd name="connsiteX6" fmla="*/ 0 w 10370443"/>
              <a:gd name="connsiteY6" fmla="*/ 0 h 6439993"/>
              <a:gd name="connsiteX0" fmla="*/ 0 w 10370443"/>
              <a:gd name="connsiteY0" fmla="*/ 0 h 6439993"/>
              <a:gd name="connsiteX1" fmla="*/ 10363200 w 10370443"/>
              <a:gd name="connsiteY1" fmla="*/ 0 h 6439993"/>
              <a:gd name="connsiteX2" fmla="*/ 10370443 w 10370443"/>
              <a:gd name="connsiteY2" fmla="*/ 5708650 h 6439993"/>
              <a:gd name="connsiteX3" fmla="*/ 10068733 w 10370443"/>
              <a:gd name="connsiteY3" fmla="*/ 5975044 h 6439993"/>
              <a:gd name="connsiteX4" fmla="*/ 9564531 w 10370443"/>
              <a:gd name="connsiteY4" fmla="*/ 6421572 h 6439993"/>
              <a:gd name="connsiteX5" fmla="*/ 0 w 10370443"/>
              <a:gd name="connsiteY5" fmla="*/ 6439993 h 6439993"/>
              <a:gd name="connsiteX6" fmla="*/ 0 w 10370443"/>
              <a:gd name="connsiteY6" fmla="*/ 0 h 6439993"/>
              <a:gd name="connsiteX0" fmla="*/ 0 w 10370443"/>
              <a:gd name="connsiteY0" fmla="*/ 0 h 6439993"/>
              <a:gd name="connsiteX1" fmla="*/ 10363200 w 10370443"/>
              <a:gd name="connsiteY1" fmla="*/ 0 h 6439993"/>
              <a:gd name="connsiteX2" fmla="*/ 10370443 w 10370443"/>
              <a:gd name="connsiteY2" fmla="*/ 5708650 h 6439993"/>
              <a:gd name="connsiteX3" fmla="*/ 10068733 w 10370443"/>
              <a:gd name="connsiteY3" fmla="*/ 5975044 h 6439993"/>
              <a:gd name="connsiteX4" fmla="*/ 9471541 w 10370443"/>
              <a:gd name="connsiteY4" fmla="*/ 6421572 h 6439993"/>
              <a:gd name="connsiteX5" fmla="*/ 0 w 10370443"/>
              <a:gd name="connsiteY5" fmla="*/ 6439993 h 6439993"/>
              <a:gd name="connsiteX6" fmla="*/ 0 w 10370443"/>
              <a:gd name="connsiteY6" fmla="*/ 0 h 6439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70443" h="6439993">
                <a:moveTo>
                  <a:pt x="0" y="0"/>
                </a:moveTo>
                <a:lnTo>
                  <a:pt x="10363200" y="0"/>
                </a:lnTo>
                <a:cubicBezTo>
                  <a:pt x="10365614" y="1902883"/>
                  <a:pt x="10368029" y="3805767"/>
                  <a:pt x="10370443" y="5708650"/>
                </a:cubicBezTo>
                <a:lnTo>
                  <a:pt x="10068733" y="5975044"/>
                </a:lnTo>
                <a:lnTo>
                  <a:pt x="9471541" y="6421572"/>
                </a:lnTo>
                <a:lnTo>
                  <a:pt x="0" y="6439993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2D6CEB01-D49A-5A2B-AA5E-2A0C15DC8B34}"/>
              </a:ext>
            </a:extLst>
          </p:cNvPr>
          <p:cNvSpPr/>
          <p:nvPr/>
        </p:nvSpPr>
        <p:spPr>
          <a:xfrm rot="2546149">
            <a:off x="1654479" y="3522219"/>
            <a:ext cx="147610" cy="7577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A656FE06-23FA-12E2-BD9D-5E9648D765FA}"/>
              </a:ext>
            </a:extLst>
          </p:cNvPr>
          <p:cNvSpPr/>
          <p:nvPr/>
        </p:nvSpPr>
        <p:spPr>
          <a:xfrm rot="19053851" flipV="1">
            <a:off x="1654477" y="2842255"/>
            <a:ext cx="147610" cy="7577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349E3-70E1-D6F4-59E6-2F41172926E7}"/>
              </a:ext>
            </a:extLst>
          </p:cNvPr>
          <p:cNvSpPr txBox="1">
            <a:spLocks/>
          </p:cNvSpPr>
          <p:nvPr/>
        </p:nvSpPr>
        <p:spPr>
          <a:xfrm>
            <a:off x="1904587" y="1725591"/>
            <a:ext cx="9648773" cy="45046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CAN BE DUE TO LONG STANDING BP OR HEART VALVE DISEASE.</a:t>
            </a:r>
          </a:p>
          <a:p>
            <a:pPr algn="l"/>
            <a:r>
              <a:rPr lang="en-US" dirty="0"/>
              <a:t>ON ECG IT PRODUCES STRONGER ELECTRICAL SIGNAL ESPECIALLY IN THE CHEST LEADS.</a:t>
            </a:r>
          </a:p>
          <a:p>
            <a:pPr algn="l"/>
            <a:r>
              <a:rPr lang="en-US" dirty="0"/>
              <a:t>CALCULATIONS OF LVH:</a:t>
            </a:r>
          </a:p>
          <a:p>
            <a:pPr algn="l"/>
            <a:r>
              <a:rPr lang="en-US" dirty="0"/>
              <a:t>SOKOLOW-LYON CRITERIA(MOSTLY USED)</a:t>
            </a:r>
          </a:p>
          <a:p>
            <a:pPr algn="l"/>
            <a:r>
              <a:rPr lang="en-US" dirty="0"/>
              <a:t>   SV1 +RV5/V6 &lt;35MM(NORMAL) IF &gt;35MM(LVH)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/>
              <a:t>CORNELL CRITERIA=MEN </a:t>
            </a:r>
            <a:r>
              <a:rPr lang="en-US" dirty="0" err="1"/>
              <a:t>RaVL</a:t>
            </a:r>
            <a:r>
              <a:rPr lang="en-US" dirty="0"/>
              <a:t> +SV3&lt;28MM(NORMAL),&gt;28MM(LVH)</a:t>
            </a:r>
          </a:p>
          <a:p>
            <a:pPr algn="l"/>
            <a:r>
              <a:rPr lang="en-US" dirty="0"/>
              <a:t>                                     WOMEN RaVL+SV3&lt;20MM(NORMAL),&gt;20MM(LVH)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/>
              <a:t>R WAVES IN </a:t>
            </a:r>
            <a:r>
              <a:rPr lang="en-US" dirty="0" err="1"/>
              <a:t>aVL</a:t>
            </a:r>
            <a:r>
              <a:rPr lang="en-US" dirty="0"/>
              <a:t>&gt;11MM(LVH),LESS THAN 11MM(NORMAL)</a:t>
            </a:r>
          </a:p>
          <a:p>
            <a:pPr algn="l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4BD0DEA-EA0F-9ED1-BBCE-4435684B54ED}"/>
              </a:ext>
            </a:extLst>
          </p:cNvPr>
          <p:cNvSpPr/>
          <p:nvPr/>
        </p:nvSpPr>
        <p:spPr>
          <a:xfrm>
            <a:off x="1777309" y="103214"/>
            <a:ext cx="10151387" cy="130386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AAF3C-5D17-32FD-5E70-5D527456F154}"/>
              </a:ext>
            </a:extLst>
          </p:cNvPr>
          <p:cNvSpPr txBox="1">
            <a:spLocks/>
          </p:cNvSpPr>
          <p:nvPr/>
        </p:nvSpPr>
        <p:spPr>
          <a:xfrm>
            <a:off x="1728282" y="210862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LEFT VENTRICULAR HYPERTROPHY(LVH)</a:t>
            </a:r>
          </a:p>
        </p:txBody>
      </p:sp>
    </p:spTree>
    <p:extLst>
      <p:ext uri="{BB962C8B-B14F-4D97-AF65-F5344CB8AC3E}">
        <p14:creationId xmlns:p14="http://schemas.microsoft.com/office/powerpoint/2010/main" val="12131215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7B315-B2BC-1022-14AF-8A5257B7C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4FC2AADD-C1B2-92D3-26EC-07C85A8ABB7B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398A257-7FE6-D5C6-F121-7FEEE8B918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C695C85-C24B-2DFD-BAF2-7BEA3D39F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AF7FBD8-2021-DE66-B8DF-0D7F52A82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87EB374-F8FB-2DAC-6C27-877BE5712EE0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C221D398-12AE-F102-FBC0-413A0EA4F6B0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81794C-5EDF-8AF7-CD41-D23AAED0AD9E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5AD2D2B-6D49-A7BD-BC63-7154E239AF83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D43B9CA-C056-1E3C-9DE5-1A7B408DD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0DE5454-C3A0-90BF-EC77-C046323A9A52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2F8BCE0-2B7C-7A9C-32A4-A55203527061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6391CD41-A35B-345D-6591-9A14D1BFC21F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7A51735-FF2C-6FCF-D024-DEC78FC2488E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DD0D8B-3461-972C-F3B8-DA3F19DEA667}"/>
              </a:ext>
            </a:extLst>
          </p:cNvPr>
          <p:cNvSpPr txBox="1">
            <a:spLocks/>
          </p:cNvSpPr>
          <p:nvPr/>
        </p:nvSpPr>
        <p:spPr>
          <a:xfrm>
            <a:off x="1611994" y="-294317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T WAVES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62915-6C65-049A-9659-94F2C0100DBD}"/>
              </a:ext>
            </a:extLst>
          </p:cNvPr>
          <p:cNvSpPr txBox="1">
            <a:spLocks/>
          </p:cNvSpPr>
          <p:nvPr/>
        </p:nvSpPr>
        <p:spPr>
          <a:xfrm>
            <a:off x="1816312" y="1304144"/>
            <a:ext cx="9601196" cy="42744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dirty="0"/>
              <a:t>REPRESENTS VENTRICULAR REPOLARIZATION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TYPICALLY,A NORMAL T WAVES IS UPRIGHT IN MOST ECG LEADS EXCEPT </a:t>
            </a:r>
            <a:r>
              <a:rPr lang="en-US" dirty="0" err="1"/>
              <a:t>aVR</a:t>
            </a:r>
            <a:r>
              <a:rPr lang="en-US" dirty="0"/>
              <a:t> WHERE IT IS INVERTED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THERE ARE SOME ABNORMAL T WAVES: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PEAKED T WAVES SEEN IN HYPERKALEMIA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INVERTED T WAVES SEEN IN ISCHEMIA,PERICARDITIS,MYOCARDITIS ETC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BIPHASIC T WAVES –IT HAS BOTH POSITIVE AND NEGATIVE DEFLECTION.</a:t>
            </a:r>
          </a:p>
        </p:txBody>
      </p:sp>
    </p:spTree>
    <p:extLst>
      <p:ext uri="{BB962C8B-B14F-4D97-AF65-F5344CB8AC3E}">
        <p14:creationId xmlns:p14="http://schemas.microsoft.com/office/powerpoint/2010/main" val="27203259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A66ED-EA31-9BE2-D910-A1E75F6BD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932E36CF-0467-7833-7D7C-11BF5F60A774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1D8443C-CF33-34CE-81BB-94CC3F6BBC03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25F268E-07AB-72A8-88AD-29B1CA85C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686AAD6-3C1B-1683-EDE7-5CBADA2BD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090C0F-D28A-7E3D-CFE5-144CD60EBEDA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CA5F0AC9-C80F-57D1-4E5E-DD833170DD7E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70F914-5EE8-B7B5-77C5-1C6B628FAF3A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6984F56-6191-45FD-543F-37951FB465D7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B0C6F04-6B6F-5270-1D2C-6492ADC00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B222462-39FA-255E-E004-73160EC8762F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C22F4CD-1155-ACCD-0B22-2572658CE491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E6908F5-0E46-28EF-35B3-D0FD3697A276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34AAA5AE-4B30-18A1-5B76-182C8EEB5FD4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31D180A5-23D8-51A1-E221-1978A0AC8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366" y="1145632"/>
            <a:ext cx="9309353" cy="522319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FD23A6B-9FD3-5D99-7737-A2118686BF00}"/>
              </a:ext>
            </a:extLst>
          </p:cNvPr>
          <p:cNvSpPr txBox="1">
            <a:spLocks/>
          </p:cNvSpPr>
          <p:nvPr/>
        </p:nvSpPr>
        <p:spPr>
          <a:xfrm>
            <a:off x="2076451" y="-294317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T WAVES MORPHORLOGY </a:t>
            </a:r>
          </a:p>
        </p:txBody>
      </p:sp>
    </p:spTree>
    <p:extLst>
      <p:ext uri="{BB962C8B-B14F-4D97-AF65-F5344CB8AC3E}">
        <p14:creationId xmlns:p14="http://schemas.microsoft.com/office/powerpoint/2010/main" val="36428892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3B9DD-B4D3-86EF-D877-872B865D3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04CD3C1-2D49-AC81-966A-FC7D4CA21ECE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5F3D46B-1C0A-4CF8-D8FE-B4BEDE1A9725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29FE317-E3EC-C4E5-748D-6FC2A2B20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7AD6818-8332-FB69-38BE-D1459D160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473E1DC-BFEB-EABD-378A-F6EB97A90F1C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AC3E3A1C-6DC1-8673-7C54-AAC0744432A7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EBEE83F-5502-A550-5EF9-3E964834173A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81E6978-0343-3295-393B-729855BE34DE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54DC1F9-568B-7DD9-51C5-6EF53DCE7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F78AD2D-0853-D06F-8C0B-9D39F4E50C74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0B9F8F6-4D14-3C2D-E4DE-09B047BF88AA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2C977FE-B832-F1BF-96F0-F2087C37C700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C5D04994-3F84-E85D-80A1-CFFCA3B615AB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B72AE9-A94F-D58D-8457-79BAFEEA88C2}"/>
              </a:ext>
            </a:extLst>
          </p:cNvPr>
          <p:cNvSpPr txBox="1">
            <a:spLocks/>
          </p:cNvSpPr>
          <p:nvPr/>
        </p:nvSpPr>
        <p:spPr>
          <a:xfrm>
            <a:off x="1997323" y="-278193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R WAVES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F4803-9A70-643C-88B8-57B0B4D8656F}"/>
              </a:ext>
            </a:extLst>
          </p:cNvPr>
          <p:cNvSpPr txBox="1">
            <a:spLocks/>
          </p:cNvSpPr>
          <p:nvPr/>
        </p:nvSpPr>
        <p:spPr>
          <a:xfrm>
            <a:off x="1941454" y="1233633"/>
            <a:ext cx="9601196" cy="4321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dirty="0"/>
              <a:t>R WAVES IN THE PRECORDIAL LEADS (V1-V6).THE R WAVES NORMALLY INCREASES IN SIZE FROM V1 TO V4 OR V5 THEN DECREASES IN V6.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THIS IS KNOWN AS NORNAL R WAVES PROGRESSION.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A TALL R WAVES IN V1 CAN INDICATE RIGHT VENTRICULAR HYPERTROPHY(RVH)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POOR R WAVES CAN SUGGEST M.I OR HYPERTROPHY</a:t>
            </a:r>
          </a:p>
        </p:txBody>
      </p:sp>
    </p:spTree>
    <p:extLst>
      <p:ext uri="{BB962C8B-B14F-4D97-AF65-F5344CB8AC3E}">
        <p14:creationId xmlns:p14="http://schemas.microsoft.com/office/powerpoint/2010/main" val="114257385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893A2-AF6B-B41C-7877-4FF71BA9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0C70A49-CFAA-C2F9-0D8C-6A8A4A7C06F8}"/>
              </a:ext>
            </a:extLst>
          </p:cNvPr>
          <p:cNvGrpSpPr/>
          <p:nvPr/>
        </p:nvGrpSpPr>
        <p:grpSpPr>
          <a:xfrm>
            <a:off x="-44970" y="-14287"/>
            <a:ext cx="13123677" cy="7245209"/>
            <a:chOff x="-44970" y="-14287"/>
            <a:chExt cx="13123677" cy="72452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C50AF99-9C72-7C9B-B65D-51098A355EDC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C421325-70AE-D44F-1E90-7E0B20005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28945" y="41223"/>
              <a:ext cx="1485062" cy="12629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378A840-02CB-9B31-DC05-256947F4E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172558" y="5555027"/>
              <a:ext cx="1483684" cy="126175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FFFA3F3-FF18-569A-13FA-DEFFF252AE30}"/>
                </a:ext>
              </a:extLst>
            </p:cNvPr>
            <p:cNvSpPr/>
            <p:nvPr/>
          </p:nvSpPr>
          <p:spPr>
            <a:xfrm>
              <a:off x="1523106" y="-14287"/>
              <a:ext cx="10677993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CF11FE1A-471C-3B38-8608-86C923AB5947}"/>
                </a:ext>
              </a:extLst>
            </p:cNvPr>
            <p:cNvSpPr/>
            <p:nvPr/>
          </p:nvSpPr>
          <p:spPr>
            <a:xfrm rot="1112546">
              <a:off x="11139979" y="5956758"/>
              <a:ext cx="1938728" cy="127416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DECD766-91B7-7D30-F0E3-F6D70936F479}"/>
                </a:ext>
              </a:extLst>
            </p:cNvPr>
            <p:cNvSpPr/>
            <p:nvPr/>
          </p:nvSpPr>
          <p:spPr>
            <a:xfrm>
              <a:off x="-44970" y="2893102"/>
              <a:ext cx="1777307" cy="6445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EA5809-2AEB-0932-1562-46A4F24155F5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37" y="2818152"/>
              <a:ext cx="0" cy="819716"/>
            </a:xfrm>
            <a:prstGeom prst="line">
              <a:avLst/>
            </a:prstGeom>
            <a:ln w="57150" cap="rnd">
              <a:rou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353E73-E51A-4659-A893-E3FF2D947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4" t="13567" b="17503"/>
            <a:stretch/>
          </p:blipFill>
          <p:spPr>
            <a:xfrm>
              <a:off x="3897421" y="891060"/>
              <a:ext cx="6646330" cy="565214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69F656F-5C28-501F-EDF7-779980A99F99}"/>
                </a:ext>
              </a:extLst>
            </p:cNvPr>
            <p:cNvSpPr/>
            <p:nvPr/>
          </p:nvSpPr>
          <p:spPr>
            <a:xfrm>
              <a:off x="1777309" y="103214"/>
              <a:ext cx="10151387" cy="759581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E6FAD7D-D91C-FA68-2715-BCDEA7FC833E}"/>
                </a:ext>
              </a:extLst>
            </p:cNvPr>
            <p:cNvSpPr/>
            <p:nvPr/>
          </p:nvSpPr>
          <p:spPr>
            <a:xfrm>
              <a:off x="1656242" y="966009"/>
              <a:ext cx="10370443" cy="5577198"/>
            </a:xfrm>
            <a:custGeom>
              <a:avLst/>
              <a:gdLst>
                <a:gd name="connsiteX0" fmla="*/ 0 w 10363200"/>
                <a:gd name="connsiteY0" fmla="*/ 0 h 6439993"/>
                <a:gd name="connsiteX1" fmla="*/ 10363200 w 10363200"/>
                <a:gd name="connsiteY1" fmla="*/ 0 h 6439993"/>
                <a:gd name="connsiteX2" fmla="*/ 10363200 w 10363200"/>
                <a:gd name="connsiteY2" fmla="*/ 6439993 h 6439993"/>
                <a:gd name="connsiteX3" fmla="*/ 0 w 10363200"/>
                <a:gd name="connsiteY3" fmla="*/ 6439993 h 6439993"/>
                <a:gd name="connsiteX4" fmla="*/ 0 w 10363200"/>
                <a:gd name="connsiteY4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0 w 10370443"/>
                <a:gd name="connsiteY4" fmla="*/ 6439993 h 6439993"/>
                <a:gd name="connsiteX5" fmla="*/ 0 w 10370443"/>
                <a:gd name="connsiteY5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363200 w 10370443"/>
                <a:gd name="connsiteY3" fmla="*/ 6439993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130726 w 10370443"/>
                <a:gd name="connsiteY3" fmla="*/ 606803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56453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  <a:gd name="connsiteX0" fmla="*/ 0 w 10370443"/>
                <a:gd name="connsiteY0" fmla="*/ 0 h 6439993"/>
                <a:gd name="connsiteX1" fmla="*/ 10363200 w 10370443"/>
                <a:gd name="connsiteY1" fmla="*/ 0 h 6439993"/>
                <a:gd name="connsiteX2" fmla="*/ 10370443 w 10370443"/>
                <a:gd name="connsiteY2" fmla="*/ 5708650 h 6439993"/>
                <a:gd name="connsiteX3" fmla="*/ 10068733 w 10370443"/>
                <a:gd name="connsiteY3" fmla="*/ 5975044 h 6439993"/>
                <a:gd name="connsiteX4" fmla="*/ 9471541 w 10370443"/>
                <a:gd name="connsiteY4" fmla="*/ 6421572 h 6439993"/>
                <a:gd name="connsiteX5" fmla="*/ 0 w 10370443"/>
                <a:gd name="connsiteY5" fmla="*/ 6439993 h 6439993"/>
                <a:gd name="connsiteX6" fmla="*/ 0 w 10370443"/>
                <a:gd name="connsiteY6" fmla="*/ 0 h 643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70443" h="6439993">
                  <a:moveTo>
                    <a:pt x="0" y="0"/>
                  </a:moveTo>
                  <a:lnTo>
                    <a:pt x="10363200" y="0"/>
                  </a:lnTo>
                  <a:cubicBezTo>
                    <a:pt x="10365614" y="1902883"/>
                    <a:pt x="10368029" y="3805767"/>
                    <a:pt x="10370443" y="5708650"/>
                  </a:cubicBezTo>
                  <a:lnTo>
                    <a:pt x="10068733" y="5975044"/>
                  </a:lnTo>
                  <a:lnTo>
                    <a:pt x="9471541" y="6421572"/>
                  </a:lnTo>
                  <a:lnTo>
                    <a:pt x="0" y="643999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B7AAB813-CCF7-CDD3-364F-22254EBC288C}"/>
                </a:ext>
              </a:extLst>
            </p:cNvPr>
            <p:cNvSpPr/>
            <p:nvPr/>
          </p:nvSpPr>
          <p:spPr>
            <a:xfrm rot="2546149">
              <a:off x="1654479" y="3522219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EFF2A84-FAE7-E591-4D94-047E021AB4C4}"/>
                </a:ext>
              </a:extLst>
            </p:cNvPr>
            <p:cNvSpPr/>
            <p:nvPr/>
          </p:nvSpPr>
          <p:spPr>
            <a:xfrm rot="19053851" flipV="1">
              <a:off x="1654477" y="2842255"/>
              <a:ext cx="147610" cy="7577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268B6A7-EC91-F0D6-4213-469BD1FC34D5}"/>
              </a:ext>
            </a:extLst>
          </p:cNvPr>
          <p:cNvSpPr txBox="1">
            <a:spLocks/>
          </p:cNvSpPr>
          <p:nvPr/>
        </p:nvSpPr>
        <p:spPr>
          <a:xfrm>
            <a:off x="1728282" y="-320865"/>
            <a:ext cx="9601196" cy="13038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 Black" panose="020B0A04020102020204" pitchFamily="34" charset="0"/>
              </a:rPr>
              <a:t>THANK YOU</a:t>
            </a:r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EB7CC753-C4C0-6B88-A685-6D99B4DC440D}"/>
              </a:ext>
            </a:extLst>
          </p:cNvPr>
          <p:cNvSpPr>
            <a:spLocks noEditPoints="1"/>
          </p:cNvSpPr>
          <p:nvPr/>
        </p:nvSpPr>
        <p:spPr bwMode="auto">
          <a:xfrm>
            <a:off x="4120836" y="3560105"/>
            <a:ext cx="3950327" cy="2835233"/>
          </a:xfrm>
          <a:custGeom>
            <a:avLst/>
            <a:gdLst>
              <a:gd name="T0" fmla="*/ 1959 w 3558"/>
              <a:gd name="T1" fmla="*/ 2039 h 2268"/>
              <a:gd name="T2" fmla="*/ 1998 w 3558"/>
              <a:gd name="T3" fmla="*/ 2159 h 2268"/>
              <a:gd name="T4" fmla="*/ 1865 w 3558"/>
              <a:gd name="T5" fmla="*/ 2266 h 2268"/>
              <a:gd name="T6" fmla="*/ 1747 w 3558"/>
              <a:gd name="T7" fmla="*/ 2087 h 2268"/>
              <a:gd name="T8" fmla="*/ 1885 w 3558"/>
              <a:gd name="T9" fmla="*/ 1934 h 2268"/>
              <a:gd name="T10" fmla="*/ 1812 w 3558"/>
              <a:gd name="T11" fmla="*/ 1817 h 2268"/>
              <a:gd name="T12" fmla="*/ 1611 w 3558"/>
              <a:gd name="T13" fmla="*/ 2111 h 2268"/>
              <a:gd name="T14" fmla="*/ 1436 w 3558"/>
              <a:gd name="T15" fmla="*/ 2098 h 2268"/>
              <a:gd name="T16" fmla="*/ 1447 w 3558"/>
              <a:gd name="T17" fmla="*/ 1921 h 2268"/>
              <a:gd name="T18" fmla="*/ 1650 w 3558"/>
              <a:gd name="T19" fmla="*/ 1431 h 2268"/>
              <a:gd name="T20" fmla="*/ 1707 w 3558"/>
              <a:gd name="T21" fmla="*/ 1598 h 2268"/>
              <a:gd name="T22" fmla="*/ 1290 w 3558"/>
              <a:gd name="T23" fmla="*/ 1898 h 2268"/>
              <a:gd name="T24" fmla="*/ 1206 w 3558"/>
              <a:gd name="T25" fmla="*/ 1738 h 2268"/>
              <a:gd name="T26" fmla="*/ 1300 w 3558"/>
              <a:gd name="T27" fmla="*/ 1634 h 2268"/>
              <a:gd name="T28" fmla="*/ 1464 w 3558"/>
              <a:gd name="T29" fmla="*/ 1492 h 2268"/>
              <a:gd name="T30" fmla="*/ 1581 w 3558"/>
              <a:gd name="T31" fmla="*/ 1419 h 2268"/>
              <a:gd name="T32" fmla="*/ 1576 w 3558"/>
              <a:gd name="T33" fmla="*/ 1209 h 2268"/>
              <a:gd name="T34" fmla="*/ 1146 w 3558"/>
              <a:gd name="T35" fmla="*/ 1681 h 2268"/>
              <a:gd name="T36" fmla="*/ 981 w 3558"/>
              <a:gd name="T37" fmla="*/ 1636 h 2268"/>
              <a:gd name="T38" fmla="*/ 1016 w 3558"/>
              <a:gd name="T39" fmla="*/ 1465 h 2268"/>
              <a:gd name="T40" fmla="*/ 1252 w 3558"/>
              <a:gd name="T41" fmla="*/ 918 h 2268"/>
              <a:gd name="T42" fmla="*/ 1340 w 3558"/>
              <a:gd name="T43" fmla="*/ 1072 h 2268"/>
              <a:gd name="T44" fmla="*/ 910 w 3558"/>
              <a:gd name="T45" fmla="*/ 1430 h 2268"/>
              <a:gd name="T46" fmla="*/ 792 w 3558"/>
              <a:gd name="T47" fmla="*/ 1295 h 2268"/>
              <a:gd name="T48" fmla="*/ 1204 w 3558"/>
              <a:gd name="T49" fmla="*/ 916 h 2268"/>
              <a:gd name="T50" fmla="*/ 1065 w 3558"/>
              <a:gd name="T51" fmla="*/ 542 h 2268"/>
              <a:gd name="T52" fmla="*/ 1100 w 3558"/>
              <a:gd name="T53" fmla="*/ 776 h 2268"/>
              <a:gd name="T54" fmla="*/ 1834 w 3558"/>
              <a:gd name="T55" fmla="*/ 574 h 2268"/>
              <a:gd name="T56" fmla="*/ 2386 w 3558"/>
              <a:gd name="T57" fmla="*/ 1029 h 2268"/>
              <a:gd name="T58" fmla="*/ 2644 w 3558"/>
              <a:gd name="T59" fmla="*/ 1332 h 2268"/>
              <a:gd name="T60" fmla="*/ 2686 w 3558"/>
              <a:gd name="T61" fmla="*/ 1406 h 2268"/>
              <a:gd name="T62" fmla="*/ 2790 w 3558"/>
              <a:gd name="T63" fmla="*/ 1604 h 2268"/>
              <a:gd name="T64" fmla="*/ 2781 w 3558"/>
              <a:gd name="T65" fmla="*/ 1801 h 2268"/>
              <a:gd name="T66" fmla="*/ 2606 w 3558"/>
              <a:gd name="T67" fmla="*/ 1785 h 2268"/>
              <a:gd name="T68" fmla="*/ 2501 w 3558"/>
              <a:gd name="T69" fmla="*/ 1590 h 2268"/>
              <a:gd name="T70" fmla="*/ 2403 w 3558"/>
              <a:gd name="T71" fmla="*/ 1399 h 2268"/>
              <a:gd name="T72" fmla="*/ 2571 w 3558"/>
              <a:gd name="T73" fmla="*/ 1904 h 2268"/>
              <a:gd name="T74" fmla="*/ 2433 w 3558"/>
              <a:gd name="T75" fmla="*/ 2015 h 2268"/>
              <a:gd name="T76" fmla="*/ 2261 w 3558"/>
              <a:gd name="T77" fmla="*/ 1939 h 2268"/>
              <a:gd name="T78" fmla="*/ 2208 w 3558"/>
              <a:gd name="T79" fmla="*/ 2109 h 2268"/>
              <a:gd name="T80" fmla="*/ 2050 w 3558"/>
              <a:gd name="T81" fmla="*/ 2071 h 2268"/>
              <a:gd name="T82" fmla="*/ 1949 w 3558"/>
              <a:gd name="T83" fmla="*/ 1887 h 2268"/>
              <a:gd name="T84" fmla="*/ 1865 w 3558"/>
              <a:gd name="T85" fmla="*/ 1734 h 2268"/>
              <a:gd name="T86" fmla="*/ 1760 w 3558"/>
              <a:gd name="T87" fmla="*/ 1650 h 2268"/>
              <a:gd name="T88" fmla="*/ 1743 w 3558"/>
              <a:gd name="T89" fmla="*/ 1414 h 2268"/>
              <a:gd name="T90" fmla="*/ 1654 w 3558"/>
              <a:gd name="T91" fmla="*/ 1231 h 2268"/>
              <a:gd name="T92" fmla="*/ 1506 w 3558"/>
              <a:gd name="T93" fmla="*/ 1056 h 2268"/>
              <a:gd name="T94" fmla="*/ 1367 w 3558"/>
              <a:gd name="T95" fmla="*/ 910 h 2268"/>
              <a:gd name="T96" fmla="*/ 1145 w 3558"/>
              <a:gd name="T97" fmla="*/ 857 h 2268"/>
              <a:gd name="T98" fmla="*/ 882 w 3558"/>
              <a:gd name="T99" fmla="*/ 399 h 2268"/>
              <a:gd name="T100" fmla="*/ 2348 w 3558"/>
              <a:gd name="T101" fmla="*/ 272 h 2268"/>
              <a:gd name="T102" fmla="*/ 2754 w 3558"/>
              <a:gd name="T103" fmla="*/ 375 h 2268"/>
              <a:gd name="T104" fmla="*/ 2806 w 3558"/>
              <a:gd name="T105" fmla="*/ 1182 h 2268"/>
              <a:gd name="T106" fmla="*/ 2445 w 3558"/>
              <a:gd name="T107" fmla="*/ 979 h 2268"/>
              <a:gd name="T108" fmla="*/ 1292 w 3558"/>
              <a:gd name="T109" fmla="*/ 749 h 2268"/>
              <a:gd name="T110" fmla="*/ 1126 w 3558"/>
              <a:gd name="T111" fmla="*/ 690 h 2268"/>
              <a:gd name="T112" fmla="*/ 1184 w 3558"/>
              <a:gd name="T113" fmla="*/ 523 h 2268"/>
              <a:gd name="T114" fmla="*/ 3558 w 3558"/>
              <a:gd name="T115" fmla="*/ 741 h 2268"/>
              <a:gd name="T116" fmla="*/ 480 w 3558"/>
              <a:gd name="T117" fmla="*/ 0 h 2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558" h="2268">
                <a:moveTo>
                  <a:pt x="1891" y="1911"/>
                </a:moveTo>
                <a:lnTo>
                  <a:pt x="1900" y="1927"/>
                </a:lnTo>
                <a:lnTo>
                  <a:pt x="1909" y="1946"/>
                </a:lnTo>
                <a:lnTo>
                  <a:pt x="1919" y="1964"/>
                </a:lnTo>
                <a:lnTo>
                  <a:pt x="1930" y="1984"/>
                </a:lnTo>
                <a:lnTo>
                  <a:pt x="1940" y="2004"/>
                </a:lnTo>
                <a:lnTo>
                  <a:pt x="1951" y="2022"/>
                </a:lnTo>
                <a:lnTo>
                  <a:pt x="1959" y="2039"/>
                </a:lnTo>
                <a:lnTo>
                  <a:pt x="1968" y="2056"/>
                </a:lnTo>
                <a:lnTo>
                  <a:pt x="1974" y="2069"/>
                </a:lnTo>
                <a:lnTo>
                  <a:pt x="1980" y="2078"/>
                </a:lnTo>
                <a:lnTo>
                  <a:pt x="1983" y="2085"/>
                </a:lnTo>
                <a:lnTo>
                  <a:pt x="1984" y="2087"/>
                </a:lnTo>
                <a:lnTo>
                  <a:pt x="1994" y="2111"/>
                </a:lnTo>
                <a:lnTo>
                  <a:pt x="1998" y="2135"/>
                </a:lnTo>
                <a:lnTo>
                  <a:pt x="1998" y="2159"/>
                </a:lnTo>
                <a:lnTo>
                  <a:pt x="1993" y="2183"/>
                </a:lnTo>
                <a:lnTo>
                  <a:pt x="1984" y="2204"/>
                </a:lnTo>
                <a:lnTo>
                  <a:pt x="1970" y="2225"/>
                </a:lnTo>
                <a:lnTo>
                  <a:pt x="1953" y="2243"/>
                </a:lnTo>
                <a:lnTo>
                  <a:pt x="1932" y="2256"/>
                </a:lnTo>
                <a:lnTo>
                  <a:pt x="1910" y="2264"/>
                </a:lnTo>
                <a:lnTo>
                  <a:pt x="1888" y="2268"/>
                </a:lnTo>
                <a:lnTo>
                  <a:pt x="1865" y="2266"/>
                </a:lnTo>
                <a:lnTo>
                  <a:pt x="1843" y="2262"/>
                </a:lnTo>
                <a:lnTo>
                  <a:pt x="1823" y="2253"/>
                </a:lnTo>
                <a:lnTo>
                  <a:pt x="1803" y="2244"/>
                </a:lnTo>
                <a:lnTo>
                  <a:pt x="1787" y="2232"/>
                </a:lnTo>
                <a:lnTo>
                  <a:pt x="1773" y="2219"/>
                </a:lnTo>
                <a:lnTo>
                  <a:pt x="1764" y="2204"/>
                </a:lnTo>
                <a:lnTo>
                  <a:pt x="1717" y="2114"/>
                </a:lnTo>
                <a:lnTo>
                  <a:pt x="1747" y="2087"/>
                </a:lnTo>
                <a:lnTo>
                  <a:pt x="1775" y="2064"/>
                </a:lnTo>
                <a:lnTo>
                  <a:pt x="1799" y="2044"/>
                </a:lnTo>
                <a:lnTo>
                  <a:pt x="1821" y="2024"/>
                </a:lnTo>
                <a:lnTo>
                  <a:pt x="1839" y="2007"/>
                </a:lnTo>
                <a:lnTo>
                  <a:pt x="1854" y="1989"/>
                </a:lnTo>
                <a:lnTo>
                  <a:pt x="1866" y="1972"/>
                </a:lnTo>
                <a:lnTo>
                  <a:pt x="1877" y="1954"/>
                </a:lnTo>
                <a:lnTo>
                  <a:pt x="1885" y="1934"/>
                </a:lnTo>
                <a:lnTo>
                  <a:pt x="1891" y="1911"/>
                </a:lnTo>
                <a:close/>
                <a:moveTo>
                  <a:pt x="1702" y="1743"/>
                </a:moveTo>
                <a:lnTo>
                  <a:pt x="1724" y="1746"/>
                </a:lnTo>
                <a:lnTo>
                  <a:pt x="1746" y="1753"/>
                </a:lnTo>
                <a:lnTo>
                  <a:pt x="1768" y="1765"/>
                </a:lnTo>
                <a:lnTo>
                  <a:pt x="1786" y="1780"/>
                </a:lnTo>
                <a:lnTo>
                  <a:pt x="1801" y="1797"/>
                </a:lnTo>
                <a:lnTo>
                  <a:pt x="1812" y="1817"/>
                </a:lnTo>
                <a:lnTo>
                  <a:pt x="1820" y="1837"/>
                </a:lnTo>
                <a:lnTo>
                  <a:pt x="1823" y="1859"/>
                </a:lnTo>
                <a:lnTo>
                  <a:pt x="1823" y="1882"/>
                </a:lnTo>
                <a:lnTo>
                  <a:pt x="1819" y="1904"/>
                </a:lnTo>
                <a:lnTo>
                  <a:pt x="1810" y="1925"/>
                </a:lnTo>
                <a:lnTo>
                  <a:pt x="1798" y="1945"/>
                </a:lnTo>
                <a:lnTo>
                  <a:pt x="1781" y="1963"/>
                </a:lnTo>
                <a:lnTo>
                  <a:pt x="1611" y="2111"/>
                </a:lnTo>
                <a:lnTo>
                  <a:pt x="1588" y="2126"/>
                </a:lnTo>
                <a:lnTo>
                  <a:pt x="1564" y="2136"/>
                </a:lnTo>
                <a:lnTo>
                  <a:pt x="1541" y="2140"/>
                </a:lnTo>
                <a:lnTo>
                  <a:pt x="1517" y="2139"/>
                </a:lnTo>
                <a:lnTo>
                  <a:pt x="1493" y="2135"/>
                </a:lnTo>
                <a:lnTo>
                  <a:pt x="1471" y="2126"/>
                </a:lnTo>
                <a:lnTo>
                  <a:pt x="1452" y="2113"/>
                </a:lnTo>
                <a:lnTo>
                  <a:pt x="1436" y="2098"/>
                </a:lnTo>
                <a:lnTo>
                  <a:pt x="1422" y="2077"/>
                </a:lnTo>
                <a:lnTo>
                  <a:pt x="1412" y="2055"/>
                </a:lnTo>
                <a:lnTo>
                  <a:pt x="1406" y="2032"/>
                </a:lnTo>
                <a:lnTo>
                  <a:pt x="1405" y="2007"/>
                </a:lnTo>
                <a:lnTo>
                  <a:pt x="1409" y="1984"/>
                </a:lnTo>
                <a:lnTo>
                  <a:pt x="1417" y="1961"/>
                </a:lnTo>
                <a:lnTo>
                  <a:pt x="1430" y="1941"/>
                </a:lnTo>
                <a:lnTo>
                  <a:pt x="1447" y="1921"/>
                </a:lnTo>
                <a:lnTo>
                  <a:pt x="1617" y="1773"/>
                </a:lnTo>
                <a:lnTo>
                  <a:pt x="1636" y="1760"/>
                </a:lnTo>
                <a:lnTo>
                  <a:pt x="1657" y="1750"/>
                </a:lnTo>
                <a:lnTo>
                  <a:pt x="1679" y="1745"/>
                </a:lnTo>
                <a:lnTo>
                  <a:pt x="1702" y="1743"/>
                </a:lnTo>
                <a:close/>
                <a:moveTo>
                  <a:pt x="1604" y="1418"/>
                </a:moveTo>
                <a:lnTo>
                  <a:pt x="1627" y="1422"/>
                </a:lnTo>
                <a:lnTo>
                  <a:pt x="1650" y="1431"/>
                </a:lnTo>
                <a:lnTo>
                  <a:pt x="1670" y="1444"/>
                </a:lnTo>
                <a:lnTo>
                  <a:pt x="1689" y="1460"/>
                </a:lnTo>
                <a:lnTo>
                  <a:pt x="1704" y="1482"/>
                </a:lnTo>
                <a:lnTo>
                  <a:pt x="1714" y="1505"/>
                </a:lnTo>
                <a:lnTo>
                  <a:pt x="1719" y="1529"/>
                </a:lnTo>
                <a:lnTo>
                  <a:pt x="1719" y="1553"/>
                </a:lnTo>
                <a:lnTo>
                  <a:pt x="1716" y="1577"/>
                </a:lnTo>
                <a:lnTo>
                  <a:pt x="1707" y="1598"/>
                </a:lnTo>
                <a:lnTo>
                  <a:pt x="1694" y="1619"/>
                </a:lnTo>
                <a:lnTo>
                  <a:pt x="1677" y="1637"/>
                </a:lnTo>
                <a:lnTo>
                  <a:pt x="1406" y="1873"/>
                </a:lnTo>
                <a:lnTo>
                  <a:pt x="1385" y="1888"/>
                </a:lnTo>
                <a:lnTo>
                  <a:pt x="1361" y="1898"/>
                </a:lnTo>
                <a:lnTo>
                  <a:pt x="1337" y="1904"/>
                </a:lnTo>
                <a:lnTo>
                  <a:pt x="1313" y="1902"/>
                </a:lnTo>
                <a:lnTo>
                  <a:pt x="1290" y="1898"/>
                </a:lnTo>
                <a:lnTo>
                  <a:pt x="1268" y="1889"/>
                </a:lnTo>
                <a:lnTo>
                  <a:pt x="1248" y="1878"/>
                </a:lnTo>
                <a:lnTo>
                  <a:pt x="1231" y="1861"/>
                </a:lnTo>
                <a:lnTo>
                  <a:pt x="1216" y="1839"/>
                </a:lnTo>
                <a:lnTo>
                  <a:pt x="1205" y="1814"/>
                </a:lnTo>
                <a:lnTo>
                  <a:pt x="1201" y="1790"/>
                </a:lnTo>
                <a:lnTo>
                  <a:pt x="1201" y="1763"/>
                </a:lnTo>
                <a:lnTo>
                  <a:pt x="1206" y="1738"/>
                </a:lnTo>
                <a:lnTo>
                  <a:pt x="1217" y="1715"/>
                </a:lnTo>
                <a:lnTo>
                  <a:pt x="1233" y="1694"/>
                </a:lnTo>
                <a:lnTo>
                  <a:pt x="1235" y="1691"/>
                </a:lnTo>
                <a:lnTo>
                  <a:pt x="1243" y="1685"/>
                </a:lnTo>
                <a:lnTo>
                  <a:pt x="1253" y="1675"/>
                </a:lnTo>
                <a:lnTo>
                  <a:pt x="1267" y="1663"/>
                </a:lnTo>
                <a:lnTo>
                  <a:pt x="1283" y="1649"/>
                </a:lnTo>
                <a:lnTo>
                  <a:pt x="1300" y="1634"/>
                </a:lnTo>
                <a:lnTo>
                  <a:pt x="1320" y="1617"/>
                </a:lnTo>
                <a:lnTo>
                  <a:pt x="1341" y="1599"/>
                </a:lnTo>
                <a:lnTo>
                  <a:pt x="1362" y="1580"/>
                </a:lnTo>
                <a:lnTo>
                  <a:pt x="1384" y="1561"/>
                </a:lnTo>
                <a:lnTo>
                  <a:pt x="1405" y="1543"/>
                </a:lnTo>
                <a:lnTo>
                  <a:pt x="1426" y="1524"/>
                </a:lnTo>
                <a:lnTo>
                  <a:pt x="1446" y="1507"/>
                </a:lnTo>
                <a:lnTo>
                  <a:pt x="1464" y="1492"/>
                </a:lnTo>
                <a:lnTo>
                  <a:pt x="1480" y="1478"/>
                </a:lnTo>
                <a:lnTo>
                  <a:pt x="1493" y="1466"/>
                </a:lnTo>
                <a:lnTo>
                  <a:pt x="1504" y="1457"/>
                </a:lnTo>
                <a:lnTo>
                  <a:pt x="1511" y="1452"/>
                </a:lnTo>
                <a:lnTo>
                  <a:pt x="1513" y="1448"/>
                </a:lnTo>
                <a:lnTo>
                  <a:pt x="1534" y="1434"/>
                </a:lnTo>
                <a:lnTo>
                  <a:pt x="1557" y="1423"/>
                </a:lnTo>
                <a:lnTo>
                  <a:pt x="1581" y="1419"/>
                </a:lnTo>
                <a:lnTo>
                  <a:pt x="1604" y="1418"/>
                </a:lnTo>
                <a:close/>
                <a:moveTo>
                  <a:pt x="1466" y="1122"/>
                </a:moveTo>
                <a:lnTo>
                  <a:pt x="1490" y="1126"/>
                </a:lnTo>
                <a:lnTo>
                  <a:pt x="1512" y="1134"/>
                </a:lnTo>
                <a:lnTo>
                  <a:pt x="1533" y="1147"/>
                </a:lnTo>
                <a:lnTo>
                  <a:pt x="1551" y="1165"/>
                </a:lnTo>
                <a:lnTo>
                  <a:pt x="1566" y="1187"/>
                </a:lnTo>
                <a:lnTo>
                  <a:pt x="1576" y="1209"/>
                </a:lnTo>
                <a:lnTo>
                  <a:pt x="1582" y="1232"/>
                </a:lnTo>
                <a:lnTo>
                  <a:pt x="1583" y="1257"/>
                </a:lnTo>
                <a:lnTo>
                  <a:pt x="1578" y="1280"/>
                </a:lnTo>
                <a:lnTo>
                  <a:pt x="1570" y="1303"/>
                </a:lnTo>
                <a:lnTo>
                  <a:pt x="1557" y="1323"/>
                </a:lnTo>
                <a:lnTo>
                  <a:pt x="1539" y="1342"/>
                </a:lnTo>
                <a:lnTo>
                  <a:pt x="1167" y="1666"/>
                </a:lnTo>
                <a:lnTo>
                  <a:pt x="1146" y="1681"/>
                </a:lnTo>
                <a:lnTo>
                  <a:pt x="1122" y="1691"/>
                </a:lnTo>
                <a:lnTo>
                  <a:pt x="1098" y="1695"/>
                </a:lnTo>
                <a:lnTo>
                  <a:pt x="1073" y="1695"/>
                </a:lnTo>
                <a:lnTo>
                  <a:pt x="1050" y="1690"/>
                </a:lnTo>
                <a:lnTo>
                  <a:pt x="1029" y="1681"/>
                </a:lnTo>
                <a:lnTo>
                  <a:pt x="1009" y="1669"/>
                </a:lnTo>
                <a:lnTo>
                  <a:pt x="993" y="1654"/>
                </a:lnTo>
                <a:lnTo>
                  <a:pt x="981" y="1636"/>
                </a:lnTo>
                <a:lnTo>
                  <a:pt x="973" y="1617"/>
                </a:lnTo>
                <a:lnTo>
                  <a:pt x="967" y="1595"/>
                </a:lnTo>
                <a:lnTo>
                  <a:pt x="966" y="1572"/>
                </a:lnTo>
                <a:lnTo>
                  <a:pt x="968" y="1549"/>
                </a:lnTo>
                <a:lnTo>
                  <a:pt x="975" y="1527"/>
                </a:lnTo>
                <a:lnTo>
                  <a:pt x="984" y="1504"/>
                </a:lnTo>
                <a:lnTo>
                  <a:pt x="997" y="1483"/>
                </a:lnTo>
                <a:lnTo>
                  <a:pt x="1016" y="1465"/>
                </a:lnTo>
                <a:lnTo>
                  <a:pt x="1037" y="1447"/>
                </a:lnTo>
                <a:lnTo>
                  <a:pt x="1377" y="1153"/>
                </a:lnTo>
                <a:lnTo>
                  <a:pt x="1398" y="1138"/>
                </a:lnTo>
                <a:lnTo>
                  <a:pt x="1419" y="1128"/>
                </a:lnTo>
                <a:lnTo>
                  <a:pt x="1442" y="1122"/>
                </a:lnTo>
                <a:lnTo>
                  <a:pt x="1466" y="1122"/>
                </a:lnTo>
                <a:close/>
                <a:moveTo>
                  <a:pt x="1228" y="915"/>
                </a:moveTo>
                <a:lnTo>
                  <a:pt x="1252" y="918"/>
                </a:lnTo>
                <a:lnTo>
                  <a:pt x="1274" y="927"/>
                </a:lnTo>
                <a:lnTo>
                  <a:pt x="1295" y="940"/>
                </a:lnTo>
                <a:lnTo>
                  <a:pt x="1313" y="957"/>
                </a:lnTo>
                <a:lnTo>
                  <a:pt x="1328" y="978"/>
                </a:lnTo>
                <a:lnTo>
                  <a:pt x="1338" y="1001"/>
                </a:lnTo>
                <a:lnTo>
                  <a:pt x="1344" y="1025"/>
                </a:lnTo>
                <a:lnTo>
                  <a:pt x="1345" y="1049"/>
                </a:lnTo>
                <a:lnTo>
                  <a:pt x="1340" y="1072"/>
                </a:lnTo>
                <a:lnTo>
                  <a:pt x="1332" y="1094"/>
                </a:lnTo>
                <a:lnTo>
                  <a:pt x="1320" y="1115"/>
                </a:lnTo>
                <a:lnTo>
                  <a:pt x="1303" y="1133"/>
                </a:lnTo>
                <a:lnTo>
                  <a:pt x="996" y="1399"/>
                </a:lnTo>
                <a:lnTo>
                  <a:pt x="978" y="1414"/>
                </a:lnTo>
                <a:lnTo>
                  <a:pt x="956" y="1423"/>
                </a:lnTo>
                <a:lnTo>
                  <a:pt x="934" y="1429"/>
                </a:lnTo>
                <a:lnTo>
                  <a:pt x="910" y="1430"/>
                </a:lnTo>
                <a:lnTo>
                  <a:pt x="886" y="1427"/>
                </a:lnTo>
                <a:lnTo>
                  <a:pt x="863" y="1418"/>
                </a:lnTo>
                <a:lnTo>
                  <a:pt x="842" y="1405"/>
                </a:lnTo>
                <a:lnTo>
                  <a:pt x="822" y="1386"/>
                </a:lnTo>
                <a:lnTo>
                  <a:pt x="807" y="1366"/>
                </a:lnTo>
                <a:lnTo>
                  <a:pt x="797" y="1343"/>
                </a:lnTo>
                <a:lnTo>
                  <a:pt x="792" y="1319"/>
                </a:lnTo>
                <a:lnTo>
                  <a:pt x="792" y="1295"/>
                </a:lnTo>
                <a:lnTo>
                  <a:pt x="795" y="1271"/>
                </a:lnTo>
                <a:lnTo>
                  <a:pt x="804" y="1248"/>
                </a:lnTo>
                <a:lnTo>
                  <a:pt x="817" y="1228"/>
                </a:lnTo>
                <a:lnTo>
                  <a:pt x="833" y="1210"/>
                </a:lnTo>
                <a:lnTo>
                  <a:pt x="1138" y="944"/>
                </a:lnTo>
                <a:lnTo>
                  <a:pt x="1159" y="930"/>
                </a:lnTo>
                <a:lnTo>
                  <a:pt x="1180" y="920"/>
                </a:lnTo>
                <a:lnTo>
                  <a:pt x="1204" y="916"/>
                </a:lnTo>
                <a:lnTo>
                  <a:pt x="1228" y="915"/>
                </a:lnTo>
                <a:close/>
                <a:moveTo>
                  <a:pt x="882" y="399"/>
                </a:moveTo>
                <a:lnTo>
                  <a:pt x="1275" y="400"/>
                </a:lnTo>
                <a:lnTo>
                  <a:pt x="1152" y="458"/>
                </a:lnTo>
                <a:lnTo>
                  <a:pt x="1125" y="474"/>
                </a:lnTo>
                <a:lnTo>
                  <a:pt x="1101" y="493"/>
                </a:lnTo>
                <a:lnTo>
                  <a:pt x="1081" y="517"/>
                </a:lnTo>
                <a:lnTo>
                  <a:pt x="1065" y="542"/>
                </a:lnTo>
                <a:lnTo>
                  <a:pt x="1053" y="571"/>
                </a:lnTo>
                <a:lnTo>
                  <a:pt x="1045" y="599"/>
                </a:lnTo>
                <a:lnTo>
                  <a:pt x="1042" y="629"/>
                </a:lnTo>
                <a:lnTo>
                  <a:pt x="1043" y="661"/>
                </a:lnTo>
                <a:lnTo>
                  <a:pt x="1049" y="691"/>
                </a:lnTo>
                <a:lnTo>
                  <a:pt x="1061" y="722"/>
                </a:lnTo>
                <a:lnTo>
                  <a:pt x="1079" y="751"/>
                </a:lnTo>
                <a:lnTo>
                  <a:pt x="1100" y="776"/>
                </a:lnTo>
                <a:lnTo>
                  <a:pt x="1125" y="797"/>
                </a:lnTo>
                <a:lnTo>
                  <a:pt x="1153" y="814"/>
                </a:lnTo>
                <a:lnTo>
                  <a:pt x="1185" y="826"/>
                </a:lnTo>
                <a:lnTo>
                  <a:pt x="1217" y="832"/>
                </a:lnTo>
                <a:lnTo>
                  <a:pt x="1252" y="832"/>
                </a:lnTo>
                <a:lnTo>
                  <a:pt x="1287" y="827"/>
                </a:lnTo>
                <a:lnTo>
                  <a:pt x="1322" y="815"/>
                </a:lnTo>
                <a:lnTo>
                  <a:pt x="1834" y="574"/>
                </a:lnTo>
                <a:lnTo>
                  <a:pt x="1905" y="633"/>
                </a:lnTo>
                <a:lnTo>
                  <a:pt x="1978" y="690"/>
                </a:lnTo>
                <a:lnTo>
                  <a:pt x="2049" y="747"/>
                </a:lnTo>
                <a:lnTo>
                  <a:pt x="2119" y="802"/>
                </a:lnTo>
                <a:lnTo>
                  <a:pt x="2189" y="857"/>
                </a:lnTo>
                <a:lnTo>
                  <a:pt x="2257" y="914"/>
                </a:lnTo>
                <a:lnTo>
                  <a:pt x="2323" y="970"/>
                </a:lnTo>
                <a:lnTo>
                  <a:pt x="2386" y="1029"/>
                </a:lnTo>
                <a:lnTo>
                  <a:pt x="2448" y="1089"/>
                </a:lnTo>
                <a:lnTo>
                  <a:pt x="2507" y="1151"/>
                </a:lnTo>
                <a:lnTo>
                  <a:pt x="2562" y="1216"/>
                </a:lnTo>
                <a:lnTo>
                  <a:pt x="2614" y="1284"/>
                </a:lnTo>
                <a:lnTo>
                  <a:pt x="2623" y="1298"/>
                </a:lnTo>
                <a:lnTo>
                  <a:pt x="2631" y="1311"/>
                </a:lnTo>
                <a:lnTo>
                  <a:pt x="2637" y="1322"/>
                </a:lnTo>
                <a:lnTo>
                  <a:pt x="2644" y="1332"/>
                </a:lnTo>
                <a:lnTo>
                  <a:pt x="2649" y="1341"/>
                </a:lnTo>
                <a:lnTo>
                  <a:pt x="2654" y="1350"/>
                </a:lnTo>
                <a:lnTo>
                  <a:pt x="2659" y="1357"/>
                </a:lnTo>
                <a:lnTo>
                  <a:pt x="2663" y="1365"/>
                </a:lnTo>
                <a:lnTo>
                  <a:pt x="2668" y="1373"/>
                </a:lnTo>
                <a:lnTo>
                  <a:pt x="2673" y="1383"/>
                </a:lnTo>
                <a:lnTo>
                  <a:pt x="2680" y="1394"/>
                </a:lnTo>
                <a:lnTo>
                  <a:pt x="2686" y="1406"/>
                </a:lnTo>
                <a:lnTo>
                  <a:pt x="2694" y="1420"/>
                </a:lnTo>
                <a:lnTo>
                  <a:pt x="2702" y="1436"/>
                </a:lnTo>
                <a:lnTo>
                  <a:pt x="2712" y="1455"/>
                </a:lnTo>
                <a:lnTo>
                  <a:pt x="2724" y="1478"/>
                </a:lnTo>
                <a:lnTo>
                  <a:pt x="2737" y="1503"/>
                </a:lnTo>
                <a:lnTo>
                  <a:pt x="2752" y="1532"/>
                </a:lnTo>
                <a:lnTo>
                  <a:pt x="2771" y="1566"/>
                </a:lnTo>
                <a:lnTo>
                  <a:pt x="2790" y="1604"/>
                </a:lnTo>
                <a:lnTo>
                  <a:pt x="2813" y="1646"/>
                </a:lnTo>
                <a:lnTo>
                  <a:pt x="2822" y="1670"/>
                </a:lnTo>
                <a:lnTo>
                  <a:pt x="2827" y="1694"/>
                </a:lnTo>
                <a:lnTo>
                  <a:pt x="2827" y="1718"/>
                </a:lnTo>
                <a:lnTo>
                  <a:pt x="2821" y="1742"/>
                </a:lnTo>
                <a:lnTo>
                  <a:pt x="2812" y="1763"/>
                </a:lnTo>
                <a:lnTo>
                  <a:pt x="2799" y="1783"/>
                </a:lnTo>
                <a:lnTo>
                  <a:pt x="2781" y="1801"/>
                </a:lnTo>
                <a:lnTo>
                  <a:pt x="2760" y="1816"/>
                </a:lnTo>
                <a:lnTo>
                  <a:pt x="2737" y="1824"/>
                </a:lnTo>
                <a:lnTo>
                  <a:pt x="2713" y="1830"/>
                </a:lnTo>
                <a:lnTo>
                  <a:pt x="2689" y="1829"/>
                </a:lnTo>
                <a:lnTo>
                  <a:pt x="2666" y="1824"/>
                </a:lnTo>
                <a:lnTo>
                  <a:pt x="2644" y="1816"/>
                </a:lnTo>
                <a:lnTo>
                  <a:pt x="2623" y="1803"/>
                </a:lnTo>
                <a:lnTo>
                  <a:pt x="2606" y="1785"/>
                </a:lnTo>
                <a:lnTo>
                  <a:pt x="2592" y="1763"/>
                </a:lnTo>
                <a:lnTo>
                  <a:pt x="2582" y="1745"/>
                </a:lnTo>
                <a:lnTo>
                  <a:pt x="2571" y="1724"/>
                </a:lnTo>
                <a:lnTo>
                  <a:pt x="2559" y="1700"/>
                </a:lnTo>
                <a:lnTo>
                  <a:pt x="2546" y="1674"/>
                </a:lnTo>
                <a:lnTo>
                  <a:pt x="2531" y="1647"/>
                </a:lnTo>
                <a:lnTo>
                  <a:pt x="2516" y="1619"/>
                </a:lnTo>
                <a:lnTo>
                  <a:pt x="2501" y="1590"/>
                </a:lnTo>
                <a:lnTo>
                  <a:pt x="2487" y="1561"/>
                </a:lnTo>
                <a:lnTo>
                  <a:pt x="2472" y="1533"/>
                </a:lnTo>
                <a:lnTo>
                  <a:pt x="2458" y="1506"/>
                </a:lnTo>
                <a:lnTo>
                  <a:pt x="2445" y="1480"/>
                </a:lnTo>
                <a:lnTo>
                  <a:pt x="2432" y="1456"/>
                </a:lnTo>
                <a:lnTo>
                  <a:pt x="2421" y="1434"/>
                </a:lnTo>
                <a:lnTo>
                  <a:pt x="2411" y="1415"/>
                </a:lnTo>
                <a:lnTo>
                  <a:pt x="2403" y="1399"/>
                </a:lnTo>
                <a:lnTo>
                  <a:pt x="2397" y="1388"/>
                </a:lnTo>
                <a:lnTo>
                  <a:pt x="2393" y="1381"/>
                </a:lnTo>
                <a:lnTo>
                  <a:pt x="2392" y="1378"/>
                </a:lnTo>
                <a:lnTo>
                  <a:pt x="2336" y="1413"/>
                </a:lnTo>
                <a:lnTo>
                  <a:pt x="2557" y="1833"/>
                </a:lnTo>
                <a:lnTo>
                  <a:pt x="2567" y="1856"/>
                </a:lnTo>
                <a:lnTo>
                  <a:pt x="2571" y="1880"/>
                </a:lnTo>
                <a:lnTo>
                  <a:pt x="2571" y="1904"/>
                </a:lnTo>
                <a:lnTo>
                  <a:pt x="2567" y="1926"/>
                </a:lnTo>
                <a:lnTo>
                  <a:pt x="2557" y="1949"/>
                </a:lnTo>
                <a:lnTo>
                  <a:pt x="2544" y="1969"/>
                </a:lnTo>
                <a:lnTo>
                  <a:pt x="2527" y="1987"/>
                </a:lnTo>
                <a:lnTo>
                  <a:pt x="2504" y="2002"/>
                </a:lnTo>
                <a:lnTo>
                  <a:pt x="2481" y="2011"/>
                </a:lnTo>
                <a:lnTo>
                  <a:pt x="2457" y="2015"/>
                </a:lnTo>
                <a:lnTo>
                  <a:pt x="2433" y="2015"/>
                </a:lnTo>
                <a:lnTo>
                  <a:pt x="2409" y="2010"/>
                </a:lnTo>
                <a:lnTo>
                  <a:pt x="2388" y="2001"/>
                </a:lnTo>
                <a:lnTo>
                  <a:pt x="2368" y="1988"/>
                </a:lnTo>
                <a:lnTo>
                  <a:pt x="2351" y="1971"/>
                </a:lnTo>
                <a:lnTo>
                  <a:pt x="2337" y="1950"/>
                </a:lnTo>
                <a:lnTo>
                  <a:pt x="2124" y="1545"/>
                </a:lnTo>
                <a:lnTo>
                  <a:pt x="2068" y="1580"/>
                </a:lnTo>
                <a:lnTo>
                  <a:pt x="2261" y="1939"/>
                </a:lnTo>
                <a:lnTo>
                  <a:pt x="2270" y="1962"/>
                </a:lnTo>
                <a:lnTo>
                  <a:pt x="2274" y="1986"/>
                </a:lnTo>
                <a:lnTo>
                  <a:pt x="2274" y="2010"/>
                </a:lnTo>
                <a:lnTo>
                  <a:pt x="2270" y="2034"/>
                </a:lnTo>
                <a:lnTo>
                  <a:pt x="2261" y="2056"/>
                </a:lnTo>
                <a:lnTo>
                  <a:pt x="2248" y="2076"/>
                </a:lnTo>
                <a:lnTo>
                  <a:pt x="2230" y="2095"/>
                </a:lnTo>
                <a:lnTo>
                  <a:pt x="2208" y="2109"/>
                </a:lnTo>
                <a:lnTo>
                  <a:pt x="2186" y="2118"/>
                </a:lnTo>
                <a:lnTo>
                  <a:pt x="2165" y="2121"/>
                </a:lnTo>
                <a:lnTo>
                  <a:pt x="2142" y="2120"/>
                </a:lnTo>
                <a:lnTo>
                  <a:pt x="2119" y="2114"/>
                </a:lnTo>
                <a:lnTo>
                  <a:pt x="2099" y="2107"/>
                </a:lnTo>
                <a:lnTo>
                  <a:pt x="2079" y="2097"/>
                </a:lnTo>
                <a:lnTo>
                  <a:pt x="2063" y="2084"/>
                </a:lnTo>
                <a:lnTo>
                  <a:pt x="2050" y="2071"/>
                </a:lnTo>
                <a:lnTo>
                  <a:pt x="2040" y="2058"/>
                </a:lnTo>
                <a:lnTo>
                  <a:pt x="2031" y="2039"/>
                </a:lnTo>
                <a:lnTo>
                  <a:pt x="2020" y="2018"/>
                </a:lnTo>
                <a:lnTo>
                  <a:pt x="2007" y="1994"/>
                </a:lnTo>
                <a:lnTo>
                  <a:pt x="1993" y="1969"/>
                </a:lnTo>
                <a:lnTo>
                  <a:pt x="1979" y="1943"/>
                </a:lnTo>
                <a:lnTo>
                  <a:pt x="1964" y="1914"/>
                </a:lnTo>
                <a:lnTo>
                  <a:pt x="1949" y="1887"/>
                </a:lnTo>
                <a:lnTo>
                  <a:pt x="1934" y="1861"/>
                </a:lnTo>
                <a:lnTo>
                  <a:pt x="1920" y="1835"/>
                </a:lnTo>
                <a:lnTo>
                  <a:pt x="1907" y="1811"/>
                </a:lnTo>
                <a:lnTo>
                  <a:pt x="1895" y="1788"/>
                </a:lnTo>
                <a:lnTo>
                  <a:pt x="1885" y="1770"/>
                </a:lnTo>
                <a:lnTo>
                  <a:pt x="1876" y="1754"/>
                </a:lnTo>
                <a:lnTo>
                  <a:pt x="1869" y="1742"/>
                </a:lnTo>
                <a:lnTo>
                  <a:pt x="1865" y="1734"/>
                </a:lnTo>
                <a:lnTo>
                  <a:pt x="1864" y="1731"/>
                </a:lnTo>
                <a:lnTo>
                  <a:pt x="1849" y="1713"/>
                </a:lnTo>
                <a:lnTo>
                  <a:pt x="1830" y="1698"/>
                </a:lnTo>
                <a:lnTo>
                  <a:pt x="1810" y="1686"/>
                </a:lnTo>
                <a:lnTo>
                  <a:pt x="1787" y="1679"/>
                </a:lnTo>
                <a:lnTo>
                  <a:pt x="1763" y="1675"/>
                </a:lnTo>
                <a:lnTo>
                  <a:pt x="1741" y="1675"/>
                </a:lnTo>
                <a:lnTo>
                  <a:pt x="1760" y="1650"/>
                </a:lnTo>
                <a:lnTo>
                  <a:pt x="1775" y="1622"/>
                </a:lnTo>
                <a:lnTo>
                  <a:pt x="1785" y="1593"/>
                </a:lnTo>
                <a:lnTo>
                  <a:pt x="1790" y="1562"/>
                </a:lnTo>
                <a:lnTo>
                  <a:pt x="1791" y="1531"/>
                </a:lnTo>
                <a:lnTo>
                  <a:pt x="1786" y="1501"/>
                </a:lnTo>
                <a:lnTo>
                  <a:pt x="1777" y="1470"/>
                </a:lnTo>
                <a:lnTo>
                  <a:pt x="1762" y="1441"/>
                </a:lnTo>
                <a:lnTo>
                  <a:pt x="1743" y="1414"/>
                </a:lnTo>
                <a:lnTo>
                  <a:pt x="1718" y="1390"/>
                </a:lnTo>
                <a:lnTo>
                  <a:pt x="1691" y="1371"/>
                </a:lnTo>
                <a:lnTo>
                  <a:pt x="1660" y="1357"/>
                </a:lnTo>
                <a:lnTo>
                  <a:pt x="1626" y="1348"/>
                </a:lnTo>
                <a:lnTo>
                  <a:pt x="1640" y="1320"/>
                </a:lnTo>
                <a:lnTo>
                  <a:pt x="1650" y="1292"/>
                </a:lnTo>
                <a:lnTo>
                  <a:pt x="1654" y="1262"/>
                </a:lnTo>
                <a:lnTo>
                  <a:pt x="1654" y="1231"/>
                </a:lnTo>
                <a:lnTo>
                  <a:pt x="1649" y="1201"/>
                </a:lnTo>
                <a:lnTo>
                  <a:pt x="1639" y="1171"/>
                </a:lnTo>
                <a:lnTo>
                  <a:pt x="1625" y="1143"/>
                </a:lnTo>
                <a:lnTo>
                  <a:pt x="1605" y="1117"/>
                </a:lnTo>
                <a:lnTo>
                  <a:pt x="1584" y="1096"/>
                </a:lnTo>
                <a:lnTo>
                  <a:pt x="1560" y="1079"/>
                </a:lnTo>
                <a:lnTo>
                  <a:pt x="1534" y="1065"/>
                </a:lnTo>
                <a:lnTo>
                  <a:pt x="1506" y="1056"/>
                </a:lnTo>
                <a:lnTo>
                  <a:pt x="1477" y="1051"/>
                </a:lnTo>
                <a:lnTo>
                  <a:pt x="1446" y="1051"/>
                </a:lnTo>
                <a:lnTo>
                  <a:pt x="1416" y="1055"/>
                </a:lnTo>
                <a:lnTo>
                  <a:pt x="1416" y="1024"/>
                </a:lnTo>
                <a:lnTo>
                  <a:pt x="1411" y="993"/>
                </a:lnTo>
                <a:lnTo>
                  <a:pt x="1401" y="964"/>
                </a:lnTo>
                <a:lnTo>
                  <a:pt x="1387" y="936"/>
                </a:lnTo>
                <a:lnTo>
                  <a:pt x="1367" y="910"/>
                </a:lnTo>
                <a:lnTo>
                  <a:pt x="1345" y="887"/>
                </a:lnTo>
                <a:lnTo>
                  <a:pt x="1319" y="869"/>
                </a:lnTo>
                <a:lnTo>
                  <a:pt x="1292" y="856"/>
                </a:lnTo>
                <a:lnTo>
                  <a:pt x="1262" y="848"/>
                </a:lnTo>
                <a:lnTo>
                  <a:pt x="1233" y="843"/>
                </a:lnTo>
                <a:lnTo>
                  <a:pt x="1203" y="843"/>
                </a:lnTo>
                <a:lnTo>
                  <a:pt x="1173" y="848"/>
                </a:lnTo>
                <a:lnTo>
                  <a:pt x="1145" y="857"/>
                </a:lnTo>
                <a:lnTo>
                  <a:pt x="1116" y="872"/>
                </a:lnTo>
                <a:lnTo>
                  <a:pt x="1092" y="890"/>
                </a:lnTo>
                <a:lnTo>
                  <a:pt x="786" y="1156"/>
                </a:lnTo>
                <a:lnTo>
                  <a:pt x="767" y="1176"/>
                </a:lnTo>
                <a:lnTo>
                  <a:pt x="750" y="1197"/>
                </a:lnTo>
                <a:lnTo>
                  <a:pt x="737" y="1222"/>
                </a:lnTo>
                <a:lnTo>
                  <a:pt x="465" y="971"/>
                </a:lnTo>
                <a:lnTo>
                  <a:pt x="882" y="399"/>
                </a:lnTo>
                <a:close/>
                <a:moveTo>
                  <a:pt x="1989" y="220"/>
                </a:moveTo>
                <a:lnTo>
                  <a:pt x="2031" y="221"/>
                </a:lnTo>
                <a:lnTo>
                  <a:pt x="2076" y="225"/>
                </a:lnTo>
                <a:lnTo>
                  <a:pt x="2126" y="231"/>
                </a:lnTo>
                <a:lnTo>
                  <a:pt x="2178" y="239"/>
                </a:lnTo>
                <a:lnTo>
                  <a:pt x="2233" y="248"/>
                </a:lnTo>
                <a:lnTo>
                  <a:pt x="2289" y="260"/>
                </a:lnTo>
                <a:lnTo>
                  <a:pt x="2348" y="272"/>
                </a:lnTo>
                <a:lnTo>
                  <a:pt x="2405" y="285"/>
                </a:lnTo>
                <a:lnTo>
                  <a:pt x="2462" y="298"/>
                </a:lnTo>
                <a:lnTo>
                  <a:pt x="2518" y="312"/>
                </a:lnTo>
                <a:lnTo>
                  <a:pt x="2573" y="325"/>
                </a:lnTo>
                <a:lnTo>
                  <a:pt x="2624" y="339"/>
                </a:lnTo>
                <a:lnTo>
                  <a:pt x="2672" y="351"/>
                </a:lnTo>
                <a:lnTo>
                  <a:pt x="2715" y="364"/>
                </a:lnTo>
                <a:lnTo>
                  <a:pt x="2754" y="375"/>
                </a:lnTo>
                <a:lnTo>
                  <a:pt x="3080" y="931"/>
                </a:lnTo>
                <a:lnTo>
                  <a:pt x="2893" y="1049"/>
                </a:lnTo>
                <a:lnTo>
                  <a:pt x="2880" y="1064"/>
                </a:lnTo>
                <a:lnTo>
                  <a:pt x="2867" y="1083"/>
                </a:lnTo>
                <a:lnTo>
                  <a:pt x="2854" y="1105"/>
                </a:lnTo>
                <a:lnTo>
                  <a:pt x="2839" y="1130"/>
                </a:lnTo>
                <a:lnTo>
                  <a:pt x="2824" y="1155"/>
                </a:lnTo>
                <a:lnTo>
                  <a:pt x="2806" y="1182"/>
                </a:lnTo>
                <a:lnTo>
                  <a:pt x="2788" y="1208"/>
                </a:lnTo>
                <a:lnTo>
                  <a:pt x="2766" y="1233"/>
                </a:lnTo>
                <a:lnTo>
                  <a:pt x="2742" y="1257"/>
                </a:lnTo>
                <a:lnTo>
                  <a:pt x="2714" y="1278"/>
                </a:lnTo>
                <a:lnTo>
                  <a:pt x="2656" y="1203"/>
                </a:lnTo>
                <a:lnTo>
                  <a:pt x="2591" y="1129"/>
                </a:lnTo>
                <a:lnTo>
                  <a:pt x="2521" y="1054"/>
                </a:lnTo>
                <a:lnTo>
                  <a:pt x="2445" y="979"/>
                </a:lnTo>
                <a:lnTo>
                  <a:pt x="2366" y="905"/>
                </a:lnTo>
                <a:lnTo>
                  <a:pt x="2283" y="832"/>
                </a:lnTo>
                <a:lnTo>
                  <a:pt x="2197" y="760"/>
                </a:lnTo>
                <a:lnTo>
                  <a:pt x="2110" y="689"/>
                </a:lnTo>
                <a:lnTo>
                  <a:pt x="2021" y="621"/>
                </a:lnTo>
                <a:lnTo>
                  <a:pt x="1932" y="553"/>
                </a:lnTo>
                <a:lnTo>
                  <a:pt x="1845" y="489"/>
                </a:lnTo>
                <a:lnTo>
                  <a:pt x="1292" y="749"/>
                </a:lnTo>
                <a:lnTo>
                  <a:pt x="1267" y="757"/>
                </a:lnTo>
                <a:lnTo>
                  <a:pt x="1242" y="762"/>
                </a:lnTo>
                <a:lnTo>
                  <a:pt x="1218" y="760"/>
                </a:lnTo>
                <a:lnTo>
                  <a:pt x="1195" y="753"/>
                </a:lnTo>
                <a:lnTo>
                  <a:pt x="1174" y="743"/>
                </a:lnTo>
                <a:lnTo>
                  <a:pt x="1155" y="729"/>
                </a:lnTo>
                <a:lnTo>
                  <a:pt x="1139" y="711"/>
                </a:lnTo>
                <a:lnTo>
                  <a:pt x="1126" y="690"/>
                </a:lnTo>
                <a:lnTo>
                  <a:pt x="1118" y="666"/>
                </a:lnTo>
                <a:lnTo>
                  <a:pt x="1113" y="641"/>
                </a:lnTo>
                <a:lnTo>
                  <a:pt x="1114" y="616"/>
                </a:lnTo>
                <a:lnTo>
                  <a:pt x="1121" y="593"/>
                </a:lnTo>
                <a:lnTo>
                  <a:pt x="1131" y="572"/>
                </a:lnTo>
                <a:lnTo>
                  <a:pt x="1145" y="552"/>
                </a:lnTo>
                <a:lnTo>
                  <a:pt x="1163" y="536"/>
                </a:lnTo>
                <a:lnTo>
                  <a:pt x="1184" y="523"/>
                </a:lnTo>
                <a:lnTo>
                  <a:pt x="1741" y="261"/>
                </a:lnTo>
                <a:lnTo>
                  <a:pt x="1787" y="246"/>
                </a:lnTo>
                <a:lnTo>
                  <a:pt x="1834" y="234"/>
                </a:lnTo>
                <a:lnTo>
                  <a:pt x="1883" y="226"/>
                </a:lnTo>
                <a:lnTo>
                  <a:pt x="1934" y="221"/>
                </a:lnTo>
                <a:lnTo>
                  <a:pt x="1989" y="220"/>
                </a:lnTo>
                <a:close/>
                <a:moveTo>
                  <a:pt x="3147" y="51"/>
                </a:moveTo>
                <a:lnTo>
                  <a:pt x="3558" y="741"/>
                </a:lnTo>
                <a:lnTo>
                  <a:pt x="3202" y="941"/>
                </a:lnTo>
                <a:lnTo>
                  <a:pt x="2805" y="261"/>
                </a:lnTo>
                <a:lnTo>
                  <a:pt x="3147" y="51"/>
                </a:lnTo>
                <a:close/>
                <a:moveTo>
                  <a:pt x="480" y="0"/>
                </a:moveTo>
                <a:lnTo>
                  <a:pt x="833" y="284"/>
                </a:lnTo>
                <a:lnTo>
                  <a:pt x="365" y="938"/>
                </a:lnTo>
                <a:lnTo>
                  <a:pt x="0" y="701"/>
                </a:lnTo>
                <a:lnTo>
                  <a:pt x="480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7018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62000">
        <p15:prstTrans prst="peelOff"/>
      </p:transition>
    </mc:Choice>
    <mc:Fallback>
      <p:transition spd="slow" advClick="0" advTm="6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1730</Words>
  <Application>Microsoft Office PowerPoint</Application>
  <PresentationFormat>Widescreen</PresentationFormat>
  <Paragraphs>189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Arial Black</vt:lpstr>
      <vt:lpstr>Calibri</vt:lpstr>
      <vt:lpstr>Calibri Light</vt:lpstr>
      <vt:lpstr>Delius</vt:lpstr>
      <vt:lpstr>Franklin Gothic Heavy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COMMON LEAD ERRORS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Wasiu Jumuah</dc:creator>
  <cp:lastModifiedBy>Wasiu Jumuah</cp:lastModifiedBy>
  <cp:revision>15</cp:revision>
  <dcterms:created xsi:type="dcterms:W3CDTF">2025-06-29T20:26:05Z</dcterms:created>
  <dcterms:modified xsi:type="dcterms:W3CDTF">2025-06-30T14:21:42Z</dcterms:modified>
</cp:coreProperties>
</file>